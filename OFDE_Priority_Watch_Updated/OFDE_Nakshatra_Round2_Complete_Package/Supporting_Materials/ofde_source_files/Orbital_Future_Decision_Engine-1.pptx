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are Fantastic 4, presenting Orbital Future Decision Engine — a software-only, uncertainty-aware decision-support prototype for space debris conjunction analysis. What the visual shows: SAT-X on its operational orbit, DEBRIS-07 on a crossing path, and the highlighted ring is the future-state envelope — the core idea of the whole deck. Why it matters: the shift is from predicting one likely future to exploring and comparing plausible futures under uncertainty. Judge question to anticipate: what's actually new here? Hold that answer for the novelty slide — do not over-claim on this 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a software-only prototype — no hardware. The stack combines an established web front end with CesiumJS for orbital visualization, and a Python/FastAPI backend on standard astrodynamics libraries. Why it matters: 'physics-grounded' means every visual and metric traces back to a deterministic propagation, not a black box. Judge question to anticipate: 'What propagation model do you use?' Answer: established TLE-compatible propagation, not a custom unverified algorithm.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Debris tracking and conjunction alerts already exist — that part is not our contribution. The visual on the left is exactly that established chain: SAT-X, DEBRIS-07, a close approach, and a single alert value. Why it matters: that alert doesn't tell an operator how uncertain it is, what their options are, or what else might change. That gap is the question the rest of this deck answers. Judge question to anticipate: 'Isn't conjunction assessment already used?' Answer: Yes — we build on it; our addition is the decision layer that follows the alert.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Our workflow starts exactly where standard tools start — track, then predict a close approach and a risk value. The shift happens at step 3: instead of stopping at one risk number, we explore a future-state envelope under uncertainty, then compare candidate actions, then help the operator understand the wider consequences. Why it matters: EXPLORE is the pivotal new step layered on top of standard tracking and propagation, not a replacement for it — hence the highlight.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Data flows through established tracking and propagation into a close-approach engine — nothing unusual yet. From there we add risk and uncertainty together, run a Monte Carlo ensemble, and build a future-state envelope. That envelope branches into three candidate scenarios — no action, and two maneuver options — which are then evaluated across multiple objects and time horizons, producing a decision-sensitivity score. Everything terminates with a human operator, never an autonomous command. Judge question to anticipate: 'Does the system ever act on its own?' Answer: No — every path in this diagram ends at the human operator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are not claiming that tracking, propagation or Monte Carlo methods are new. Our contribution is the decision layer on the right — combining uncertainty-aware future states with scenario comparison, multi-object consequences, multi-horizon exposure and decision sensitivity. Key point: keep the left column framed as a 'typical simplified workflow,' never as outdated or inferior — many operational systems reasonably stop there. We build on established conjunction analysis, then extend the decision layer. Judge question to anticipate: 'Is Monte Carlo new?' Answer: No — it's an established technique; we use it to see how scenario outcomes vary across modeled orbital uncertainty.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none of these six capabilities individually claims to be the first of its kind. The novelty is combining them into one coherent decision layer after the standard alert — Future State Envelope and Decision Sensitivity, highlighted here, are the core of that shift. Avoid words like 'first-ever' or 'revolutionary'. Judge question to anticipate: 'Is FEI an aerospace standard?' Answer: No — it's a project-defined metric, not an industry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instead of one predicted trajectory, we generate many plausible future states from perturbed initial conditions and propagate each one — that's the widening cloud you see growing from SAT-X toward the TCA region. Why it matters: uncertainty grows with time, so a single line at 30 days is misleading; the envelope is the honest picture. Judge question to anticipate: 'How do you generate the ensemble?' Answer: perturbed initial states propagated independently — a standard Monte Carlo approach, not a novel algorithm.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on the left, Current Orbit branches into three candidate scenarios, each scored by a Future Exposure number and each affecting Debris A, B and C differently. On the right, Threat Transfer shows why that multi-object view matters: a maneuver that lowers exposure to one object can raise it for another. This is illustrative demo data, not measured results — we label it that way deliberately. Judge question to anticipate: 'Which maneuver should the operator execute?' Answer: the system exposes modeled trade-offs; it does not prescribe a flight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FEI on the left summarizes modeled future exposure across 24-hour, 7-day and 30-day horizons and multiple objects — Maneuver B scores lowest here. On the right, Decision Sensitivity counts how often each scenario comes out best across ensemble runs: Maneuver A wins 62% of the time, so the recommendation is fairly stable, not a coin flip. Critical: always read the red warning aloud if asked about probabilities — these are ensemble frequencies from our model, not certified real-world collision probabilities. Judge question to anticipate: 'Is FEI an aerospace standard?' Answer: No — it's a project-defined 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would rather state these limits clearly than have a judge find them for us. Results depend on input data quality, our risk and exposure metrics are prototype-defined and need validation, maneuvers are conceptual rather than flight-qualified, and large catalogs will need more computational optimization before production scale. Key point: end on the footer line — this is decision support, not autonomous control — it reinforces the human-in-the-loop message from earlier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Fantastic 4 — Anuj Singh as team leader, with Sarthak Gavnekar, Nitin Chherke and Dinesh. Contact details are left as editable placeholders for the submission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idea to leave the judges with — traditional analysis can tell us a potential conjunction exists; Orbital Future Decision Engine goes one step further by exploring plausible futures, comparing candidate scenarios, exposing secondary consequences, and showing how sensitive the decision is to uncertainty. From one predicted future, to plausible futures.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0911"/>
        </a:solidFill>
      </p:bgPr>
    </p:bg>
    <p:spTree>
      <p:nvGrpSpPr>
        <p:cNvPr id="1" name=""/>
        <p:cNvGrpSpPr/>
        <p:nvPr/>
      </p:nvGrpSpPr>
      <p:grpSpPr>
        <a:xfrm>
          <a:off x="0" y="0"/>
          <a:ext cx="0" cy="0"/>
          <a:chOff x="0" y="0"/>
          <a:chExt cx="0" cy="0"/>
        </a:xfrm>
      </p:grpSpPr>
      <p:sp>
        <p:nvSpPr>
          <p:cNvPr id="2" name="Shape 0"/>
          <p:cNvSpPr/>
          <p:nvPr/>
        </p:nvSpPr>
        <p:spPr>
          <a:xfrm>
            <a:off x="5852160" y="2743200"/>
            <a:ext cx="10241280" cy="10241280"/>
          </a:xfrm>
          <a:prstGeom prst="ellipse">
            <a:avLst/>
          </a:prstGeom>
          <a:solidFill>
            <a:srgbClr val="0C2A3E"/>
          </a:solidFill>
          <a:ln/>
        </p:spPr>
      </p:sp>
      <p:sp>
        <p:nvSpPr>
          <p:cNvPr id="3" name="Shape 1"/>
          <p:cNvSpPr/>
          <p:nvPr/>
        </p:nvSpPr>
        <p:spPr>
          <a:xfrm>
            <a:off x="5852160" y="2743200"/>
            <a:ext cx="10241280" cy="10241280"/>
          </a:xfrm>
          <a:prstGeom prst="ellipse">
            <a:avLst/>
          </a:prstGeom>
          <a:ln w="12700">
            <a:solidFill>
              <a:srgbClr val="185C68"/>
            </a:solidFill>
            <a:prstDash val="solid"/>
          </a:ln>
        </p:spPr>
      </p:sp>
      <p:sp>
        <p:nvSpPr>
          <p:cNvPr id="4" name="Shape 2"/>
          <p:cNvSpPr/>
          <p:nvPr/>
        </p:nvSpPr>
        <p:spPr>
          <a:xfrm>
            <a:off x="7388352" y="3511296"/>
            <a:ext cx="7680960" cy="9729216"/>
          </a:xfrm>
          <a:prstGeom prst="ellipse">
            <a:avLst/>
          </a:prstGeom>
          <a:solidFill>
            <a:srgbClr val="081D2C"/>
          </a:solidFill>
          <a:ln/>
        </p:spPr>
      </p:sp>
      <p:sp>
        <p:nvSpPr>
          <p:cNvPr id="5" name="Shape 3"/>
          <p:cNvSpPr/>
          <p:nvPr/>
        </p:nvSpPr>
        <p:spPr>
          <a:xfrm>
            <a:off x="6035040" y="1188720"/>
            <a:ext cx="7498080" cy="4206240"/>
          </a:xfrm>
          <a:prstGeom prst="ellipse">
            <a:avLst/>
          </a:prstGeom>
          <a:ln w="12700">
            <a:solidFill>
              <a:srgbClr val="185C68"/>
            </a:solidFill>
            <a:prstDash val="sysDot"/>
          </a:ln>
        </p:spPr>
      </p:sp>
      <p:sp>
        <p:nvSpPr>
          <p:cNvPr id="6" name="Shape 4"/>
          <p:cNvSpPr/>
          <p:nvPr/>
        </p:nvSpPr>
        <p:spPr>
          <a:xfrm>
            <a:off x="6949440" y="2331720"/>
            <a:ext cx="5669280" cy="2834640"/>
          </a:xfrm>
          <a:prstGeom prst="ellipse">
            <a:avLst/>
          </a:prstGeom>
          <a:ln w="12700">
            <a:solidFill>
              <a:srgbClr val="185C68"/>
            </a:solidFill>
            <a:prstDash val="sysDot"/>
          </a:ln>
        </p:spPr>
      </p:sp>
      <p:sp>
        <p:nvSpPr>
          <p:cNvPr id="7" name="Shape 5"/>
          <p:cNvSpPr/>
          <p:nvPr/>
        </p:nvSpPr>
        <p:spPr>
          <a:xfrm>
            <a:off x="7223760" y="2606040"/>
            <a:ext cx="5120640" cy="2331720"/>
          </a:xfrm>
          <a:prstGeom prst="ellipse">
            <a:avLst/>
          </a:prstGeom>
          <a:ln w="25400">
            <a:solidFill>
              <a:srgbClr val="4DD9EC"/>
            </a:solidFill>
            <a:prstDash val="solid"/>
          </a:ln>
        </p:spPr>
      </p:sp>
      <p:sp>
        <p:nvSpPr>
          <p:cNvPr id="8" name="Shape 6"/>
          <p:cNvSpPr/>
          <p:nvPr/>
        </p:nvSpPr>
        <p:spPr>
          <a:xfrm>
            <a:off x="7543800" y="2788920"/>
            <a:ext cx="4480560" cy="1965960"/>
          </a:xfrm>
          <a:prstGeom prst="ellipse">
            <a:avLst/>
          </a:prstGeom>
          <a:ln w="9525">
            <a:solidFill>
              <a:srgbClr val="4DD9EC"/>
            </a:solidFill>
            <a:prstDash val="sysDot"/>
          </a:ln>
        </p:spPr>
      </p:sp>
      <p:sp>
        <p:nvSpPr>
          <p:cNvPr id="9" name="Shape 7"/>
          <p:cNvSpPr/>
          <p:nvPr/>
        </p:nvSpPr>
        <p:spPr>
          <a:xfrm>
            <a:off x="11658600" y="2697480"/>
            <a:ext cx="128016" cy="128016"/>
          </a:xfrm>
          <a:prstGeom prst="ellipse">
            <a:avLst/>
          </a:prstGeom>
          <a:solidFill>
            <a:srgbClr val="4DD9EC"/>
          </a:solidFill>
          <a:ln/>
        </p:spPr>
      </p:sp>
      <p:sp>
        <p:nvSpPr>
          <p:cNvPr id="10" name="Text 8"/>
          <p:cNvSpPr/>
          <p:nvPr/>
        </p:nvSpPr>
        <p:spPr>
          <a:xfrm>
            <a:off x="11247120" y="2862072"/>
            <a:ext cx="914400" cy="182880"/>
          </a:xfrm>
          <a:prstGeom prst="rect">
            <a:avLst/>
          </a:prstGeom>
          <a:noFill/>
          <a:ln/>
        </p:spPr>
        <p:txBody>
          <a:bodyPr wrap="square" lIns="0" tIns="0" rIns="0" bIns="0" rtlCol="0" anchor="ctr"/>
          <a:lstStyle/>
          <a:p>
            <a:pPr indent="0" marL="0">
              <a:buNone/>
            </a:pPr>
            <a:r>
              <a:rPr lang="en-US" sz="800" b="1" dirty="0">
                <a:solidFill>
                  <a:srgbClr val="4DD9EC"/>
                </a:solidFill>
                <a:latin typeface="Calibri" pitchFamily="34" charset="0"/>
                <a:ea typeface="Calibri" pitchFamily="34" charset="-122"/>
                <a:cs typeface="Calibri" pitchFamily="34" charset="-120"/>
              </a:rPr>
              <a:t>SAT-X</a:t>
            </a:r>
            <a:endParaRPr lang="en-US" sz="800" dirty="0"/>
          </a:p>
        </p:txBody>
      </p:sp>
      <p:sp>
        <p:nvSpPr>
          <p:cNvPr id="11" name="Shape 9"/>
          <p:cNvSpPr/>
          <p:nvPr/>
        </p:nvSpPr>
        <p:spPr>
          <a:xfrm>
            <a:off x="6172200" y="3246120"/>
            <a:ext cx="82296" cy="82296"/>
          </a:xfrm>
          <a:prstGeom prst="ellipse">
            <a:avLst/>
          </a:prstGeom>
          <a:solidFill>
            <a:srgbClr val="F2AA3E"/>
          </a:solidFill>
          <a:ln/>
        </p:spPr>
      </p:sp>
      <p:sp>
        <p:nvSpPr>
          <p:cNvPr id="12" name="Text 10"/>
          <p:cNvSpPr/>
          <p:nvPr/>
        </p:nvSpPr>
        <p:spPr>
          <a:xfrm>
            <a:off x="5806440" y="3364992"/>
            <a:ext cx="1005840" cy="164592"/>
          </a:xfrm>
          <a:prstGeom prst="rect">
            <a:avLst/>
          </a:prstGeom>
          <a:noFill/>
          <a:ln/>
        </p:spPr>
        <p:txBody>
          <a:bodyPr wrap="square" lIns="0" tIns="0" rIns="0" bIns="0" rtlCol="0" anchor="ctr"/>
          <a:lstStyle/>
          <a:p>
            <a:pPr indent="0" marL="0">
              <a:buNone/>
            </a:pPr>
            <a:r>
              <a:rPr lang="en-US" sz="700" dirty="0">
                <a:solidFill>
                  <a:srgbClr val="F2AA3E"/>
                </a:solidFill>
                <a:latin typeface="Calibri" pitchFamily="34" charset="0"/>
                <a:ea typeface="Calibri" pitchFamily="34" charset="-122"/>
                <a:cs typeface="Calibri" pitchFamily="34" charset="-120"/>
              </a:rPr>
              <a:t>DEBRIS-07</a:t>
            </a:r>
            <a:endParaRPr lang="en-US" sz="700" dirty="0"/>
          </a:p>
        </p:txBody>
      </p:sp>
      <p:sp>
        <p:nvSpPr>
          <p:cNvPr id="13" name="Shape 11"/>
          <p:cNvSpPr/>
          <p:nvPr/>
        </p:nvSpPr>
        <p:spPr>
          <a:xfrm>
            <a:off x="10424160" y="1371600"/>
            <a:ext cx="73152" cy="73152"/>
          </a:xfrm>
          <a:prstGeom prst="ellipse">
            <a:avLst/>
          </a:prstGeom>
          <a:solidFill>
            <a:srgbClr val="EC6459"/>
          </a:solidFill>
          <a:ln/>
        </p:spPr>
      </p:sp>
      <p:sp>
        <p:nvSpPr>
          <p:cNvPr id="14" name="Shape 12"/>
          <p:cNvSpPr/>
          <p:nvPr/>
        </p:nvSpPr>
        <p:spPr>
          <a:xfrm>
            <a:off x="8321040" y="4709160"/>
            <a:ext cx="64008" cy="64008"/>
          </a:xfrm>
          <a:prstGeom prst="ellipse">
            <a:avLst/>
          </a:prstGeom>
          <a:solidFill>
            <a:srgbClr val="5E6A82"/>
          </a:solidFill>
          <a:ln/>
        </p:spPr>
      </p:sp>
      <p:sp>
        <p:nvSpPr>
          <p:cNvPr id="15" name="Shape 13"/>
          <p:cNvSpPr/>
          <p:nvPr/>
        </p:nvSpPr>
        <p:spPr>
          <a:xfrm>
            <a:off x="9509760" y="3200400"/>
            <a:ext cx="2103120" cy="-411480"/>
          </a:xfrm>
          <a:prstGeom prst="line">
            <a:avLst/>
          </a:prstGeom>
          <a:noFill/>
          <a:ln w="12700">
            <a:solidFill>
              <a:srgbClr val="185C68"/>
            </a:solidFill>
            <a:prstDash val="dash"/>
          </a:ln>
        </p:spPr>
      </p:sp>
      <p:sp>
        <p:nvSpPr>
          <p:cNvPr id="16" name="Shape 14"/>
          <p:cNvSpPr/>
          <p:nvPr/>
        </p:nvSpPr>
        <p:spPr>
          <a:xfrm>
            <a:off x="6400800" y="502920"/>
            <a:ext cx="27432" cy="27432"/>
          </a:xfrm>
          <a:prstGeom prst="ellipse">
            <a:avLst/>
          </a:prstGeom>
          <a:solidFill>
            <a:srgbClr val="5E6A82"/>
          </a:solidFill>
          <a:ln/>
        </p:spPr>
      </p:sp>
      <p:sp>
        <p:nvSpPr>
          <p:cNvPr id="17" name="Shape 15"/>
          <p:cNvSpPr/>
          <p:nvPr/>
        </p:nvSpPr>
        <p:spPr>
          <a:xfrm>
            <a:off x="11521440" y="1005840"/>
            <a:ext cx="27432" cy="27432"/>
          </a:xfrm>
          <a:prstGeom prst="ellipse">
            <a:avLst/>
          </a:prstGeom>
          <a:solidFill>
            <a:srgbClr val="5E6A82"/>
          </a:solidFill>
          <a:ln/>
        </p:spPr>
      </p:sp>
      <p:sp>
        <p:nvSpPr>
          <p:cNvPr id="18" name="Shape 16"/>
          <p:cNvSpPr/>
          <p:nvPr/>
        </p:nvSpPr>
        <p:spPr>
          <a:xfrm>
            <a:off x="6675120" y="6035040"/>
            <a:ext cx="27432" cy="27432"/>
          </a:xfrm>
          <a:prstGeom prst="ellipse">
            <a:avLst/>
          </a:prstGeom>
          <a:solidFill>
            <a:srgbClr val="5E6A82"/>
          </a:solidFill>
          <a:ln/>
        </p:spPr>
      </p:sp>
      <p:sp>
        <p:nvSpPr>
          <p:cNvPr id="19" name="Shape 17"/>
          <p:cNvSpPr/>
          <p:nvPr/>
        </p:nvSpPr>
        <p:spPr>
          <a:xfrm>
            <a:off x="11795760" y="5669280"/>
            <a:ext cx="27432" cy="27432"/>
          </a:xfrm>
          <a:prstGeom prst="ellipse">
            <a:avLst/>
          </a:prstGeom>
          <a:solidFill>
            <a:srgbClr val="5E6A82"/>
          </a:solidFill>
          <a:ln/>
        </p:spPr>
      </p:sp>
      <p:sp>
        <p:nvSpPr>
          <p:cNvPr id="20" name="Shape 18"/>
          <p:cNvSpPr/>
          <p:nvPr/>
        </p:nvSpPr>
        <p:spPr>
          <a:xfrm>
            <a:off x="6217920" y="5120640"/>
            <a:ext cx="27432" cy="27432"/>
          </a:xfrm>
          <a:prstGeom prst="ellipse">
            <a:avLst/>
          </a:prstGeom>
          <a:solidFill>
            <a:srgbClr val="5E6A82"/>
          </a:solidFill>
          <a:ln/>
        </p:spPr>
      </p:sp>
      <p:sp>
        <p:nvSpPr>
          <p:cNvPr id="21" name="Shape 19"/>
          <p:cNvSpPr/>
          <p:nvPr/>
        </p:nvSpPr>
        <p:spPr>
          <a:xfrm>
            <a:off x="11978640" y="3566160"/>
            <a:ext cx="27432" cy="27432"/>
          </a:xfrm>
          <a:prstGeom prst="ellipse">
            <a:avLst/>
          </a:prstGeom>
          <a:solidFill>
            <a:srgbClr val="5E6A82"/>
          </a:solidFill>
          <a:ln/>
        </p:spPr>
      </p:sp>
      <p:sp>
        <p:nvSpPr>
          <p:cNvPr id="22" name="Shape 20"/>
          <p:cNvSpPr/>
          <p:nvPr/>
        </p:nvSpPr>
        <p:spPr>
          <a:xfrm>
            <a:off x="8869680" y="457200"/>
            <a:ext cx="27432" cy="27432"/>
          </a:xfrm>
          <a:prstGeom prst="ellipse">
            <a:avLst/>
          </a:prstGeom>
          <a:solidFill>
            <a:srgbClr val="5E6A82"/>
          </a:solidFill>
          <a:ln/>
        </p:spPr>
      </p:sp>
      <p:sp>
        <p:nvSpPr>
          <p:cNvPr id="23" name="Text 21"/>
          <p:cNvSpPr/>
          <p:nvPr/>
        </p:nvSpPr>
        <p:spPr>
          <a:xfrm>
            <a:off x="502920" y="5989320"/>
            <a:ext cx="2377440" cy="182880"/>
          </a:xfrm>
          <a:prstGeom prst="rect">
            <a:avLst/>
          </a:prstGeom>
          <a:noFill/>
          <a:ln/>
        </p:spPr>
        <p:txBody>
          <a:bodyPr wrap="square" lIns="0" tIns="0" rIns="0" bIns="0" rtlCol="0" anchor="ctr"/>
          <a:lstStyle/>
          <a:p>
            <a:pPr algn="l" indent="0" marL="0">
              <a:buNone/>
            </a:pPr>
            <a:r>
              <a:rPr lang="en-US" sz="800" spc="100" kern="0" dirty="0">
                <a:solidFill>
                  <a:srgbClr val="185C68"/>
                </a:solidFill>
                <a:latin typeface="Calibri" pitchFamily="34" charset="0"/>
                <a:ea typeface="Calibri" pitchFamily="34" charset="-122"/>
                <a:cs typeface="Calibri" pitchFamily="34" charset="-120"/>
              </a:rPr>
              <a:t>MISSION / ORBITAL DECISION SUPPORT / 01</a:t>
            </a:r>
            <a:endParaRPr lang="en-US" sz="800" dirty="0"/>
          </a:p>
        </p:txBody>
      </p:sp>
      <p:sp>
        <p:nvSpPr>
          <p:cNvPr id="24" name="Text 22"/>
          <p:cNvSpPr/>
          <p:nvPr/>
        </p:nvSpPr>
        <p:spPr>
          <a:xfrm>
            <a:off x="502920" y="6199632"/>
            <a:ext cx="2377440" cy="182880"/>
          </a:xfrm>
          <a:prstGeom prst="rect">
            <a:avLst/>
          </a:prstGeom>
          <a:noFill/>
          <a:ln/>
        </p:spPr>
        <p:txBody>
          <a:bodyPr wrap="square" lIns="0" tIns="0" rIns="0" bIns="0" rtlCol="0" anchor="ctr"/>
          <a:lstStyle/>
          <a:p>
            <a:pPr algn="l" indent="0" marL="0">
              <a:buNone/>
            </a:pPr>
            <a:r>
              <a:rPr lang="en-US" sz="800" spc="100" kern="0" dirty="0">
                <a:solidFill>
                  <a:srgbClr val="185C68"/>
                </a:solidFill>
                <a:latin typeface="Calibri" pitchFamily="34" charset="0"/>
                <a:ea typeface="Calibri" pitchFamily="34" charset="-122"/>
                <a:cs typeface="Calibri" pitchFamily="34" charset="-120"/>
              </a:rPr>
              <a:t>STATUS: ANALYSIS  ·  DATA: TLE</a:t>
            </a:r>
            <a:endParaRPr lang="en-US" sz="800" dirty="0"/>
          </a:p>
        </p:txBody>
      </p:sp>
      <p:pic>
        <p:nvPicPr>
          <p:cNvPr id="25" name="Image 0" descr="/home/claude/assets/nakshatra_rgba.png">    </p:cNvPr>
          <p:cNvPicPr>
            <a:picLocks noChangeAspect="1"/>
          </p:cNvPicPr>
          <p:nvPr/>
        </p:nvPicPr>
        <p:blipFill>
          <a:blip r:embed="rId1"/>
          <a:stretch>
            <a:fillRect/>
          </a:stretch>
        </p:blipFill>
        <p:spPr>
          <a:xfrm>
            <a:off x="502920" y="365760"/>
            <a:ext cx="1965960" cy="654710"/>
          </a:xfrm>
          <a:prstGeom prst="rect">
            <a:avLst/>
          </a:prstGeom>
        </p:spPr>
      </p:pic>
      <p:pic>
        <p:nvPicPr>
          <p:cNvPr id="26" name="Image 1" descr="/home/claude/assets/erospace_rgba.png">    </p:cNvPr>
          <p:cNvPicPr>
            <a:picLocks noChangeAspect="1"/>
          </p:cNvPicPr>
          <p:nvPr/>
        </p:nvPicPr>
        <p:blipFill>
          <a:blip r:embed="rId2"/>
          <a:stretch>
            <a:fillRect/>
          </a:stretch>
        </p:blipFill>
        <p:spPr>
          <a:xfrm>
            <a:off x="10561320" y="347472"/>
            <a:ext cx="1371600" cy="476402"/>
          </a:xfrm>
          <a:prstGeom prst="rect">
            <a:avLst/>
          </a:prstGeom>
        </p:spPr>
      </p:pic>
      <p:sp>
        <p:nvSpPr>
          <p:cNvPr id="27" name="Text 23"/>
          <p:cNvSpPr/>
          <p:nvPr/>
        </p:nvSpPr>
        <p:spPr>
          <a:xfrm>
            <a:off x="502920" y="1965960"/>
            <a:ext cx="6492240" cy="1783080"/>
          </a:xfrm>
          <a:prstGeom prst="rect">
            <a:avLst/>
          </a:prstGeom>
          <a:noFill/>
          <a:ln/>
        </p:spPr>
        <p:txBody>
          <a:bodyPr wrap="square" lIns="0" tIns="0" rIns="0" bIns="0" rtlCol="0" anchor="ctr"/>
          <a:lstStyle/>
          <a:p>
            <a:pPr indent="0" marL="0">
              <a:lnSpc>
                <a:spcPts val="4600"/>
              </a:lnSpc>
              <a:buNone/>
            </a:pPr>
            <a:r>
              <a:rPr lang="en-US" sz="4200" b="1" dirty="0">
                <a:solidFill>
                  <a:srgbClr val="F1F5FB"/>
                </a:solidFill>
                <a:latin typeface="Arial" pitchFamily="34" charset="0"/>
                <a:ea typeface="Arial" pitchFamily="34" charset="-122"/>
                <a:cs typeface="Arial" pitchFamily="34" charset="-120"/>
              </a:rPr>
              <a:t>ORBITAL FUTURE</a:t>
            </a:r>
            <a:endParaRPr lang="en-US" sz="4200" dirty="0"/>
          </a:p>
          <a:p>
            <a:pPr indent="0" marL="0">
              <a:lnSpc>
                <a:spcPts val="4600"/>
              </a:lnSpc>
              <a:buNone/>
            </a:pPr>
            <a:r>
              <a:rPr lang="en-US" sz="4200" b="1" dirty="0">
                <a:solidFill>
                  <a:srgbClr val="F1F5FB"/>
                </a:solidFill>
                <a:latin typeface="Arial" pitchFamily="34" charset="0"/>
                <a:ea typeface="Arial" pitchFamily="34" charset="-122"/>
                <a:cs typeface="Arial" pitchFamily="34" charset="-120"/>
              </a:rPr>
              <a:t>DECISION ENGINE</a:t>
            </a:r>
            <a:endParaRPr lang="en-US" sz="4200" dirty="0"/>
          </a:p>
        </p:txBody>
      </p:sp>
      <p:sp>
        <p:nvSpPr>
          <p:cNvPr id="28" name="Text 24"/>
          <p:cNvSpPr/>
          <p:nvPr/>
        </p:nvSpPr>
        <p:spPr>
          <a:xfrm>
            <a:off x="521208" y="3794760"/>
            <a:ext cx="6035040" cy="502920"/>
          </a:xfrm>
          <a:prstGeom prst="rect">
            <a:avLst/>
          </a:prstGeom>
          <a:noFill/>
          <a:ln/>
        </p:spPr>
        <p:txBody>
          <a:bodyPr wrap="square" lIns="0" tIns="0" rIns="0" bIns="0" rtlCol="0" anchor="ctr"/>
          <a:lstStyle/>
          <a:p>
            <a:pPr indent="0" marL="0">
              <a:lnSpc>
                <a:spcPts val="1600"/>
              </a:lnSpc>
              <a:buNone/>
            </a:pPr>
            <a:r>
              <a:rPr lang="en-US" sz="1300" b="1" spc="100" kern="0" dirty="0">
                <a:solidFill>
                  <a:srgbClr val="4DD9EC"/>
                </a:solidFill>
                <a:latin typeface="Calibri" pitchFamily="34" charset="0"/>
                <a:ea typeface="Calibri" pitchFamily="34" charset="-122"/>
                <a:cs typeface="Calibri" pitchFamily="34" charset="-120"/>
              </a:rPr>
              <a:t>UNCERTAINTY-AWARE SPACE DEBRIS TRACKING, FUTURE SCENARIO ANALYSIS &amp; DECISION SUPPORT</a:t>
            </a:r>
            <a:endParaRPr lang="en-US" sz="1300" dirty="0"/>
          </a:p>
        </p:txBody>
      </p:sp>
      <p:sp>
        <p:nvSpPr>
          <p:cNvPr id="29" name="Shape 25"/>
          <p:cNvSpPr/>
          <p:nvPr/>
        </p:nvSpPr>
        <p:spPr>
          <a:xfrm>
            <a:off x="548640" y="4526280"/>
            <a:ext cx="822960" cy="0"/>
          </a:xfrm>
          <a:prstGeom prst="line">
            <a:avLst/>
          </a:prstGeom>
          <a:noFill/>
          <a:ln w="25400">
            <a:solidFill>
              <a:srgbClr val="4DD9EC"/>
            </a:solidFill>
            <a:prstDash val="solid"/>
          </a:ln>
        </p:spPr>
      </p:sp>
      <p:sp>
        <p:nvSpPr>
          <p:cNvPr id="30" name="Text 26"/>
          <p:cNvSpPr/>
          <p:nvPr/>
        </p:nvSpPr>
        <p:spPr>
          <a:xfrm>
            <a:off x="502920" y="4663440"/>
            <a:ext cx="4572000" cy="365760"/>
          </a:xfrm>
          <a:prstGeom prst="rect">
            <a:avLst/>
          </a:prstGeom>
          <a:noFill/>
          <a:ln/>
        </p:spPr>
        <p:txBody>
          <a:bodyPr wrap="square" lIns="0" tIns="0" rIns="0" bIns="0" rtlCol="0" anchor="ctr"/>
          <a:lstStyle/>
          <a:p>
            <a:pPr indent="0" marL="0">
              <a:buNone/>
            </a:pPr>
            <a:r>
              <a:rPr lang="en-US" sz="2000" b="1" spc="100" kern="0" dirty="0">
                <a:solidFill>
                  <a:srgbClr val="F1F5FB"/>
                </a:solidFill>
                <a:latin typeface="Calibri" pitchFamily="34" charset="0"/>
                <a:ea typeface="Calibri" pitchFamily="34" charset="-122"/>
                <a:cs typeface="Calibri" pitchFamily="34" charset="-120"/>
              </a:rPr>
              <a:t>FANTASTIC 4</a:t>
            </a:r>
            <a:endParaRPr lang="en-US" sz="2000" dirty="0"/>
          </a:p>
        </p:txBody>
      </p:sp>
      <p:sp>
        <p:nvSpPr>
          <p:cNvPr id="31" name="Text 27"/>
          <p:cNvSpPr/>
          <p:nvPr/>
        </p:nvSpPr>
        <p:spPr>
          <a:xfrm>
            <a:off x="502920" y="5074920"/>
            <a:ext cx="5486400" cy="292608"/>
          </a:xfrm>
          <a:prstGeom prst="rect">
            <a:avLst/>
          </a:prstGeom>
          <a:noFill/>
          <a:ln/>
        </p:spPr>
        <p:txBody>
          <a:bodyPr wrap="square" lIns="0" tIns="0" rIns="0" bIns="0" rtlCol="0" anchor="ctr"/>
          <a:lstStyle/>
          <a:p>
            <a:pPr indent="0" marL="0">
              <a:buNone/>
            </a:pPr>
            <a:r>
              <a:rPr lang="en-US" sz="1200" dirty="0">
                <a:solidFill>
                  <a:srgbClr val="A6B0C3"/>
                </a:solidFill>
                <a:latin typeface="Calibri" pitchFamily="34" charset="0"/>
                <a:ea typeface="Calibri" pitchFamily="34" charset="-122"/>
                <a:cs typeface="Calibri" pitchFamily="34" charset="-120"/>
              </a:rPr>
              <a:t>Aerospace Hackathon 2026  ·  Software-Only Prototype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60911"/>
        </a:solidFill>
      </p:bgPr>
    </p:bg>
    <p:spTree>
      <p:nvGrpSpPr>
        <p:cNvPr id="1" name=""/>
        <p:cNvGrpSpPr/>
        <p:nvPr/>
      </p:nvGrpSpPr>
      <p:grpSpPr>
        <a:xfrm>
          <a:off x="0" y="0"/>
          <a:ext cx="0" cy="0"/>
          <a:chOff x="0" y="0"/>
          <a:chExt cx="0" cy="0"/>
        </a:xfrm>
      </p:grpSpPr>
      <p:pic>
        <p:nvPicPr>
          <p:cNvPr id="2" name="Image 0" descr="/home/claude/assets/erospace_rgba.png">    </p:cNvPr>
          <p:cNvPicPr>
            <a:picLocks noChangeAspect="1"/>
          </p:cNvPicPr>
          <p:nvPr/>
        </p:nvPicPr>
        <p:blipFill>
          <a:blip r:embed="rId1">
            <a:alphaModFix amt="75000"/>
          </a:blip>
          <a:stretch>
            <a:fillRect/>
          </a:stretch>
        </p:blipFill>
        <p:spPr>
          <a:xfrm>
            <a:off x="10561320" y="292608"/>
            <a:ext cx="1325880" cy="459943"/>
          </a:xfrm>
          <a:prstGeom prst="rect">
            <a:avLst/>
          </a:prstGeom>
        </p:spPr>
      </p:pic>
      <p:sp>
        <p:nvSpPr>
          <p:cNvPr id="3" name="Text 0"/>
          <p:cNvSpPr/>
          <p:nvPr/>
        </p:nvSpPr>
        <p:spPr>
          <a:xfrm>
            <a:off x="8229600" y="786384"/>
            <a:ext cx="2377440" cy="182880"/>
          </a:xfrm>
          <a:prstGeom prst="rect">
            <a:avLst/>
          </a:prstGeom>
          <a:noFill/>
          <a:ln/>
        </p:spPr>
        <p:txBody>
          <a:bodyPr wrap="square" lIns="0" tIns="0" rIns="0" bIns="0" rtlCol="0" anchor="ctr"/>
          <a:lstStyle/>
          <a:p>
            <a:pPr algn="r" indent="0" marL="0">
              <a:buNone/>
            </a:pPr>
            <a:r>
              <a:rPr lang="en-US" sz="800" spc="100" kern="0" dirty="0">
                <a:solidFill>
                  <a:srgbClr val="185C68"/>
                </a:solidFill>
                <a:latin typeface="Calibri" pitchFamily="34" charset="0"/>
                <a:ea typeface="Calibri" pitchFamily="34" charset="-122"/>
                <a:cs typeface="Calibri" pitchFamily="34" charset="-120"/>
              </a:rPr>
              <a:t>OBJECT: SAT-X  ·  MODE: SIMULATION</a:t>
            </a:r>
            <a:endParaRPr lang="en-US" sz="800" dirty="0"/>
          </a:p>
        </p:txBody>
      </p:sp>
      <p:sp>
        <p:nvSpPr>
          <p:cNvPr id="4" name="Text 1"/>
          <p:cNvSpPr/>
          <p:nvPr/>
        </p:nvSpPr>
        <p:spPr>
          <a:xfrm>
            <a:off x="502920" y="365760"/>
            <a:ext cx="8229600" cy="292608"/>
          </a:xfrm>
          <a:prstGeom prst="rect">
            <a:avLst/>
          </a:prstGeom>
          <a:noFill/>
          <a:ln/>
        </p:spPr>
        <p:txBody>
          <a:bodyPr wrap="square" lIns="0" tIns="0" rIns="0" bIns="0" rtlCol="0" anchor="ctr"/>
          <a:lstStyle/>
          <a:p>
            <a:pPr indent="0" marL="0">
              <a:buNone/>
            </a:pPr>
            <a:r>
              <a:rPr lang="en-US" sz="1300" b="1" spc="200" kern="0" dirty="0">
                <a:solidFill>
                  <a:srgbClr val="4DD9EC"/>
                </a:solidFill>
                <a:latin typeface="Calibri" pitchFamily="34" charset="0"/>
                <a:ea typeface="Calibri" pitchFamily="34" charset="-122"/>
                <a:cs typeface="Calibri" pitchFamily="34" charset="-120"/>
              </a:rPr>
              <a:t>PROJECT TYPE</a:t>
            </a:r>
            <a:endParaRPr lang="en-US" sz="1300" dirty="0"/>
          </a:p>
        </p:txBody>
      </p:sp>
      <p:sp>
        <p:nvSpPr>
          <p:cNvPr id="5" name="Text 2"/>
          <p:cNvSpPr/>
          <p:nvPr/>
        </p:nvSpPr>
        <p:spPr>
          <a:xfrm>
            <a:off x="502920" y="658368"/>
            <a:ext cx="10972800" cy="685800"/>
          </a:xfrm>
          <a:prstGeom prst="rect">
            <a:avLst/>
          </a:prstGeom>
          <a:noFill/>
          <a:ln/>
        </p:spPr>
        <p:txBody>
          <a:bodyPr wrap="square" lIns="0" tIns="0" rIns="0" bIns="0" rtlCol="0" anchor="ctr"/>
          <a:lstStyle/>
          <a:p>
            <a:pPr indent="0" marL="0">
              <a:buNone/>
            </a:pPr>
            <a:r>
              <a:rPr lang="en-US" sz="3400" b="1" dirty="0">
                <a:solidFill>
                  <a:srgbClr val="F1F5FB"/>
                </a:solidFill>
                <a:latin typeface="Arial" pitchFamily="34" charset="0"/>
                <a:ea typeface="Arial" pitchFamily="34" charset="-122"/>
                <a:cs typeface="Arial" pitchFamily="34" charset="-120"/>
              </a:rPr>
              <a:t>Software</a:t>
            </a:r>
            <a:endParaRPr lang="en-US" sz="3400" dirty="0"/>
          </a:p>
        </p:txBody>
      </p:sp>
      <p:sp>
        <p:nvSpPr>
          <p:cNvPr id="6" name="Text 3"/>
          <p:cNvSpPr/>
          <p:nvPr/>
        </p:nvSpPr>
        <p:spPr>
          <a:xfrm>
            <a:off x="502920" y="1371600"/>
            <a:ext cx="7589520" cy="365760"/>
          </a:xfrm>
          <a:prstGeom prst="rect">
            <a:avLst/>
          </a:prstGeom>
          <a:noFill/>
          <a:ln/>
        </p:spPr>
        <p:txBody>
          <a:bodyPr wrap="square" lIns="0" tIns="0" rIns="0" bIns="0" rtlCol="0" anchor="ctr"/>
          <a:lstStyle/>
          <a:p>
            <a:pPr indent="0" marL="0">
              <a:buNone/>
            </a:pPr>
            <a:r>
              <a:rPr lang="en-US" sz="1500" dirty="0">
                <a:solidFill>
                  <a:srgbClr val="A6B0C3"/>
                </a:solidFill>
                <a:latin typeface="Calibri" pitchFamily="34" charset="0"/>
                <a:ea typeface="Calibri" pitchFamily="34" charset="-122"/>
                <a:cs typeface="Calibri" pitchFamily="34" charset="-120"/>
              </a:rPr>
              <a:t>No hardware. A software-only decision-support prototype.</a:t>
            </a:r>
            <a:endParaRPr lang="en-US" sz="1500" dirty="0"/>
          </a:p>
        </p:txBody>
      </p:sp>
      <p:sp>
        <p:nvSpPr>
          <p:cNvPr id="7" name="Shape 4"/>
          <p:cNvSpPr/>
          <p:nvPr/>
        </p:nvSpPr>
        <p:spPr>
          <a:xfrm>
            <a:off x="502920" y="1874520"/>
            <a:ext cx="5669280" cy="502920"/>
          </a:xfrm>
          <a:prstGeom prst="roundRect">
            <a:avLst>
              <a:gd name="adj" fmla="val 14545"/>
            </a:avLst>
          </a:prstGeom>
          <a:solidFill>
            <a:srgbClr val="111A2E"/>
          </a:solidFill>
          <a:ln w="12700">
            <a:solidFill>
              <a:srgbClr val="185C68"/>
            </a:solidFill>
            <a:prstDash val="solid"/>
          </a:ln>
        </p:spPr>
      </p:sp>
      <p:sp>
        <p:nvSpPr>
          <p:cNvPr id="8" name="Text 5"/>
          <p:cNvSpPr/>
          <p:nvPr/>
        </p:nvSpPr>
        <p:spPr>
          <a:xfrm>
            <a:off x="685800" y="1874520"/>
            <a:ext cx="1005840" cy="502920"/>
          </a:xfrm>
          <a:prstGeom prst="rect">
            <a:avLst/>
          </a:prstGeom>
          <a:noFill/>
          <a:ln/>
        </p:spPr>
        <p:txBody>
          <a:bodyPr wrap="square" lIns="0" tIns="0" rIns="0" bIns="0" rtlCol="0" anchor="ctr"/>
          <a:lstStyle/>
          <a:p>
            <a:pPr indent="0" marL="0">
              <a:buNone/>
            </a:pPr>
            <a:r>
              <a:rPr lang="en-US" sz="1000" b="1" spc="100" kern="0" dirty="0">
                <a:solidFill>
                  <a:srgbClr val="4DD9EC"/>
                </a:solidFill>
                <a:latin typeface="Calibri" pitchFamily="34" charset="0"/>
                <a:ea typeface="Calibri" pitchFamily="34" charset="-122"/>
                <a:cs typeface="Calibri" pitchFamily="34" charset="-120"/>
              </a:rPr>
              <a:t>THEME</a:t>
            </a:r>
            <a:endParaRPr lang="en-US" sz="1000" dirty="0"/>
          </a:p>
        </p:txBody>
      </p:sp>
      <p:sp>
        <p:nvSpPr>
          <p:cNvPr id="9" name="Text 6"/>
          <p:cNvSpPr/>
          <p:nvPr/>
        </p:nvSpPr>
        <p:spPr>
          <a:xfrm>
            <a:off x="1691640" y="1874520"/>
            <a:ext cx="4343400" cy="502920"/>
          </a:xfrm>
          <a:prstGeom prst="rect">
            <a:avLst/>
          </a:prstGeom>
          <a:noFill/>
          <a:ln/>
        </p:spPr>
        <p:txBody>
          <a:bodyPr wrap="square" lIns="0" tIns="0" rIns="0" bIns="0" rtlCol="0" anchor="ctr"/>
          <a:lstStyle/>
          <a:p>
            <a:pPr indent="0" marL="0">
              <a:buNone/>
            </a:pPr>
            <a:r>
              <a:rPr lang="en-US" sz="1200" b="1" dirty="0">
                <a:solidFill>
                  <a:srgbClr val="F1F5FB"/>
                </a:solidFill>
                <a:latin typeface="Calibri" pitchFamily="34" charset="0"/>
                <a:ea typeface="Calibri" pitchFamily="34" charset="-122"/>
                <a:cs typeface="Calibri" pitchFamily="34" charset="-120"/>
              </a:rPr>
              <a:t>Space Debris Detection, Tracking &amp; Mitigation</a:t>
            </a:r>
            <a:endParaRPr lang="en-US" sz="1200" dirty="0"/>
          </a:p>
        </p:txBody>
      </p:sp>
      <p:sp>
        <p:nvSpPr>
          <p:cNvPr id="10" name="Shape 7"/>
          <p:cNvSpPr/>
          <p:nvPr/>
        </p:nvSpPr>
        <p:spPr>
          <a:xfrm>
            <a:off x="502920" y="2606040"/>
            <a:ext cx="3429000" cy="1051560"/>
          </a:xfrm>
          <a:prstGeom prst="roundRect">
            <a:avLst>
              <a:gd name="adj" fmla="val 6957"/>
            </a:avLst>
          </a:prstGeom>
          <a:solidFill>
            <a:srgbClr val="111A2E"/>
          </a:solidFill>
          <a:ln w="12700">
            <a:solidFill>
              <a:srgbClr val="26314A"/>
            </a:solidFill>
            <a:prstDash val="solid"/>
          </a:ln>
        </p:spPr>
      </p:sp>
      <p:sp>
        <p:nvSpPr>
          <p:cNvPr id="11" name="Shape 8"/>
          <p:cNvSpPr/>
          <p:nvPr/>
        </p:nvSpPr>
        <p:spPr>
          <a:xfrm>
            <a:off x="704088" y="2843784"/>
            <a:ext cx="128016" cy="128016"/>
          </a:xfrm>
          <a:prstGeom prst="ellipse">
            <a:avLst/>
          </a:prstGeom>
          <a:solidFill>
            <a:srgbClr val="4DD9EC"/>
          </a:solidFill>
          <a:ln/>
        </p:spPr>
      </p:sp>
      <p:sp>
        <p:nvSpPr>
          <p:cNvPr id="12" name="Text 9"/>
          <p:cNvSpPr/>
          <p:nvPr/>
        </p:nvSpPr>
        <p:spPr>
          <a:xfrm>
            <a:off x="941832" y="2734056"/>
            <a:ext cx="2834640" cy="411480"/>
          </a:xfrm>
          <a:prstGeom prst="rect">
            <a:avLst/>
          </a:prstGeom>
          <a:noFill/>
          <a:ln/>
        </p:spPr>
        <p:txBody>
          <a:bodyPr wrap="square" lIns="0" tIns="0" rIns="0" bIns="0" rtlCol="0" anchor="ctr"/>
          <a:lstStyle/>
          <a:p>
            <a:pPr indent="0" marL="0">
              <a:buNone/>
            </a:pPr>
            <a:r>
              <a:rPr lang="en-US" sz="1500" b="1" dirty="0">
                <a:solidFill>
                  <a:srgbClr val="F1F5FB"/>
                </a:solidFill>
                <a:latin typeface="Calibri" pitchFamily="34" charset="0"/>
                <a:ea typeface="Calibri" pitchFamily="34" charset="-122"/>
                <a:cs typeface="Calibri" pitchFamily="34" charset="-120"/>
              </a:rPr>
              <a:t>React + TypeScript</a:t>
            </a:r>
            <a:endParaRPr lang="en-US" sz="1500" dirty="0"/>
          </a:p>
        </p:txBody>
      </p:sp>
      <p:sp>
        <p:nvSpPr>
          <p:cNvPr id="13" name="Text 10"/>
          <p:cNvSpPr/>
          <p:nvPr/>
        </p:nvSpPr>
        <p:spPr>
          <a:xfrm>
            <a:off x="941832" y="3154680"/>
            <a:ext cx="2834640" cy="365760"/>
          </a:xfrm>
          <a:prstGeom prst="rect">
            <a:avLst/>
          </a:prstGeom>
          <a:noFill/>
          <a:ln/>
        </p:spPr>
        <p:txBody>
          <a:bodyPr wrap="square" lIns="0" tIns="0" rIns="0" bIns="0" rtlCol="0" anchor="ctr"/>
          <a:lstStyle/>
          <a:p>
            <a:pPr indent="0" marL="0">
              <a:buNone/>
            </a:pPr>
            <a:r>
              <a:rPr lang="en-US" sz="1100" dirty="0">
                <a:solidFill>
                  <a:srgbClr val="A6B0C3"/>
                </a:solidFill>
                <a:latin typeface="Calibri" pitchFamily="34" charset="0"/>
                <a:ea typeface="Calibri" pitchFamily="34" charset="-122"/>
                <a:cs typeface="Calibri" pitchFamily="34" charset="-120"/>
              </a:rPr>
              <a:t>Frontend</a:t>
            </a:r>
            <a:endParaRPr lang="en-US" sz="1100" dirty="0"/>
          </a:p>
        </p:txBody>
      </p:sp>
      <p:sp>
        <p:nvSpPr>
          <p:cNvPr id="14" name="Shape 11"/>
          <p:cNvSpPr/>
          <p:nvPr/>
        </p:nvSpPr>
        <p:spPr>
          <a:xfrm>
            <a:off x="4160520" y="2606040"/>
            <a:ext cx="3429000" cy="1051560"/>
          </a:xfrm>
          <a:prstGeom prst="roundRect">
            <a:avLst>
              <a:gd name="adj" fmla="val 6957"/>
            </a:avLst>
          </a:prstGeom>
          <a:solidFill>
            <a:srgbClr val="111A2E"/>
          </a:solidFill>
          <a:ln w="12700">
            <a:solidFill>
              <a:srgbClr val="26314A"/>
            </a:solidFill>
            <a:prstDash val="solid"/>
          </a:ln>
        </p:spPr>
      </p:sp>
      <p:sp>
        <p:nvSpPr>
          <p:cNvPr id="15" name="Shape 12"/>
          <p:cNvSpPr/>
          <p:nvPr/>
        </p:nvSpPr>
        <p:spPr>
          <a:xfrm>
            <a:off x="4361688" y="2843784"/>
            <a:ext cx="128016" cy="128016"/>
          </a:xfrm>
          <a:prstGeom prst="ellipse">
            <a:avLst/>
          </a:prstGeom>
          <a:solidFill>
            <a:srgbClr val="4DD9EC"/>
          </a:solidFill>
          <a:ln/>
        </p:spPr>
      </p:sp>
      <p:sp>
        <p:nvSpPr>
          <p:cNvPr id="16" name="Text 13"/>
          <p:cNvSpPr/>
          <p:nvPr/>
        </p:nvSpPr>
        <p:spPr>
          <a:xfrm>
            <a:off x="4599432" y="2734056"/>
            <a:ext cx="2834640" cy="411480"/>
          </a:xfrm>
          <a:prstGeom prst="rect">
            <a:avLst/>
          </a:prstGeom>
          <a:noFill/>
          <a:ln/>
        </p:spPr>
        <p:txBody>
          <a:bodyPr wrap="square" lIns="0" tIns="0" rIns="0" bIns="0" rtlCol="0" anchor="ctr"/>
          <a:lstStyle/>
          <a:p>
            <a:pPr indent="0" marL="0">
              <a:buNone/>
            </a:pPr>
            <a:r>
              <a:rPr lang="en-US" sz="1500" b="1" dirty="0">
                <a:solidFill>
                  <a:srgbClr val="F1F5FB"/>
                </a:solidFill>
                <a:latin typeface="Calibri" pitchFamily="34" charset="0"/>
                <a:ea typeface="Calibri" pitchFamily="34" charset="-122"/>
                <a:cs typeface="Calibri" pitchFamily="34" charset="-120"/>
              </a:rPr>
              <a:t>CesiumJS</a:t>
            </a:r>
            <a:endParaRPr lang="en-US" sz="1500" dirty="0"/>
          </a:p>
        </p:txBody>
      </p:sp>
      <p:sp>
        <p:nvSpPr>
          <p:cNvPr id="17" name="Text 14"/>
          <p:cNvSpPr/>
          <p:nvPr/>
        </p:nvSpPr>
        <p:spPr>
          <a:xfrm>
            <a:off x="4599432" y="3154680"/>
            <a:ext cx="2834640" cy="365760"/>
          </a:xfrm>
          <a:prstGeom prst="rect">
            <a:avLst/>
          </a:prstGeom>
          <a:noFill/>
          <a:ln/>
        </p:spPr>
        <p:txBody>
          <a:bodyPr wrap="square" lIns="0" tIns="0" rIns="0" bIns="0" rtlCol="0" anchor="ctr"/>
          <a:lstStyle/>
          <a:p>
            <a:pPr indent="0" marL="0">
              <a:buNone/>
            </a:pPr>
            <a:r>
              <a:rPr lang="en-US" sz="1100" dirty="0">
                <a:solidFill>
                  <a:srgbClr val="A6B0C3"/>
                </a:solidFill>
                <a:latin typeface="Calibri" pitchFamily="34" charset="0"/>
                <a:ea typeface="Calibri" pitchFamily="34" charset="-122"/>
                <a:cs typeface="Calibri" pitchFamily="34" charset="-120"/>
              </a:rPr>
              <a:t>3D Orbital View</a:t>
            </a:r>
            <a:endParaRPr lang="en-US" sz="1100" dirty="0"/>
          </a:p>
        </p:txBody>
      </p:sp>
      <p:sp>
        <p:nvSpPr>
          <p:cNvPr id="18" name="Shape 15"/>
          <p:cNvSpPr/>
          <p:nvPr/>
        </p:nvSpPr>
        <p:spPr>
          <a:xfrm>
            <a:off x="502920" y="3858768"/>
            <a:ext cx="3429000" cy="1051560"/>
          </a:xfrm>
          <a:prstGeom prst="roundRect">
            <a:avLst>
              <a:gd name="adj" fmla="val 6957"/>
            </a:avLst>
          </a:prstGeom>
          <a:solidFill>
            <a:srgbClr val="111A2E"/>
          </a:solidFill>
          <a:ln w="12700">
            <a:solidFill>
              <a:srgbClr val="26314A"/>
            </a:solidFill>
            <a:prstDash val="solid"/>
          </a:ln>
        </p:spPr>
      </p:sp>
      <p:sp>
        <p:nvSpPr>
          <p:cNvPr id="19" name="Shape 16"/>
          <p:cNvSpPr/>
          <p:nvPr/>
        </p:nvSpPr>
        <p:spPr>
          <a:xfrm>
            <a:off x="704088" y="4096512"/>
            <a:ext cx="128016" cy="128016"/>
          </a:xfrm>
          <a:prstGeom prst="ellipse">
            <a:avLst/>
          </a:prstGeom>
          <a:solidFill>
            <a:srgbClr val="4DD9EC"/>
          </a:solidFill>
          <a:ln/>
        </p:spPr>
      </p:sp>
      <p:sp>
        <p:nvSpPr>
          <p:cNvPr id="20" name="Text 17"/>
          <p:cNvSpPr/>
          <p:nvPr/>
        </p:nvSpPr>
        <p:spPr>
          <a:xfrm>
            <a:off x="941832" y="3986784"/>
            <a:ext cx="2834640" cy="411480"/>
          </a:xfrm>
          <a:prstGeom prst="rect">
            <a:avLst/>
          </a:prstGeom>
          <a:noFill/>
          <a:ln/>
        </p:spPr>
        <p:txBody>
          <a:bodyPr wrap="square" lIns="0" tIns="0" rIns="0" bIns="0" rtlCol="0" anchor="ctr"/>
          <a:lstStyle/>
          <a:p>
            <a:pPr indent="0" marL="0">
              <a:buNone/>
            </a:pPr>
            <a:r>
              <a:rPr lang="en-US" sz="1500" b="1" dirty="0">
                <a:solidFill>
                  <a:srgbClr val="F1F5FB"/>
                </a:solidFill>
                <a:latin typeface="Calibri" pitchFamily="34" charset="0"/>
                <a:ea typeface="Calibri" pitchFamily="34" charset="-122"/>
                <a:cs typeface="Calibri" pitchFamily="34" charset="-120"/>
              </a:rPr>
              <a:t>Python + FastAPI</a:t>
            </a:r>
            <a:endParaRPr lang="en-US" sz="1500" dirty="0"/>
          </a:p>
        </p:txBody>
      </p:sp>
      <p:sp>
        <p:nvSpPr>
          <p:cNvPr id="21" name="Text 18"/>
          <p:cNvSpPr/>
          <p:nvPr/>
        </p:nvSpPr>
        <p:spPr>
          <a:xfrm>
            <a:off x="941832" y="4407408"/>
            <a:ext cx="2834640" cy="365760"/>
          </a:xfrm>
          <a:prstGeom prst="rect">
            <a:avLst/>
          </a:prstGeom>
          <a:noFill/>
          <a:ln/>
        </p:spPr>
        <p:txBody>
          <a:bodyPr wrap="square" lIns="0" tIns="0" rIns="0" bIns="0" rtlCol="0" anchor="ctr"/>
          <a:lstStyle/>
          <a:p>
            <a:pPr indent="0" marL="0">
              <a:buNone/>
            </a:pPr>
            <a:r>
              <a:rPr lang="en-US" sz="1100" dirty="0">
                <a:solidFill>
                  <a:srgbClr val="A6B0C3"/>
                </a:solidFill>
                <a:latin typeface="Calibri" pitchFamily="34" charset="0"/>
                <a:ea typeface="Calibri" pitchFamily="34" charset="-122"/>
                <a:cs typeface="Calibri" pitchFamily="34" charset="-120"/>
              </a:rPr>
              <a:t>Backend</a:t>
            </a:r>
            <a:endParaRPr lang="en-US" sz="1100" dirty="0"/>
          </a:p>
        </p:txBody>
      </p:sp>
      <p:sp>
        <p:nvSpPr>
          <p:cNvPr id="22" name="Shape 19"/>
          <p:cNvSpPr/>
          <p:nvPr/>
        </p:nvSpPr>
        <p:spPr>
          <a:xfrm>
            <a:off x="4160520" y="3858768"/>
            <a:ext cx="3429000" cy="1051560"/>
          </a:xfrm>
          <a:prstGeom prst="roundRect">
            <a:avLst>
              <a:gd name="adj" fmla="val 6957"/>
            </a:avLst>
          </a:prstGeom>
          <a:solidFill>
            <a:srgbClr val="111A2E"/>
          </a:solidFill>
          <a:ln w="12700">
            <a:solidFill>
              <a:srgbClr val="26314A"/>
            </a:solidFill>
            <a:prstDash val="solid"/>
          </a:ln>
        </p:spPr>
      </p:sp>
      <p:sp>
        <p:nvSpPr>
          <p:cNvPr id="23" name="Shape 20"/>
          <p:cNvSpPr/>
          <p:nvPr/>
        </p:nvSpPr>
        <p:spPr>
          <a:xfrm>
            <a:off x="4361688" y="4096512"/>
            <a:ext cx="128016" cy="128016"/>
          </a:xfrm>
          <a:prstGeom prst="ellipse">
            <a:avLst/>
          </a:prstGeom>
          <a:solidFill>
            <a:srgbClr val="4DD9EC"/>
          </a:solidFill>
          <a:ln/>
        </p:spPr>
      </p:sp>
      <p:sp>
        <p:nvSpPr>
          <p:cNvPr id="24" name="Text 21"/>
          <p:cNvSpPr/>
          <p:nvPr/>
        </p:nvSpPr>
        <p:spPr>
          <a:xfrm>
            <a:off x="4599432" y="3986784"/>
            <a:ext cx="2834640" cy="411480"/>
          </a:xfrm>
          <a:prstGeom prst="rect">
            <a:avLst/>
          </a:prstGeom>
          <a:noFill/>
          <a:ln/>
        </p:spPr>
        <p:txBody>
          <a:bodyPr wrap="square" lIns="0" tIns="0" rIns="0" bIns="0" rtlCol="0" anchor="ctr"/>
          <a:lstStyle/>
          <a:p>
            <a:pPr indent="0" marL="0">
              <a:buNone/>
            </a:pPr>
            <a:r>
              <a:rPr lang="en-US" sz="1500" b="1" dirty="0">
                <a:solidFill>
                  <a:srgbClr val="F1F5FB"/>
                </a:solidFill>
                <a:latin typeface="Calibri" pitchFamily="34" charset="0"/>
                <a:ea typeface="Calibri" pitchFamily="34" charset="-122"/>
                <a:cs typeface="Calibri" pitchFamily="34" charset="-120"/>
              </a:rPr>
              <a:t>NumPy / SciPy</a:t>
            </a:r>
            <a:endParaRPr lang="en-US" sz="1500" dirty="0"/>
          </a:p>
        </p:txBody>
      </p:sp>
      <p:sp>
        <p:nvSpPr>
          <p:cNvPr id="25" name="Text 22"/>
          <p:cNvSpPr/>
          <p:nvPr/>
        </p:nvSpPr>
        <p:spPr>
          <a:xfrm>
            <a:off x="4599432" y="4407408"/>
            <a:ext cx="2834640" cy="365760"/>
          </a:xfrm>
          <a:prstGeom prst="rect">
            <a:avLst/>
          </a:prstGeom>
          <a:noFill/>
          <a:ln/>
        </p:spPr>
        <p:txBody>
          <a:bodyPr wrap="square" lIns="0" tIns="0" rIns="0" bIns="0" rtlCol="0" anchor="ctr"/>
          <a:lstStyle/>
          <a:p>
            <a:pPr indent="0" marL="0">
              <a:buNone/>
            </a:pPr>
            <a:r>
              <a:rPr lang="en-US" sz="1100" dirty="0">
                <a:solidFill>
                  <a:srgbClr val="A6B0C3"/>
                </a:solidFill>
                <a:latin typeface="Calibri" pitchFamily="34" charset="0"/>
                <a:ea typeface="Calibri" pitchFamily="34" charset="-122"/>
                <a:cs typeface="Calibri" pitchFamily="34" charset="-120"/>
              </a:rPr>
              <a:t>Numerics</a:t>
            </a:r>
            <a:endParaRPr lang="en-US" sz="1100" dirty="0"/>
          </a:p>
        </p:txBody>
      </p:sp>
      <p:sp>
        <p:nvSpPr>
          <p:cNvPr id="26" name="Shape 23"/>
          <p:cNvSpPr/>
          <p:nvPr/>
        </p:nvSpPr>
        <p:spPr>
          <a:xfrm>
            <a:off x="502920" y="5111496"/>
            <a:ext cx="3429000" cy="1051560"/>
          </a:xfrm>
          <a:prstGeom prst="roundRect">
            <a:avLst>
              <a:gd name="adj" fmla="val 6957"/>
            </a:avLst>
          </a:prstGeom>
          <a:solidFill>
            <a:srgbClr val="111A2E"/>
          </a:solidFill>
          <a:ln w="12700">
            <a:solidFill>
              <a:srgbClr val="26314A"/>
            </a:solidFill>
            <a:prstDash val="solid"/>
          </a:ln>
        </p:spPr>
      </p:sp>
      <p:sp>
        <p:nvSpPr>
          <p:cNvPr id="27" name="Shape 24"/>
          <p:cNvSpPr/>
          <p:nvPr/>
        </p:nvSpPr>
        <p:spPr>
          <a:xfrm>
            <a:off x="704088" y="5349240"/>
            <a:ext cx="128016" cy="128016"/>
          </a:xfrm>
          <a:prstGeom prst="ellipse">
            <a:avLst/>
          </a:prstGeom>
          <a:solidFill>
            <a:srgbClr val="4DD9EC"/>
          </a:solidFill>
          <a:ln/>
        </p:spPr>
      </p:sp>
      <p:sp>
        <p:nvSpPr>
          <p:cNvPr id="28" name="Text 25"/>
          <p:cNvSpPr/>
          <p:nvPr/>
        </p:nvSpPr>
        <p:spPr>
          <a:xfrm>
            <a:off x="941832" y="5239512"/>
            <a:ext cx="2834640" cy="411480"/>
          </a:xfrm>
          <a:prstGeom prst="rect">
            <a:avLst/>
          </a:prstGeom>
          <a:noFill/>
          <a:ln/>
        </p:spPr>
        <p:txBody>
          <a:bodyPr wrap="square" lIns="0" tIns="0" rIns="0" bIns="0" rtlCol="0" anchor="ctr"/>
          <a:lstStyle/>
          <a:p>
            <a:pPr indent="0" marL="0">
              <a:buNone/>
            </a:pPr>
            <a:r>
              <a:rPr lang="en-US" sz="1500" b="1" dirty="0">
                <a:solidFill>
                  <a:srgbClr val="F1F5FB"/>
                </a:solidFill>
                <a:latin typeface="Calibri" pitchFamily="34" charset="0"/>
                <a:ea typeface="Calibri" pitchFamily="34" charset="-122"/>
                <a:cs typeface="Calibri" pitchFamily="34" charset="-120"/>
              </a:rPr>
              <a:t>TLE Propagation</a:t>
            </a:r>
            <a:endParaRPr lang="en-US" sz="1500" dirty="0"/>
          </a:p>
        </p:txBody>
      </p:sp>
      <p:sp>
        <p:nvSpPr>
          <p:cNvPr id="29" name="Text 26"/>
          <p:cNvSpPr/>
          <p:nvPr/>
        </p:nvSpPr>
        <p:spPr>
          <a:xfrm>
            <a:off x="941832" y="5660136"/>
            <a:ext cx="2834640" cy="365760"/>
          </a:xfrm>
          <a:prstGeom prst="rect">
            <a:avLst/>
          </a:prstGeom>
          <a:noFill/>
          <a:ln/>
        </p:spPr>
        <p:txBody>
          <a:bodyPr wrap="square" lIns="0" tIns="0" rIns="0" bIns="0" rtlCol="0" anchor="ctr"/>
          <a:lstStyle/>
          <a:p>
            <a:pPr indent="0" marL="0">
              <a:buNone/>
            </a:pPr>
            <a:r>
              <a:rPr lang="en-US" sz="1100" dirty="0">
                <a:solidFill>
                  <a:srgbClr val="A6B0C3"/>
                </a:solidFill>
                <a:latin typeface="Calibri" pitchFamily="34" charset="0"/>
                <a:ea typeface="Calibri" pitchFamily="34" charset="-122"/>
                <a:cs typeface="Calibri" pitchFamily="34" charset="-120"/>
              </a:rPr>
              <a:t>Astrodynamics</a:t>
            </a:r>
            <a:endParaRPr lang="en-US" sz="1100" dirty="0"/>
          </a:p>
        </p:txBody>
      </p:sp>
      <p:sp>
        <p:nvSpPr>
          <p:cNvPr id="30" name="Shape 27"/>
          <p:cNvSpPr/>
          <p:nvPr/>
        </p:nvSpPr>
        <p:spPr>
          <a:xfrm>
            <a:off x="4160520" y="5111496"/>
            <a:ext cx="3429000" cy="1051560"/>
          </a:xfrm>
          <a:prstGeom prst="roundRect">
            <a:avLst>
              <a:gd name="adj" fmla="val 6957"/>
            </a:avLst>
          </a:prstGeom>
          <a:solidFill>
            <a:srgbClr val="111A2E"/>
          </a:solidFill>
          <a:ln w="12700">
            <a:solidFill>
              <a:srgbClr val="26314A"/>
            </a:solidFill>
            <a:prstDash val="solid"/>
          </a:ln>
        </p:spPr>
      </p:sp>
      <p:sp>
        <p:nvSpPr>
          <p:cNvPr id="31" name="Shape 28"/>
          <p:cNvSpPr/>
          <p:nvPr/>
        </p:nvSpPr>
        <p:spPr>
          <a:xfrm>
            <a:off x="4361688" y="5349240"/>
            <a:ext cx="128016" cy="128016"/>
          </a:xfrm>
          <a:prstGeom prst="ellipse">
            <a:avLst/>
          </a:prstGeom>
          <a:solidFill>
            <a:srgbClr val="4DD9EC"/>
          </a:solidFill>
          <a:ln/>
        </p:spPr>
      </p:sp>
      <p:sp>
        <p:nvSpPr>
          <p:cNvPr id="32" name="Text 29"/>
          <p:cNvSpPr/>
          <p:nvPr/>
        </p:nvSpPr>
        <p:spPr>
          <a:xfrm>
            <a:off x="4599432" y="5239512"/>
            <a:ext cx="2834640" cy="411480"/>
          </a:xfrm>
          <a:prstGeom prst="rect">
            <a:avLst/>
          </a:prstGeom>
          <a:noFill/>
          <a:ln/>
        </p:spPr>
        <p:txBody>
          <a:bodyPr wrap="square" lIns="0" tIns="0" rIns="0" bIns="0" rtlCol="0" anchor="ctr"/>
          <a:lstStyle/>
          <a:p>
            <a:pPr indent="0" marL="0">
              <a:buNone/>
            </a:pPr>
            <a:r>
              <a:rPr lang="en-US" sz="1500" b="1" dirty="0">
                <a:solidFill>
                  <a:srgbClr val="F1F5FB"/>
                </a:solidFill>
                <a:latin typeface="Calibri" pitchFamily="34" charset="0"/>
                <a:ea typeface="Calibri" pitchFamily="34" charset="-122"/>
                <a:cs typeface="Calibri" pitchFamily="34" charset="-120"/>
              </a:rPr>
              <a:t>PostgreSQL</a:t>
            </a:r>
            <a:endParaRPr lang="en-US" sz="1500" dirty="0"/>
          </a:p>
        </p:txBody>
      </p:sp>
      <p:sp>
        <p:nvSpPr>
          <p:cNvPr id="33" name="Text 30"/>
          <p:cNvSpPr/>
          <p:nvPr/>
        </p:nvSpPr>
        <p:spPr>
          <a:xfrm>
            <a:off x="4599432" y="5660136"/>
            <a:ext cx="2834640" cy="365760"/>
          </a:xfrm>
          <a:prstGeom prst="rect">
            <a:avLst/>
          </a:prstGeom>
          <a:noFill/>
          <a:ln/>
        </p:spPr>
        <p:txBody>
          <a:bodyPr wrap="square" lIns="0" tIns="0" rIns="0" bIns="0" rtlCol="0" anchor="ctr"/>
          <a:lstStyle/>
          <a:p>
            <a:pPr indent="0" marL="0">
              <a:buNone/>
            </a:pPr>
            <a:r>
              <a:rPr lang="en-US" sz="1100" dirty="0">
                <a:solidFill>
                  <a:srgbClr val="A6B0C3"/>
                </a:solidFill>
                <a:latin typeface="Calibri" pitchFamily="34" charset="0"/>
                <a:ea typeface="Calibri" pitchFamily="34" charset="-122"/>
                <a:cs typeface="Calibri" pitchFamily="34" charset="-120"/>
              </a:rPr>
              <a:t>Data Store</a:t>
            </a:r>
            <a:endParaRPr lang="en-US" sz="1100" dirty="0"/>
          </a:p>
        </p:txBody>
      </p:sp>
      <p:sp>
        <p:nvSpPr>
          <p:cNvPr id="34" name="Shape 31"/>
          <p:cNvSpPr/>
          <p:nvPr/>
        </p:nvSpPr>
        <p:spPr>
          <a:xfrm>
            <a:off x="7863840" y="1874520"/>
            <a:ext cx="3794760" cy="3474720"/>
          </a:xfrm>
          <a:prstGeom prst="roundRect">
            <a:avLst>
              <a:gd name="adj" fmla="val 2105"/>
            </a:avLst>
          </a:prstGeom>
          <a:solidFill>
            <a:srgbClr val="0C1322"/>
          </a:solidFill>
          <a:ln w="12700">
            <a:solidFill>
              <a:srgbClr val="26314A"/>
            </a:solidFill>
            <a:prstDash val="solid"/>
          </a:ln>
        </p:spPr>
      </p:sp>
      <p:sp>
        <p:nvSpPr>
          <p:cNvPr id="35" name="Shape 32"/>
          <p:cNvSpPr/>
          <p:nvPr/>
        </p:nvSpPr>
        <p:spPr>
          <a:xfrm>
            <a:off x="9052560" y="2286000"/>
            <a:ext cx="1463040" cy="822960"/>
          </a:xfrm>
          <a:prstGeom prst="ellipse">
            <a:avLst/>
          </a:prstGeom>
          <a:ln w="12700">
            <a:solidFill>
              <a:srgbClr val="185C68"/>
            </a:solidFill>
            <a:prstDash val="sysDot"/>
          </a:ln>
        </p:spPr>
      </p:sp>
      <p:sp>
        <p:nvSpPr>
          <p:cNvPr id="36" name="Text 33"/>
          <p:cNvSpPr/>
          <p:nvPr/>
        </p:nvSpPr>
        <p:spPr>
          <a:xfrm>
            <a:off x="8092440" y="3246120"/>
            <a:ext cx="3337560" cy="274320"/>
          </a:xfrm>
          <a:prstGeom prst="rect">
            <a:avLst/>
          </a:prstGeom>
          <a:noFill/>
          <a:ln/>
        </p:spPr>
        <p:txBody>
          <a:bodyPr wrap="square" lIns="0" tIns="0" rIns="0" bIns="0" rtlCol="0" anchor="ctr"/>
          <a:lstStyle/>
          <a:p>
            <a:pPr indent="0" marL="0">
              <a:buNone/>
            </a:pPr>
            <a:r>
              <a:rPr lang="en-US" sz="1200" b="1" spc="120" kern="0" dirty="0">
                <a:solidFill>
                  <a:srgbClr val="4DD9EC"/>
                </a:solidFill>
                <a:latin typeface="Calibri" pitchFamily="34" charset="0"/>
                <a:ea typeface="Calibri" pitchFamily="34" charset="-122"/>
                <a:cs typeface="Calibri" pitchFamily="34" charset="-120"/>
              </a:rPr>
              <a:t>PROTOTYPE SCOPE</a:t>
            </a:r>
            <a:endParaRPr lang="en-US" sz="1200" dirty="0"/>
          </a:p>
        </p:txBody>
      </p:sp>
      <p:sp>
        <p:nvSpPr>
          <p:cNvPr id="37" name="Text 34"/>
          <p:cNvSpPr/>
          <p:nvPr/>
        </p:nvSpPr>
        <p:spPr>
          <a:xfrm>
            <a:off x="8092440" y="3566160"/>
            <a:ext cx="3337560" cy="731520"/>
          </a:xfrm>
          <a:prstGeom prst="rect">
            <a:avLst/>
          </a:prstGeom>
          <a:noFill/>
          <a:ln/>
        </p:spPr>
        <p:txBody>
          <a:bodyPr wrap="square" lIns="0" tIns="0" rIns="0" bIns="0" rtlCol="0" anchor="ctr"/>
          <a:lstStyle/>
          <a:p>
            <a:pPr indent="0" marL="0">
              <a:lnSpc>
                <a:spcPts val="1700"/>
              </a:lnSpc>
              <a:buNone/>
            </a:pPr>
            <a:r>
              <a:rPr lang="en-US" sz="1300" dirty="0">
                <a:solidFill>
                  <a:srgbClr val="F1F5FB"/>
                </a:solidFill>
                <a:latin typeface="Calibri" pitchFamily="34" charset="0"/>
                <a:ea typeface="Calibri" pitchFamily="34" charset="-122"/>
                <a:cs typeface="Calibri" pitchFamily="34" charset="-120"/>
              </a:rPr>
              <a:t>Physics-grounded, uncertainty-aware decision support.</a:t>
            </a:r>
            <a:endParaRPr lang="en-US" sz="1300" dirty="0"/>
          </a:p>
        </p:txBody>
      </p:sp>
      <p:sp>
        <p:nvSpPr>
          <p:cNvPr id="38" name="Shape 35"/>
          <p:cNvSpPr/>
          <p:nvPr/>
        </p:nvSpPr>
        <p:spPr>
          <a:xfrm>
            <a:off x="8092440" y="4434840"/>
            <a:ext cx="3337560" cy="0"/>
          </a:xfrm>
          <a:prstGeom prst="line">
            <a:avLst/>
          </a:prstGeom>
          <a:noFill/>
          <a:ln w="12700">
            <a:solidFill>
              <a:srgbClr val="26314A"/>
            </a:solidFill>
            <a:prstDash val="solid"/>
          </a:ln>
        </p:spPr>
      </p:sp>
      <p:sp>
        <p:nvSpPr>
          <p:cNvPr id="39" name="Text 36"/>
          <p:cNvSpPr/>
          <p:nvPr/>
        </p:nvSpPr>
        <p:spPr>
          <a:xfrm>
            <a:off x="8092440" y="4572000"/>
            <a:ext cx="3337560" cy="640080"/>
          </a:xfrm>
          <a:prstGeom prst="rect">
            <a:avLst/>
          </a:prstGeom>
          <a:noFill/>
          <a:ln/>
        </p:spPr>
        <p:txBody>
          <a:bodyPr wrap="square" lIns="0" tIns="0" rIns="0" bIns="0" rtlCol="0" anchor="ctr"/>
          <a:lstStyle/>
          <a:p>
            <a:pPr indent="0" marL="0">
              <a:lnSpc>
                <a:spcPts val="1700"/>
              </a:lnSpc>
              <a:buNone/>
            </a:pPr>
            <a:r>
              <a:rPr lang="en-US" sz="1300" b="1" i="1" dirty="0">
                <a:solidFill>
                  <a:srgbClr val="F2AA3E"/>
                </a:solidFill>
                <a:latin typeface="Calibri" pitchFamily="34" charset="0"/>
                <a:ea typeface="Calibri" pitchFamily="34" charset="-122"/>
                <a:cs typeface="Calibri" pitchFamily="34" charset="-120"/>
              </a:rPr>
              <a:t>NOT autonomous.</a:t>
            </a:r>
            <a:endParaRPr lang="en-US" sz="1300" dirty="0"/>
          </a:p>
          <a:p>
            <a:pPr indent="0" marL="0">
              <a:lnSpc>
                <a:spcPts val="1700"/>
              </a:lnSpc>
              <a:buNone/>
            </a:pPr>
            <a:r>
              <a:rPr lang="en-US" sz="1300" b="1" i="1" dirty="0">
                <a:solidFill>
                  <a:srgbClr val="F2AA3E"/>
                </a:solidFill>
                <a:latin typeface="Calibri" pitchFamily="34" charset="0"/>
                <a:ea typeface="Calibri" pitchFamily="34" charset="-122"/>
                <a:cs typeface="Calibri" pitchFamily="34" charset="-120"/>
              </a:rPr>
              <a:t>Human operator stays in the loop.</a:t>
            </a:r>
            <a:endParaRPr lang="en-US" sz="1300" dirty="0"/>
          </a:p>
        </p:txBody>
      </p:sp>
      <p:sp>
        <p:nvSpPr>
          <p:cNvPr id="40" name="Text 37"/>
          <p:cNvSpPr/>
          <p:nvPr/>
        </p:nvSpPr>
        <p:spPr>
          <a:xfrm>
            <a:off x="502920" y="6565392"/>
            <a:ext cx="6400800" cy="228600"/>
          </a:xfrm>
          <a:prstGeom prst="rect">
            <a:avLst/>
          </a:prstGeom>
          <a:noFill/>
          <a:ln/>
        </p:spPr>
        <p:txBody>
          <a:bodyPr wrap="square" lIns="0" tIns="0" rIns="0" bIns="0" rtlCol="0" anchor="ctr"/>
          <a:lstStyle/>
          <a:p>
            <a:pPr indent="0" marL="0">
              <a:buNone/>
            </a:pPr>
            <a:r>
              <a:rPr lang="en-US" sz="850" dirty="0">
                <a:solidFill>
                  <a:srgbClr val="5E6A82"/>
                </a:solidFill>
                <a:latin typeface="Calibri" pitchFamily="34" charset="0"/>
                <a:ea typeface="Calibri" pitchFamily="34" charset="-122"/>
                <a:cs typeface="Calibri" pitchFamily="34" charset="-120"/>
              </a:rPr>
              <a:t>ORBITAL FUTURE DECISION ENGINE  ·  FANTASTIC 4</a:t>
            </a:r>
            <a:endParaRPr lang="en-US" sz="850" dirty="0"/>
          </a:p>
        </p:txBody>
      </p:sp>
      <p:sp>
        <p:nvSpPr>
          <p:cNvPr id="41" name="Text 38"/>
          <p:cNvSpPr/>
          <p:nvPr/>
        </p:nvSpPr>
        <p:spPr>
          <a:xfrm>
            <a:off x="8686800" y="6565392"/>
            <a:ext cx="3017520" cy="228600"/>
          </a:xfrm>
          <a:prstGeom prst="rect">
            <a:avLst/>
          </a:prstGeom>
          <a:noFill/>
          <a:ln/>
        </p:spPr>
        <p:txBody>
          <a:bodyPr wrap="square" lIns="0" tIns="0" rIns="0" bIns="0" rtlCol="0" anchor="ctr"/>
          <a:lstStyle/>
          <a:p>
            <a:pPr algn="r" indent="0" marL="0">
              <a:buNone/>
            </a:pPr>
            <a:r>
              <a:rPr lang="en-US" sz="850" spc="100" kern="0" dirty="0">
                <a:solidFill>
                  <a:srgbClr val="185C68"/>
                </a:solidFill>
                <a:latin typeface="Calibri" pitchFamily="34" charset="0"/>
                <a:ea typeface="Calibri" pitchFamily="34" charset="-122"/>
                <a:cs typeface="Calibri" pitchFamily="34" charset="-120"/>
              </a:rPr>
              <a:t>MISSION: OFDE-01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60911"/>
        </a:solidFill>
      </p:bgPr>
    </p:bg>
    <p:spTree>
      <p:nvGrpSpPr>
        <p:cNvPr id="1" name=""/>
        <p:cNvGrpSpPr/>
        <p:nvPr/>
      </p:nvGrpSpPr>
      <p:grpSpPr>
        <a:xfrm>
          <a:off x="0" y="0"/>
          <a:ext cx="0" cy="0"/>
          <a:chOff x="0" y="0"/>
          <a:chExt cx="0" cy="0"/>
        </a:xfrm>
      </p:grpSpPr>
      <p:pic>
        <p:nvPicPr>
          <p:cNvPr id="2" name="Image 0" descr="/home/claude/assets/erospace_rgba.png">    </p:cNvPr>
          <p:cNvPicPr>
            <a:picLocks noChangeAspect="1"/>
          </p:cNvPicPr>
          <p:nvPr/>
        </p:nvPicPr>
        <p:blipFill>
          <a:blip r:embed="rId1">
            <a:alphaModFix amt="75000"/>
          </a:blip>
          <a:stretch>
            <a:fillRect/>
          </a:stretch>
        </p:blipFill>
        <p:spPr>
          <a:xfrm>
            <a:off x="10561320" y="292608"/>
            <a:ext cx="1325880" cy="459943"/>
          </a:xfrm>
          <a:prstGeom prst="rect">
            <a:avLst/>
          </a:prstGeom>
        </p:spPr>
      </p:pic>
      <p:sp>
        <p:nvSpPr>
          <p:cNvPr id="3" name="Text 0"/>
          <p:cNvSpPr/>
          <p:nvPr/>
        </p:nvSpPr>
        <p:spPr>
          <a:xfrm>
            <a:off x="8229600" y="786384"/>
            <a:ext cx="2377440" cy="182880"/>
          </a:xfrm>
          <a:prstGeom prst="rect">
            <a:avLst/>
          </a:prstGeom>
          <a:noFill/>
          <a:ln/>
        </p:spPr>
        <p:txBody>
          <a:bodyPr wrap="square" lIns="0" tIns="0" rIns="0" bIns="0" rtlCol="0" anchor="ctr"/>
          <a:lstStyle/>
          <a:p>
            <a:pPr algn="r" indent="0" marL="0">
              <a:buNone/>
            </a:pPr>
            <a:r>
              <a:rPr lang="en-US" sz="800" spc="100" kern="0" dirty="0">
                <a:solidFill>
                  <a:srgbClr val="185C68"/>
                </a:solidFill>
                <a:latin typeface="Calibri" pitchFamily="34" charset="0"/>
                <a:ea typeface="Calibri" pitchFamily="34" charset="-122"/>
                <a:cs typeface="Calibri" pitchFamily="34" charset="-120"/>
              </a:rPr>
              <a:t>OBJECT: SAT-X  ·  THREAT: DEBRIS-07</a:t>
            </a:r>
            <a:endParaRPr lang="en-US" sz="800" dirty="0"/>
          </a:p>
        </p:txBody>
      </p:sp>
      <p:sp>
        <p:nvSpPr>
          <p:cNvPr id="4" name="Text 1"/>
          <p:cNvSpPr/>
          <p:nvPr/>
        </p:nvSpPr>
        <p:spPr>
          <a:xfrm>
            <a:off x="502920" y="365760"/>
            <a:ext cx="8229600" cy="292608"/>
          </a:xfrm>
          <a:prstGeom prst="rect">
            <a:avLst/>
          </a:prstGeom>
          <a:noFill/>
          <a:ln/>
        </p:spPr>
        <p:txBody>
          <a:bodyPr wrap="square" lIns="0" tIns="0" rIns="0" bIns="0" rtlCol="0" anchor="ctr"/>
          <a:lstStyle/>
          <a:p>
            <a:pPr indent="0" marL="0">
              <a:buNone/>
            </a:pPr>
            <a:r>
              <a:rPr lang="en-US" sz="1300" b="1" spc="200" kern="0" dirty="0">
                <a:solidFill>
                  <a:srgbClr val="4DD9EC"/>
                </a:solidFill>
                <a:latin typeface="Calibri" pitchFamily="34" charset="0"/>
                <a:ea typeface="Calibri" pitchFamily="34" charset="-122"/>
                <a:cs typeface="Calibri" pitchFamily="34" charset="-120"/>
              </a:rPr>
              <a:t>PROBLEM STATEMENT</a:t>
            </a:r>
            <a:endParaRPr lang="en-US" sz="1300" dirty="0"/>
          </a:p>
        </p:txBody>
      </p:sp>
      <p:sp>
        <p:nvSpPr>
          <p:cNvPr id="5" name="Text 2"/>
          <p:cNvSpPr/>
          <p:nvPr/>
        </p:nvSpPr>
        <p:spPr>
          <a:xfrm>
            <a:off x="502920" y="658368"/>
            <a:ext cx="10972800" cy="685800"/>
          </a:xfrm>
          <a:prstGeom prst="rect">
            <a:avLst/>
          </a:prstGeom>
          <a:noFill/>
          <a:ln/>
        </p:spPr>
        <p:txBody>
          <a:bodyPr wrap="square" lIns="0" tIns="0" rIns="0" bIns="0" rtlCol="0" anchor="ctr"/>
          <a:lstStyle/>
          <a:p>
            <a:pPr indent="0" marL="0">
              <a:buNone/>
            </a:pPr>
            <a:r>
              <a:rPr lang="en-US" sz="3400" b="1" dirty="0">
                <a:solidFill>
                  <a:srgbClr val="F1F5FB"/>
                </a:solidFill>
                <a:latin typeface="Arial" pitchFamily="34" charset="0"/>
                <a:ea typeface="Arial" pitchFamily="34" charset="-122"/>
                <a:cs typeface="Arial" pitchFamily="34" charset="-120"/>
              </a:rPr>
              <a:t>The Orbital Safety Challenge</a:t>
            </a:r>
            <a:endParaRPr lang="en-US" sz="3400" dirty="0"/>
          </a:p>
        </p:txBody>
      </p:sp>
      <p:sp>
        <p:nvSpPr>
          <p:cNvPr id="6" name="Shape 3"/>
          <p:cNvSpPr/>
          <p:nvPr/>
        </p:nvSpPr>
        <p:spPr>
          <a:xfrm>
            <a:off x="502920" y="1554480"/>
            <a:ext cx="4937760" cy="4663440"/>
          </a:xfrm>
          <a:prstGeom prst="roundRect">
            <a:avLst>
              <a:gd name="adj" fmla="val 1569"/>
            </a:avLst>
          </a:prstGeom>
          <a:solidFill>
            <a:srgbClr val="0C1322"/>
          </a:solidFill>
          <a:ln w="12700">
            <a:solidFill>
              <a:srgbClr val="26314A"/>
            </a:solidFill>
            <a:prstDash val="solid"/>
          </a:ln>
        </p:spPr>
      </p:sp>
      <p:sp>
        <p:nvSpPr>
          <p:cNvPr id="7" name="Shape 4"/>
          <p:cNvSpPr/>
          <p:nvPr/>
        </p:nvSpPr>
        <p:spPr>
          <a:xfrm>
            <a:off x="1051560" y="1783080"/>
            <a:ext cx="3840480" cy="1097280"/>
          </a:xfrm>
          <a:prstGeom prst="ellipse">
            <a:avLst/>
          </a:prstGeom>
          <a:ln w="12700">
            <a:solidFill>
              <a:srgbClr val="185C68"/>
            </a:solidFill>
            <a:prstDash val="sysDot"/>
          </a:ln>
        </p:spPr>
      </p:sp>
      <p:sp>
        <p:nvSpPr>
          <p:cNvPr id="8" name="Shape 5"/>
          <p:cNvSpPr/>
          <p:nvPr/>
        </p:nvSpPr>
        <p:spPr>
          <a:xfrm>
            <a:off x="960120" y="2020824"/>
            <a:ext cx="201168" cy="201168"/>
          </a:xfrm>
          <a:prstGeom prst="ellipse">
            <a:avLst/>
          </a:prstGeom>
          <a:solidFill>
            <a:srgbClr val="4DD9EC"/>
          </a:solidFill>
          <a:ln/>
        </p:spPr>
      </p:sp>
      <p:sp>
        <p:nvSpPr>
          <p:cNvPr id="9" name="Text 6"/>
          <p:cNvSpPr/>
          <p:nvPr/>
        </p:nvSpPr>
        <p:spPr>
          <a:xfrm>
            <a:off x="1371600" y="1911096"/>
            <a:ext cx="3749040" cy="310896"/>
          </a:xfrm>
          <a:prstGeom prst="rect">
            <a:avLst/>
          </a:prstGeom>
          <a:noFill/>
          <a:ln/>
        </p:spPr>
        <p:txBody>
          <a:bodyPr wrap="square" lIns="0" tIns="0" rIns="0" bIns="0" rtlCol="0" anchor="ctr"/>
          <a:lstStyle/>
          <a:p>
            <a:pPr indent="0" marL="0">
              <a:buNone/>
            </a:pPr>
            <a:r>
              <a:rPr lang="en-US" sz="1600" b="1" dirty="0">
                <a:solidFill>
                  <a:srgbClr val="F1F5FB"/>
                </a:solidFill>
                <a:latin typeface="Calibri" pitchFamily="34" charset="0"/>
                <a:ea typeface="Calibri" pitchFamily="34" charset="-122"/>
                <a:cs typeface="Calibri" pitchFamily="34" charset="-120"/>
              </a:rPr>
              <a:t>SAT-X</a:t>
            </a:r>
            <a:endParaRPr lang="en-US" sz="1600" dirty="0"/>
          </a:p>
        </p:txBody>
      </p:sp>
      <p:sp>
        <p:nvSpPr>
          <p:cNvPr id="10" name="Text 7"/>
          <p:cNvSpPr/>
          <p:nvPr/>
        </p:nvSpPr>
        <p:spPr>
          <a:xfrm>
            <a:off x="1371600" y="2221992"/>
            <a:ext cx="3749040" cy="256032"/>
          </a:xfrm>
          <a:prstGeom prst="rect">
            <a:avLst/>
          </a:prstGeom>
          <a:noFill/>
          <a:ln/>
        </p:spPr>
        <p:txBody>
          <a:bodyPr wrap="square" lIns="0" tIns="0" rIns="0" bIns="0" rtlCol="0" anchor="ctr"/>
          <a:lstStyle/>
          <a:p>
            <a:pPr indent="0" marL="0">
              <a:buNone/>
            </a:pPr>
            <a:r>
              <a:rPr lang="en-US" sz="1100" dirty="0">
                <a:solidFill>
                  <a:srgbClr val="A6B0C3"/>
                </a:solidFill>
                <a:latin typeface="Calibri" pitchFamily="34" charset="0"/>
                <a:ea typeface="Calibri" pitchFamily="34" charset="-122"/>
                <a:cs typeface="Calibri" pitchFamily="34" charset="-120"/>
              </a:rPr>
              <a:t>Operational spacecraft</a:t>
            </a:r>
            <a:endParaRPr lang="en-US" sz="1100" dirty="0"/>
          </a:p>
        </p:txBody>
      </p:sp>
      <p:sp>
        <p:nvSpPr>
          <p:cNvPr id="11" name="Shape 8"/>
          <p:cNvSpPr/>
          <p:nvPr/>
        </p:nvSpPr>
        <p:spPr>
          <a:xfrm>
            <a:off x="1060704" y="2258568"/>
            <a:ext cx="0" cy="621792"/>
          </a:xfrm>
          <a:prstGeom prst="line">
            <a:avLst/>
          </a:prstGeom>
          <a:noFill/>
          <a:ln w="15875">
            <a:solidFill>
              <a:srgbClr val="26314A"/>
            </a:solidFill>
            <a:prstDash val="sysDot"/>
          </a:ln>
        </p:spPr>
      </p:sp>
      <p:sp>
        <p:nvSpPr>
          <p:cNvPr id="12" name="Shape 9"/>
          <p:cNvSpPr/>
          <p:nvPr/>
        </p:nvSpPr>
        <p:spPr>
          <a:xfrm>
            <a:off x="960120" y="2935224"/>
            <a:ext cx="201168" cy="201168"/>
          </a:xfrm>
          <a:prstGeom prst="ellipse">
            <a:avLst/>
          </a:prstGeom>
          <a:solidFill>
            <a:srgbClr val="F2AA3E"/>
          </a:solidFill>
          <a:ln/>
        </p:spPr>
      </p:sp>
      <p:sp>
        <p:nvSpPr>
          <p:cNvPr id="13" name="Text 10"/>
          <p:cNvSpPr/>
          <p:nvPr/>
        </p:nvSpPr>
        <p:spPr>
          <a:xfrm>
            <a:off x="1371600" y="2825496"/>
            <a:ext cx="3749040" cy="310896"/>
          </a:xfrm>
          <a:prstGeom prst="rect">
            <a:avLst/>
          </a:prstGeom>
          <a:noFill/>
          <a:ln/>
        </p:spPr>
        <p:txBody>
          <a:bodyPr wrap="square" lIns="0" tIns="0" rIns="0" bIns="0" rtlCol="0" anchor="ctr"/>
          <a:lstStyle/>
          <a:p>
            <a:pPr indent="0" marL="0">
              <a:buNone/>
            </a:pPr>
            <a:r>
              <a:rPr lang="en-US" sz="1600" b="1" dirty="0">
                <a:solidFill>
                  <a:srgbClr val="F1F5FB"/>
                </a:solidFill>
                <a:latin typeface="Calibri" pitchFamily="34" charset="0"/>
                <a:ea typeface="Calibri" pitchFamily="34" charset="-122"/>
                <a:cs typeface="Calibri" pitchFamily="34" charset="-120"/>
              </a:rPr>
              <a:t>DEBRIS-07</a:t>
            </a:r>
            <a:endParaRPr lang="en-US" sz="1600" dirty="0"/>
          </a:p>
        </p:txBody>
      </p:sp>
      <p:sp>
        <p:nvSpPr>
          <p:cNvPr id="14" name="Text 11"/>
          <p:cNvSpPr/>
          <p:nvPr/>
        </p:nvSpPr>
        <p:spPr>
          <a:xfrm>
            <a:off x="1371600" y="3136392"/>
            <a:ext cx="3749040" cy="256032"/>
          </a:xfrm>
          <a:prstGeom prst="rect">
            <a:avLst/>
          </a:prstGeom>
          <a:noFill/>
          <a:ln/>
        </p:spPr>
        <p:txBody>
          <a:bodyPr wrap="square" lIns="0" tIns="0" rIns="0" bIns="0" rtlCol="0" anchor="ctr"/>
          <a:lstStyle/>
          <a:p>
            <a:pPr indent="0" marL="0">
              <a:buNone/>
            </a:pPr>
            <a:r>
              <a:rPr lang="en-US" sz="1100" dirty="0">
                <a:solidFill>
                  <a:srgbClr val="A6B0C3"/>
                </a:solidFill>
                <a:latin typeface="Calibri" pitchFamily="34" charset="0"/>
                <a:ea typeface="Calibri" pitchFamily="34" charset="-122"/>
                <a:cs typeface="Calibri" pitchFamily="34" charset="-120"/>
              </a:rPr>
              <a:t>Crossing object</a:t>
            </a:r>
            <a:endParaRPr lang="en-US" sz="1100" dirty="0"/>
          </a:p>
        </p:txBody>
      </p:sp>
      <p:sp>
        <p:nvSpPr>
          <p:cNvPr id="15" name="Shape 12"/>
          <p:cNvSpPr/>
          <p:nvPr/>
        </p:nvSpPr>
        <p:spPr>
          <a:xfrm>
            <a:off x="1060704" y="3172968"/>
            <a:ext cx="0" cy="621792"/>
          </a:xfrm>
          <a:prstGeom prst="line">
            <a:avLst/>
          </a:prstGeom>
          <a:noFill/>
          <a:ln w="15875">
            <a:solidFill>
              <a:srgbClr val="26314A"/>
            </a:solidFill>
            <a:prstDash val="sysDot"/>
          </a:ln>
        </p:spPr>
      </p:sp>
      <p:sp>
        <p:nvSpPr>
          <p:cNvPr id="16" name="Shape 13"/>
          <p:cNvSpPr/>
          <p:nvPr/>
        </p:nvSpPr>
        <p:spPr>
          <a:xfrm>
            <a:off x="960120" y="3849624"/>
            <a:ext cx="201168" cy="201168"/>
          </a:xfrm>
          <a:prstGeom prst="ellipse">
            <a:avLst/>
          </a:prstGeom>
          <a:solidFill>
            <a:srgbClr val="F1F5FB"/>
          </a:solidFill>
          <a:ln/>
        </p:spPr>
      </p:sp>
      <p:sp>
        <p:nvSpPr>
          <p:cNvPr id="17" name="Text 14"/>
          <p:cNvSpPr/>
          <p:nvPr/>
        </p:nvSpPr>
        <p:spPr>
          <a:xfrm>
            <a:off x="1371600" y="3739896"/>
            <a:ext cx="3749040" cy="310896"/>
          </a:xfrm>
          <a:prstGeom prst="rect">
            <a:avLst/>
          </a:prstGeom>
          <a:noFill/>
          <a:ln/>
        </p:spPr>
        <p:txBody>
          <a:bodyPr wrap="square" lIns="0" tIns="0" rIns="0" bIns="0" rtlCol="0" anchor="ctr"/>
          <a:lstStyle/>
          <a:p>
            <a:pPr indent="0" marL="0">
              <a:buNone/>
            </a:pPr>
            <a:r>
              <a:rPr lang="en-US" sz="1600" b="1" dirty="0">
                <a:solidFill>
                  <a:srgbClr val="F1F5FB"/>
                </a:solidFill>
                <a:latin typeface="Calibri" pitchFamily="34" charset="0"/>
                <a:ea typeface="Calibri" pitchFamily="34" charset="-122"/>
                <a:cs typeface="Calibri" pitchFamily="34" charset="-120"/>
              </a:rPr>
              <a:t>CLOSE APPROACH</a:t>
            </a:r>
            <a:endParaRPr lang="en-US" sz="1600" dirty="0"/>
          </a:p>
        </p:txBody>
      </p:sp>
      <p:sp>
        <p:nvSpPr>
          <p:cNvPr id="18" name="Text 15"/>
          <p:cNvSpPr/>
          <p:nvPr/>
        </p:nvSpPr>
        <p:spPr>
          <a:xfrm>
            <a:off x="1371600" y="4050792"/>
            <a:ext cx="3749040" cy="256032"/>
          </a:xfrm>
          <a:prstGeom prst="rect">
            <a:avLst/>
          </a:prstGeom>
          <a:noFill/>
          <a:ln/>
        </p:spPr>
        <p:txBody>
          <a:bodyPr wrap="square" lIns="0" tIns="0" rIns="0" bIns="0" rtlCol="0" anchor="ctr"/>
          <a:lstStyle/>
          <a:p>
            <a:pPr indent="0" marL="0">
              <a:buNone/>
            </a:pPr>
            <a:r>
              <a:rPr lang="en-US" sz="1100" dirty="0">
                <a:solidFill>
                  <a:srgbClr val="A6B0C3"/>
                </a:solidFill>
                <a:latin typeface="Calibri" pitchFamily="34" charset="0"/>
                <a:ea typeface="Calibri" pitchFamily="34" charset="-122"/>
                <a:cs typeface="Calibri" pitchFamily="34" charset="-120"/>
              </a:rPr>
              <a:t>Minimum distance event</a:t>
            </a:r>
            <a:endParaRPr lang="en-US" sz="1100" dirty="0"/>
          </a:p>
        </p:txBody>
      </p:sp>
      <p:sp>
        <p:nvSpPr>
          <p:cNvPr id="19" name="Shape 16"/>
          <p:cNvSpPr/>
          <p:nvPr/>
        </p:nvSpPr>
        <p:spPr>
          <a:xfrm>
            <a:off x="1060704" y="4087368"/>
            <a:ext cx="0" cy="621792"/>
          </a:xfrm>
          <a:prstGeom prst="line">
            <a:avLst/>
          </a:prstGeom>
          <a:noFill/>
          <a:ln w="15875">
            <a:solidFill>
              <a:srgbClr val="26314A"/>
            </a:solidFill>
            <a:prstDash val="sysDot"/>
          </a:ln>
        </p:spPr>
      </p:sp>
      <p:sp>
        <p:nvSpPr>
          <p:cNvPr id="20" name="Shape 17"/>
          <p:cNvSpPr/>
          <p:nvPr/>
        </p:nvSpPr>
        <p:spPr>
          <a:xfrm>
            <a:off x="960120" y="4764024"/>
            <a:ext cx="201168" cy="201168"/>
          </a:xfrm>
          <a:prstGeom prst="ellipse">
            <a:avLst/>
          </a:prstGeom>
          <a:solidFill>
            <a:srgbClr val="EC6459"/>
          </a:solidFill>
          <a:ln/>
        </p:spPr>
      </p:sp>
      <p:sp>
        <p:nvSpPr>
          <p:cNvPr id="21" name="Text 18"/>
          <p:cNvSpPr/>
          <p:nvPr/>
        </p:nvSpPr>
        <p:spPr>
          <a:xfrm>
            <a:off x="1371600" y="4654296"/>
            <a:ext cx="3749040" cy="310896"/>
          </a:xfrm>
          <a:prstGeom prst="rect">
            <a:avLst/>
          </a:prstGeom>
          <a:noFill/>
          <a:ln/>
        </p:spPr>
        <p:txBody>
          <a:bodyPr wrap="square" lIns="0" tIns="0" rIns="0" bIns="0" rtlCol="0" anchor="ctr"/>
          <a:lstStyle/>
          <a:p>
            <a:pPr indent="0" marL="0">
              <a:buNone/>
            </a:pPr>
            <a:r>
              <a:rPr lang="en-US" sz="1600" b="1" dirty="0">
                <a:solidFill>
                  <a:srgbClr val="F1F5FB"/>
                </a:solidFill>
                <a:latin typeface="Calibri" pitchFamily="34" charset="0"/>
                <a:ea typeface="Calibri" pitchFamily="34" charset="-122"/>
                <a:cs typeface="Calibri" pitchFamily="34" charset="-120"/>
              </a:rPr>
              <a:t>ALERT</a:t>
            </a:r>
            <a:endParaRPr lang="en-US" sz="1600" dirty="0"/>
          </a:p>
        </p:txBody>
      </p:sp>
      <p:sp>
        <p:nvSpPr>
          <p:cNvPr id="22" name="Text 19"/>
          <p:cNvSpPr/>
          <p:nvPr/>
        </p:nvSpPr>
        <p:spPr>
          <a:xfrm>
            <a:off x="1371600" y="4965192"/>
            <a:ext cx="3749040" cy="256032"/>
          </a:xfrm>
          <a:prstGeom prst="rect">
            <a:avLst/>
          </a:prstGeom>
          <a:noFill/>
          <a:ln/>
        </p:spPr>
        <p:txBody>
          <a:bodyPr wrap="square" lIns="0" tIns="0" rIns="0" bIns="0" rtlCol="0" anchor="ctr"/>
          <a:lstStyle/>
          <a:p>
            <a:pPr indent="0" marL="0">
              <a:buNone/>
            </a:pPr>
            <a:r>
              <a:rPr lang="en-US" sz="1100" dirty="0">
                <a:solidFill>
                  <a:srgbClr val="A6B0C3"/>
                </a:solidFill>
                <a:latin typeface="Calibri" pitchFamily="34" charset="0"/>
                <a:ea typeface="Calibri" pitchFamily="34" charset="-122"/>
                <a:cs typeface="Calibri" pitchFamily="34" charset="-120"/>
              </a:rPr>
              <a:t>Single risk value</a:t>
            </a:r>
            <a:endParaRPr lang="en-US" sz="1100" dirty="0"/>
          </a:p>
        </p:txBody>
      </p:sp>
      <p:sp>
        <p:nvSpPr>
          <p:cNvPr id="23" name="Text 20"/>
          <p:cNvSpPr/>
          <p:nvPr/>
        </p:nvSpPr>
        <p:spPr>
          <a:xfrm>
            <a:off x="5715000" y="1554480"/>
            <a:ext cx="5989320" cy="1417320"/>
          </a:xfrm>
          <a:prstGeom prst="rect">
            <a:avLst/>
          </a:prstGeom>
          <a:noFill/>
          <a:ln/>
        </p:spPr>
        <p:txBody>
          <a:bodyPr wrap="square" lIns="0" tIns="0" rIns="0" bIns="0" rtlCol="0" anchor="ctr"/>
          <a:lstStyle/>
          <a:p>
            <a:pPr indent="0" marL="0">
              <a:lnSpc>
                <a:spcPts val="3600"/>
              </a:lnSpc>
              <a:buNone/>
            </a:pPr>
            <a:r>
              <a:rPr lang="en-US" sz="3200" b="1" dirty="0">
                <a:solidFill>
                  <a:srgbClr val="4DD9EC"/>
                </a:solidFill>
                <a:latin typeface="Arial" pitchFamily="34" charset="0"/>
                <a:ea typeface="Arial" pitchFamily="34" charset="-122"/>
                <a:cs typeface="Arial" pitchFamily="34" charset="-120"/>
              </a:rPr>
              <a:t>WHAT HAPPENS</a:t>
            </a:r>
            <a:endParaRPr lang="en-US" sz="3200" dirty="0"/>
          </a:p>
          <a:p>
            <a:pPr indent="0" marL="0">
              <a:lnSpc>
                <a:spcPts val="3600"/>
              </a:lnSpc>
              <a:buNone/>
            </a:pPr>
            <a:r>
              <a:rPr lang="en-US" sz="3200" b="1" dirty="0">
                <a:solidFill>
                  <a:srgbClr val="4DD9EC"/>
                </a:solidFill>
                <a:latin typeface="Arial" pitchFamily="34" charset="0"/>
                <a:ea typeface="Arial" pitchFamily="34" charset="-122"/>
                <a:cs typeface="Arial" pitchFamily="34" charset="-120"/>
              </a:rPr>
              <a:t>AFTER THE ALERT?</a:t>
            </a:r>
            <a:endParaRPr lang="en-US" sz="3200" dirty="0"/>
          </a:p>
        </p:txBody>
      </p:sp>
      <p:sp>
        <p:nvSpPr>
          <p:cNvPr id="24" name="Text 21"/>
          <p:cNvSpPr/>
          <p:nvPr/>
        </p:nvSpPr>
        <p:spPr>
          <a:xfrm>
            <a:off x="5715000" y="3063240"/>
            <a:ext cx="5989320" cy="320040"/>
          </a:xfrm>
          <a:prstGeom prst="rect">
            <a:avLst/>
          </a:prstGeom>
          <a:noFill/>
          <a:ln/>
        </p:spPr>
        <p:txBody>
          <a:bodyPr wrap="square" lIns="0" tIns="0" rIns="0" bIns="0" rtlCol="0" anchor="ctr"/>
          <a:lstStyle/>
          <a:p>
            <a:pPr indent="0" marL="0">
              <a:buNone/>
            </a:pPr>
            <a:r>
              <a:rPr lang="en-US" sz="1500" b="1" dirty="0">
                <a:solidFill>
                  <a:srgbClr val="F1F5FB"/>
                </a:solidFill>
                <a:latin typeface="Calibri" pitchFamily="34" charset="0"/>
                <a:ea typeface="Calibri" pitchFamily="34" charset="-122"/>
                <a:cs typeface="Calibri" pitchFamily="34" charset="-120"/>
              </a:rPr>
              <a:t>A risk number alone doesn't show:</a:t>
            </a:r>
            <a:endParaRPr lang="en-US" sz="1500" dirty="0"/>
          </a:p>
        </p:txBody>
      </p:sp>
      <p:sp>
        <p:nvSpPr>
          <p:cNvPr id="25" name="Shape 22"/>
          <p:cNvSpPr/>
          <p:nvPr/>
        </p:nvSpPr>
        <p:spPr>
          <a:xfrm>
            <a:off x="5760720" y="3611880"/>
            <a:ext cx="91440" cy="91440"/>
          </a:xfrm>
          <a:prstGeom prst="ellipse">
            <a:avLst/>
          </a:prstGeom>
          <a:solidFill>
            <a:srgbClr val="F2AA3E"/>
          </a:solidFill>
          <a:ln/>
        </p:spPr>
      </p:sp>
      <p:sp>
        <p:nvSpPr>
          <p:cNvPr id="26" name="Text 23"/>
          <p:cNvSpPr/>
          <p:nvPr/>
        </p:nvSpPr>
        <p:spPr>
          <a:xfrm>
            <a:off x="5989320" y="3520440"/>
            <a:ext cx="5669280" cy="329184"/>
          </a:xfrm>
          <a:prstGeom prst="rect">
            <a:avLst/>
          </a:prstGeom>
          <a:noFill/>
          <a:ln/>
        </p:spPr>
        <p:txBody>
          <a:bodyPr wrap="square" lIns="0" tIns="0" rIns="0" bIns="0" rtlCol="0" anchor="ctr"/>
          <a:lstStyle/>
          <a:p>
            <a:pPr indent="0" marL="0">
              <a:buNone/>
            </a:pPr>
            <a:r>
              <a:rPr lang="en-US" sz="1500" dirty="0">
                <a:solidFill>
                  <a:srgbClr val="F1F5FB"/>
                </a:solidFill>
                <a:latin typeface="Calibri" pitchFamily="34" charset="0"/>
                <a:ea typeface="Calibri" pitchFamily="34" charset="-122"/>
                <a:cs typeface="Calibri" pitchFamily="34" charset="-120"/>
              </a:rPr>
              <a:t>How uncertain the prediction is</a:t>
            </a:r>
            <a:endParaRPr lang="en-US" sz="1500" dirty="0"/>
          </a:p>
        </p:txBody>
      </p:sp>
      <p:sp>
        <p:nvSpPr>
          <p:cNvPr id="27" name="Shape 24"/>
          <p:cNvSpPr/>
          <p:nvPr/>
        </p:nvSpPr>
        <p:spPr>
          <a:xfrm>
            <a:off x="5760720" y="4069080"/>
            <a:ext cx="91440" cy="91440"/>
          </a:xfrm>
          <a:prstGeom prst="ellipse">
            <a:avLst/>
          </a:prstGeom>
          <a:solidFill>
            <a:srgbClr val="F2AA3E"/>
          </a:solidFill>
          <a:ln/>
        </p:spPr>
      </p:sp>
      <p:sp>
        <p:nvSpPr>
          <p:cNvPr id="28" name="Text 25"/>
          <p:cNvSpPr/>
          <p:nvPr/>
        </p:nvSpPr>
        <p:spPr>
          <a:xfrm>
            <a:off x="5989320" y="3977640"/>
            <a:ext cx="5669280" cy="329184"/>
          </a:xfrm>
          <a:prstGeom prst="rect">
            <a:avLst/>
          </a:prstGeom>
          <a:noFill/>
          <a:ln/>
        </p:spPr>
        <p:txBody>
          <a:bodyPr wrap="square" lIns="0" tIns="0" rIns="0" bIns="0" rtlCol="0" anchor="ctr"/>
          <a:lstStyle/>
          <a:p>
            <a:pPr indent="0" marL="0">
              <a:buNone/>
            </a:pPr>
            <a:r>
              <a:rPr lang="en-US" sz="1500" dirty="0">
                <a:solidFill>
                  <a:srgbClr val="F1F5FB"/>
                </a:solidFill>
                <a:latin typeface="Calibri" pitchFamily="34" charset="0"/>
                <a:ea typeface="Calibri" pitchFamily="34" charset="-122"/>
                <a:cs typeface="Calibri" pitchFamily="34" charset="-120"/>
              </a:rPr>
              <a:t>What future states are plausible</a:t>
            </a:r>
            <a:endParaRPr lang="en-US" sz="1500" dirty="0"/>
          </a:p>
        </p:txBody>
      </p:sp>
      <p:sp>
        <p:nvSpPr>
          <p:cNvPr id="29" name="Shape 26"/>
          <p:cNvSpPr/>
          <p:nvPr/>
        </p:nvSpPr>
        <p:spPr>
          <a:xfrm>
            <a:off x="5760720" y="4526280"/>
            <a:ext cx="91440" cy="91440"/>
          </a:xfrm>
          <a:prstGeom prst="ellipse">
            <a:avLst/>
          </a:prstGeom>
          <a:solidFill>
            <a:srgbClr val="F2AA3E"/>
          </a:solidFill>
          <a:ln/>
        </p:spPr>
      </p:sp>
      <p:sp>
        <p:nvSpPr>
          <p:cNvPr id="30" name="Text 27"/>
          <p:cNvSpPr/>
          <p:nvPr/>
        </p:nvSpPr>
        <p:spPr>
          <a:xfrm>
            <a:off x="5989320" y="4434840"/>
            <a:ext cx="5669280" cy="329184"/>
          </a:xfrm>
          <a:prstGeom prst="rect">
            <a:avLst/>
          </a:prstGeom>
          <a:noFill/>
          <a:ln/>
        </p:spPr>
        <p:txBody>
          <a:bodyPr wrap="square" lIns="0" tIns="0" rIns="0" bIns="0" rtlCol="0" anchor="ctr"/>
          <a:lstStyle/>
          <a:p>
            <a:pPr indent="0" marL="0">
              <a:buNone/>
            </a:pPr>
            <a:r>
              <a:rPr lang="en-US" sz="1500" dirty="0">
                <a:solidFill>
                  <a:srgbClr val="F1F5FB"/>
                </a:solidFill>
                <a:latin typeface="Calibri" pitchFamily="34" charset="0"/>
                <a:ea typeface="Calibri" pitchFamily="34" charset="-122"/>
                <a:cs typeface="Calibri" pitchFamily="34" charset="-120"/>
              </a:rPr>
              <a:t>What happens after a maneuver</a:t>
            </a:r>
            <a:endParaRPr lang="en-US" sz="1500" dirty="0"/>
          </a:p>
        </p:txBody>
      </p:sp>
      <p:sp>
        <p:nvSpPr>
          <p:cNvPr id="31" name="Shape 28"/>
          <p:cNvSpPr/>
          <p:nvPr/>
        </p:nvSpPr>
        <p:spPr>
          <a:xfrm>
            <a:off x="5760720" y="4983480"/>
            <a:ext cx="91440" cy="91440"/>
          </a:xfrm>
          <a:prstGeom prst="ellipse">
            <a:avLst/>
          </a:prstGeom>
          <a:solidFill>
            <a:srgbClr val="F2AA3E"/>
          </a:solidFill>
          <a:ln/>
        </p:spPr>
      </p:sp>
      <p:sp>
        <p:nvSpPr>
          <p:cNvPr id="32" name="Text 29"/>
          <p:cNvSpPr/>
          <p:nvPr/>
        </p:nvSpPr>
        <p:spPr>
          <a:xfrm>
            <a:off x="5989320" y="4892040"/>
            <a:ext cx="5669280" cy="329184"/>
          </a:xfrm>
          <a:prstGeom prst="rect">
            <a:avLst/>
          </a:prstGeom>
          <a:noFill/>
          <a:ln/>
        </p:spPr>
        <p:txBody>
          <a:bodyPr wrap="square" lIns="0" tIns="0" rIns="0" bIns="0" rtlCol="0" anchor="ctr"/>
          <a:lstStyle/>
          <a:p>
            <a:pPr indent="0" marL="0">
              <a:buNone/>
            </a:pPr>
            <a:r>
              <a:rPr lang="en-US" sz="1500" dirty="0">
                <a:solidFill>
                  <a:srgbClr val="F1F5FB"/>
                </a:solidFill>
                <a:latin typeface="Calibri" pitchFamily="34" charset="0"/>
                <a:ea typeface="Calibri" pitchFamily="34" charset="-122"/>
                <a:cs typeface="Calibri" pitchFamily="34" charset="-120"/>
              </a:rPr>
              <a:t>Whether another object becomes a threat</a:t>
            </a:r>
            <a:endParaRPr lang="en-US" sz="1500" dirty="0"/>
          </a:p>
        </p:txBody>
      </p:sp>
      <p:sp>
        <p:nvSpPr>
          <p:cNvPr id="33" name="Shape 30"/>
          <p:cNvSpPr/>
          <p:nvPr/>
        </p:nvSpPr>
        <p:spPr>
          <a:xfrm>
            <a:off x="5760720" y="5440680"/>
            <a:ext cx="91440" cy="91440"/>
          </a:xfrm>
          <a:prstGeom prst="ellipse">
            <a:avLst/>
          </a:prstGeom>
          <a:solidFill>
            <a:srgbClr val="F2AA3E"/>
          </a:solidFill>
          <a:ln/>
        </p:spPr>
      </p:sp>
      <p:sp>
        <p:nvSpPr>
          <p:cNvPr id="34" name="Text 31"/>
          <p:cNvSpPr/>
          <p:nvPr/>
        </p:nvSpPr>
        <p:spPr>
          <a:xfrm>
            <a:off x="5989320" y="5349240"/>
            <a:ext cx="5669280" cy="329184"/>
          </a:xfrm>
          <a:prstGeom prst="rect">
            <a:avLst/>
          </a:prstGeom>
          <a:noFill/>
          <a:ln/>
        </p:spPr>
        <p:txBody>
          <a:bodyPr wrap="square" lIns="0" tIns="0" rIns="0" bIns="0" rtlCol="0" anchor="ctr"/>
          <a:lstStyle/>
          <a:p>
            <a:pPr indent="0" marL="0">
              <a:buNone/>
            </a:pPr>
            <a:r>
              <a:rPr lang="en-US" sz="1500" dirty="0">
                <a:solidFill>
                  <a:srgbClr val="F1F5FB"/>
                </a:solidFill>
                <a:latin typeface="Calibri" pitchFamily="34" charset="0"/>
                <a:ea typeface="Calibri" pitchFamily="34" charset="-122"/>
                <a:cs typeface="Calibri" pitchFamily="34" charset="-120"/>
              </a:rPr>
              <a:t>How stable the decision is</a:t>
            </a:r>
            <a:endParaRPr lang="en-US" sz="1500" dirty="0"/>
          </a:p>
        </p:txBody>
      </p:sp>
      <p:sp>
        <p:nvSpPr>
          <p:cNvPr id="35" name="Text 32"/>
          <p:cNvSpPr/>
          <p:nvPr/>
        </p:nvSpPr>
        <p:spPr>
          <a:xfrm>
            <a:off x="502920" y="6565392"/>
            <a:ext cx="6400800" cy="228600"/>
          </a:xfrm>
          <a:prstGeom prst="rect">
            <a:avLst/>
          </a:prstGeom>
          <a:noFill/>
          <a:ln/>
        </p:spPr>
        <p:txBody>
          <a:bodyPr wrap="square" lIns="0" tIns="0" rIns="0" bIns="0" rtlCol="0" anchor="ctr"/>
          <a:lstStyle/>
          <a:p>
            <a:pPr indent="0" marL="0">
              <a:buNone/>
            </a:pPr>
            <a:r>
              <a:rPr lang="en-US" sz="850" dirty="0">
                <a:solidFill>
                  <a:srgbClr val="5E6A82"/>
                </a:solidFill>
                <a:latin typeface="Calibri" pitchFamily="34" charset="0"/>
                <a:ea typeface="Calibri" pitchFamily="34" charset="-122"/>
                <a:cs typeface="Calibri" pitchFamily="34" charset="-120"/>
              </a:rPr>
              <a:t>ORBITAL FUTURE DECISION ENGINE  ·  FANTASTIC 4</a:t>
            </a:r>
            <a:endParaRPr lang="en-US" sz="850" dirty="0"/>
          </a:p>
        </p:txBody>
      </p:sp>
      <p:sp>
        <p:nvSpPr>
          <p:cNvPr id="36" name="Text 33"/>
          <p:cNvSpPr/>
          <p:nvPr/>
        </p:nvSpPr>
        <p:spPr>
          <a:xfrm>
            <a:off x="8686800" y="6565392"/>
            <a:ext cx="3017520" cy="228600"/>
          </a:xfrm>
          <a:prstGeom prst="rect">
            <a:avLst/>
          </a:prstGeom>
          <a:noFill/>
          <a:ln/>
        </p:spPr>
        <p:txBody>
          <a:bodyPr wrap="square" lIns="0" tIns="0" rIns="0" bIns="0" rtlCol="0" anchor="ctr"/>
          <a:lstStyle/>
          <a:p>
            <a:pPr algn="r" indent="0" marL="0">
              <a:buNone/>
            </a:pPr>
            <a:r>
              <a:rPr lang="en-US" sz="850" spc="100" kern="0" dirty="0">
                <a:solidFill>
                  <a:srgbClr val="185C68"/>
                </a:solidFill>
                <a:latin typeface="Calibri" pitchFamily="34" charset="0"/>
                <a:ea typeface="Calibri" pitchFamily="34" charset="-122"/>
                <a:cs typeface="Calibri" pitchFamily="34" charset="-120"/>
              </a:rPr>
              <a:t>MISSION: OFDE-01</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0911"/>
        </a:solidFill>
      </p:bgPr>
    </p:bg>
    <p:spTree>
      <p:nvGrpSpPr>
        <p:cNvPr id="1" name=""/>
        <p:cNvGrpSpPr/>
        <p:nvPr/>
      </p:nvGrpSpPr>
      <p:grpSpPr>
        <a:xfrm>
          <a:off x="0" y="0"/>
          <a:ext cx="0" cy="0"/>
          <a:chOff x="0" y="0"/>
          <a:chExt cx="0" cy="0"/>
        </a:xfrm>
      </p:grpSpPr>
      <p:pic>
        <p:nvPicPr>
          <p:cNvPr id="2" name="Image 0" descr="/home/claude/assets/erospace_rgba.png">    </p:cNvPr>
          <p:cNvPicPr>
            <a:picLocks noChangeAspect="1"/>
          </p:cNvPicPr>
          <p:nvPr/>
        </p:nvPicPr>
        <p:blipFill>
          <a:blip r:embed="rId1">
            <a:alphaModFix amt="75000"/>
          </a:blip>
          <a:stretch>
            <a:fillRect/>
          </a:stretch>
        </p:blipFill>
        <p:spPr>
          <a:xfrm>
            <a:off x="10561320" y="292608"/>
            <a:ext cx="1325880" cy="459943"/>
          </a:xfrm>
          <a:prstGeom prst="rect">
            <a:avLst/>
          </a:prstGeom>
        </p:spPr>
      </p:pic>
      <p:sp>
        <p:nvSpPr>
          <p:cNvPr id="3" name="Text 0"/>
          <p:cNvSpPr/>
          <p:nvPr/>
        </p:nvSpPr>
        <p:spPr>
          <a:xfrm>
            <a:off x="502920" y="365760"/>
            <a:ext cx="8229600" cy="292608"/>
          </a:xfrm>
          <a:prstGeom prst="rect">
            <a:avLst/>
          </a:prstGeom>
          <a:noFill/>
          <a:ln/>
        </p:spPr>
        <p:txBody>
          <a:bodyPr wrap="square" lIns="0" tIns="0" rIns="0" bIns="0" rtlCol="0" anchor="ctr"/>
          <a:lstStyle/>
          <a:p>
            <a:pPr indent="0" marL="0">
              <a:buNone/>
            </a:pPr>
            <a:r>
              <a:rPr lang="en-US" sz="1300" b="1" spc="200" kern="0" dirty="0">
                <a:solidFill>
                  <a:srgbClr val="4DD9EC"/>
                </a:solidFill>
                <a:latin typeface="Calibri" pitchFamily="34" charset="0"/>
                <a:ea typeface="Calibri" pitchFamily="34" charset="-122"/>
                <a:cs typeface="Calibri" pitchFamily="34" charset="-120"/>
              </a:rPr>
              <a:t>PROPOSED SOLUTION</a:t>
            </a:r>
            <a:endParaRPr lang="en-US" sz="1300" dirty="0"/>
          </a:p>
        </p:txBody>
      </p:sp>
      <p:sp>
        <p:nvSpPr>
          <p:cNvPr id="4" name="Text 1"/>
          <p:cNvSpPr/>
          <p:nvPr/>
        </p:nvSpPr>
        <p:spPr>
          <a:xfrm>
            <a:off x="502920" y="658368"/>
            <a:ext cx="10972800" cy="685800"/>
          </a:xfrm>
          <a:prstGeom prst="rect">
            <a:avLst/>
          </a:prstGeom>
          <a:noFill/>
          <a:ln/>
        </p:spPr>
        <p:txBody>
          <a:bodyPr wrap="square" lIns="0" tIns="0" rIns="0" bIns="0" rtlCol="0" anchor="ctr"/>
          <a:lstStyle/>
          <a:p>
            <a:pPr indent="0" marL="0">
              <a:buNone/>
            </a:pPr>
            <a:r>
              <a:rPr lang="en-US" sz="3400" b="1" dirty="0">
                <a:solidFill>
                  <a:srgbClr val="F1F5FB"/>
                </a:solidFill>
                <a:latin typeface="Arial" pitchFamily="34" charset="0"/>
                <a:ea typeface="Arial" pitchFamily="34" charset="-122"/>
                <a:cs typeface="Arial" pitchFamily="34" charset="-120"/>
              </a:rPr>
              <a:t>Our Solution</a:t>
            </a:r>
            <a:endParaRPr lang="en-US" sz="3400" dirty="0"/>
          </a:p>
        </p:txBody>
      </p:sp>
      <p:sp>
        <p:nvSpPr>
          <p:cNvPr id="5" name="Shape 2"/>
          <p:cNvSpPr/>
          <p:nvPr/>
        </p:nvSpPr>
        <p:spPr>
          <a:xfrm>
            <a:off x="274320" y="3291840"/>
            <a:ext cx="11612880" cy="1005840"/>
          </a:xfrm>
          <a:prstGeom prst="ellipse">
            <a:avLst/>
          </a:prstGeom>
          <a:ln w="12700">
            <a:solidFill>
              <a:srgbClr val="185C68"/>
            </a:solidFill>
            <a:prstDash val="sysDot"/>
          </a:ln>
        </p:spPr>
      </p:sp>
      <p:sp>
        <p:nvSpPr>
          <p:cNvPr id="6" name="Shape 3"/>
          <p:cNvSpPr/>
          <p:nvPr/>
        </p:nvSpPr>
        <p:spPr>
          <a:xfrm>
            <a:off x="502920" y="1828800"/>
            <a:ext cx="2031797" cy="3429000"/>
          </a:xfrm>
          <a:prstGeom prst="roundRect">
            <a:avLst>
              <a:gd name="adj" fmla="val 3600"/>
            </a:avLst>
          </a:prstGeom>
          <a:solidFill>
            <a:srgbClr val="111A2E"/>
          </a:solidFill>
          <a:ln w="12700">
            <a:solidFill>
              <a:srgbClr val="26314A"/>
            </a:solidFill>
            <a:prstDash val="solid"/>
          </a:ln>
        </p:spPr>
      </p:sp>
      <p:sp>
        <p:nvSpPr>
          <p:cNvPr id="7" name="Text 4"/>
          <p:cNvSpPr/>
          <p:nvPr/>
        </p:nvSpPr>
        <p:spPr>
          <a:xfrm>
            <a:off x="685800" y="2029968"/>
            <a:ext cx="1666037" cy="685800"/>
          </a:xfrm>
          <a:prstGeom prst="rect">
            <a:avLst/>
          </a:prstGeom>
          <a:noFill/>
          <a:ln/>
        </p:spPr>
        <p:txBody>
          <a:bodyPr wrap="square" lIns="0" tIns="0" rIns="0" bIns="0" rtlCol="0" anchor="ctr"/>
          <a:lstStyle/>
          <a:p>
            <a:pPr indent="0" marL="0">
              <a:buNone/>
            </a:pPr>
            <a:r>
              <a:rPr lang="en-US" sz="3400" b="1" dirty="0">
                <a:solidFill>
                  <a:srgbClr val="3D4A64"/>
                </a:solidFill>
                <a:latin typeface="Arial" pitchFamily="34" charset="0"/>
                <a:ea typeface="Arial" pitchFamily="34" charset="-122"/>
                <a:cs typeface="Arial" pitchFamily="34" charset="-120"/>
              </a:rPr>
              <a:t>01</a:t>
            </a:r>
            <a:endParaRPr lang="en-US" sz="3400" dirty="0"/>
          </a:p>
        </p:txBody>
      </p:sp>
      <p:sp>
        <p:nvSpPr>
          <p:cNvPr id="8" name="Shape 5"/>
          <p:cNvSpPr/>
          <p:nvPr/>
        </p:nvSpPr>
        <p:spPr>
          <a:xfrm>
            <a:off x="685800" y="2816352"/>
            <a:ext cx="1666037" cy="0"/>
          </a:xfrm>
          <a:prstGeom prst="line">
            <a:avLst/>
          </a:prstGeom>
          <a:noFill/>
          <a:ln w="12700">
            <a:solidFill>
              <a:srgbClr val="26314A"/>
            </a:solidFill>
            <a:prstDash val="solid"/>
          </a:ln>
        </p:spPr>
      </p:sp>
      <p:sp>
        <p:nvSpPr>
          <p:cNvPr id="9" name="Text 6"/>
          <p:cNvSpPr/>
          <p:nvPr/>
        </p:nvSpPr>
        <p:spPr>
          <a:xfrm>
            <a:off x="685800" y="2944368"/>
            <a:ext cx="1666037" cy="502920"/>
          </a:xfrm>
          <a:prstGeom prst="rect">
            <a:avLst/>
          </a:prstGeom>
          <a:noFill/>
          <a:ln/>
        </p:spPr>
        <p:txBody>
          <a:bodyPr wrap="square" lIns="0" tIns="0" rIns="0" bIns="0" rtlCol="0" anchor="ctr"/>
          <a:lstStyle/>
          <a:p>
            <a:pPr indent="0" marL="0">
              <a:buNone/>
            </a:pPr>
            <a:r>
              <a:rPr lang="en-US" sz="1800" b="1" dirty="0">
                <a:solidFill>
                  <a:srgbClr val="F1F5FB"/>
                </a:solidFill>
                <a:latin typeface="Calibri" pitchFamily="34" charset="0"/>
                <a:ea typeface="Calibri" pitchFamily="34" charset="-122"/>
                <a:cs typeface="Calibri" pitchFamily="34" charset="-120"/>
              </a:rPr>
              <a:t>TRACK</a:t>
            </a:r>
            <a:endParaRPr lang="en-US" sz="1800" dirty="0"/>
          </a:p>
        </p:txBody>
      </p:sp>
      <p:sp>
        <p:nvSpPr>
          <p:cNvPr id="10" name="Text 7"/>
          <p:cNvSpPr/>
          <p:nvPr/>
        </p:nvSpPr>
        <p:spPr>
          <a:xfrm>
            <a:off x="685800" y="3520440"/>
            <a:ext cx="1666037" cy="1554480"/>
          </a:xfrm>
          <a:prstGeom prst="rect">
            <a:avLst/>
          </a:prstGeom>
          <a:noFill/>
          <a:ln/>
        </p:spPr>
        <p:txBody>
          <a:bodyPr wrap="square" lIns="0" tIns="0" rIns="0" bIns="0" rtlCol="0" anchor="ctr"/>
          <a:lstStyle/>
          <a:p>
            <a:pPr indent="0" marL="0">
              <a:lnSpc>
                <a:spcPts val="1600"/>
              </a:lnSpc>
              <a:buNone/>
            </a:pPr>
            <a:r>
              <a:rPr lang="en-US" sz="1250" dirty="0">
                <a:solidFill>
                  <a:srgbClr val="A6B0C3"/>
                </a:solidFill>
                <a:latin typeface="Calibri" pitchFamily="34" charset="0"/>
                <a:ea typeface="Calibri" pitchFamily="34" charset="-122"/>
                <a:cs typeface="Calibri" pitchFamily="34" charset="-120"/>
              </a:rPr>
              <a:t>Orbital data</a:t>
            </a:r>
            <a:endParaRPr lang="en-US" sz="1250" dirty="0"/>
          </a:p>
        </p:txBody>
      </p:sp>
      <p:sp>
        <p:nvSpPr>
          <p:cNvPr id="11" name="Text 8"/>
          <p:cNvSpPr/>
          <p:nvPr/>
        </p:nvSpPr>
        <p:spPr>
          <a:xfrm>
            <a:off x="2516429" y="3287268"/>
            <a:ext cx="292608" cy="512064"/>
          </a:xfrm>
          <a:prstGeom prst="rect">
            <a:avLst/>
          </a:prstGeom>
          <a:noFill/>
          <a:ln/>
        </p:spPr>
        <p:txBody>
          <a:bodyPr wrap="square" lIns="0" tIns="0" rIns="0" bIns="0" rtlCol="0" anchor="ctr"/>
          <a:lstStyle/>
          <a:p>
            <a:pPr algn="ctr" indent="0" marL="0">
              <a:buNone/>
            </a:pPr>
            <a:r>
              <a:rPr lang="en-US" sz="2200" b="1" dirty="0">
                <a:solidFill>
                  <a:srgbClr val="185C68"/>
                </a:solidFill>
                <a:latin typeface="Arial" pitchFamily="34" charset="0"/>
                <a:ea typeface="Arial" pitchFamily="34" charset="-122"/>
                <a:cs typeface="Arial" pitchFamily="34" charset="-120"/>
              </a:rPr>
              <a:t>›</a:t>
            </a:r>
            <a:endParaRPr lang="en-US" sz="2200" dirty="0"/>
          </a:p>
        </p:txBody>
      </p:sp>
      <p:sp>
        <p:nvSpPr>
          <p:cNvPr id="12" name="Shape 9"/>
          <p:cNvSpPr/>
          <p:nvPr/>
        </p:nvSpPr>
        <p:spPr>
          <a:xfrm>
            <a:off x="2790749" y="1828800"/>
            <a:ext cx="2031797" cy="3429000"/>
          </a:xfrm>
          <a:prstGeom prst="roundRect">
            <a:avLst>
              <a:gd name="adj" fmla="val 3600"/>
            </a:avLst>
          </a:prstGeom>
          <a:solidFill>
            <a:srgbClr val="111A2E"/>
          </a:solidFill>
          <a:ln w="12700">
            <a:solidFill>
              <a:srgbClr val="26314A"/>
            </a:solidFill>
            <a:prstDash val="solid"/>
          </a:ln>
        </p:spPr>
      </p:sp>
      <p:sp>
        <p:nvSpPr>
          <p:cNvPr id="13" name="Text 10"/>
          <p:cNvSpPr/>
          <p:nvPr/>
        </p:nvSpPr>
        <p:spPr>
          <a:xfrm>
            <a:off x="2973629" y="2029968"/>
            <a:ext cx="1666037" cy="685800"/>
          </a:xfrm>
          <a:prstGeom prst="rect">
            <a:avLst/>
          </a:prstGeom>
          <a:noFill/>
          <a:ln/>
        </p:spPr>
        <p:txBody>
          <a:bodyPr wrap="square" lIns="0" tIns="0" rIns="0" bIns="0" rtlCol="0" anchor="ctr"/>
          <a:lstStyle/>
          <a:p>
            <a:pPr indent="0" marL="0">
              <a:buNone/>
            </a:pPr>
            <a:r>
              <a:rPr lang="en-US" sz="3400" b="1" dirty="0">
                <a:solidFill>
                  <a:srgbClr val="3D4A64"/>
                </a:solidFill>
                <a:latin typeface="Arial" pitchFamily="34" charset="0"/>
                <a:ea typeface="Arial" pitchFamily="34" charset="-122"/>
                <a:cs typeface="Arial" pitchFamily="34" charset="-120"/>
              </a:rPr>
              <a:t>02</a:t>
            </a:r>
            <a:endParaRPr lang="en-US" sz="3400" dirty="0"/>
          </a:p>
        </p:txBody>
      </p:sp>
      <p:sp>
        <p:nvSpPr>
          <p:cNvPr id="14" name="Shape 11"/>
          <p:cNvSpPr/>
          <p:nvPr/>
        </p:nvSpPr>
        <p:spPr>
          <a:xfrm>
            <a:off x="2973629" y="2816352"/>
            <a:ext cx="1666037" cy="0"/>
          </a:xfrm>
          <a:prstGeom prst="line">
            <a:avLst/>
          </a:prstGeom>
          <a:noFill/>
          <a:ln w="12700">
            <a:solidFill>
              <a:srgbClr val="26314A"/>
            </a:solidFill>
            <a:prstDash val="solid"/>
          </a:ln>
        </p:spPr>
      </p:sp>
      <p:sp>
        <p:nvSpPr>
          <p:cNvPr id="15" name="Text 12"/>
          <p:cNvSpPr/>
          <p:nvPr/>
        </p:nvSpPr>
        <p:spPr>
          <a:xfrm>
            <a:off x="2973629" y="2944368"/>
            <a:ext cx="1666037" cy="502920"/>
          </a:xfrm>
          <a:prstGeom prst="rect">
            <a:avLst/>
          </a:prstGeom>
          <a:noFill/>
          <a:ln/>
        </p:spPr>
        <p:txBody>
          <a:bodyPr wrap="square" lIns="0" tIns="0" rIns="0" bIns="0" rtlCol="0" anchor="ctr"/>
          <a:lstStyle/>
          <a:p>
            <a:pPr indent="0" marL="0">
              <a:buNone/>
            </a:pPr>
            <a:r>
              <a:rPr lang="en-US" sz="1800" b="1" dirty="0">
                <a:solidFill>
                  <a:srgbClr val="F1F5FB"/>
                </a:solidFill>
                <a:latin typeface="Calibri" pitchFamily="34" charset="0"/>
                <a:ea typeface="Calibri" pitchFamily="34" charset="-122"/>
                <a:cs typeface="Calibri" pitchFamily="34" charset="-120"/>
              </a:rPr>
              <a:t>PREDICT</a:t>
            </a:r>
            <a:endParaRPr lang="en-US" sz="1800" dirty="0"/>
          </a:p>
        </p:txBody>
      </p:sp>
      <p:sp>
        <p:nvSpPr>
          <p:cNvPr id="16" name="Text 13"/>
          <p:cNvSpPr/>
          <p:nvPr/>
        </p:nvSpPr>
        <p:spPr>
          <a:xfrm>
            <a:off x="2973629" y="3520440"/>
            <a:ext cx="1666037" cy="1554480"/>
          </a:xfrm>
          <a:prstGeom prst="rect">
            <a:avLst/>
          </a:prstGeom>
          <a:noFill/>
          <a:ln/>
        </p:spPr>
        <p:txBody>
          <a:bodyPr wrap="square" lIns="0" tIns="0" rIns="0" bIns="0" rtlCol="0" anchor="ctr"/>
          <a:lstStyle/>
          <a:p>
            <a:pPr indent="0" marL="0">
              <a:lnSpc>
                <a:spcPts val="1600"/>
              </a:lnSpc>
              <a:buNone/>
            </a:pPr>
            <a:r>
              <a:rPr lang="en-US" sz="1250" dirty="0">
                <a:solidFill>
                  <a:srgbClr val="A6B0C3"/>
                </a:solidFill>
                <a:latin typeface="Calibri" pitchFamily="34" charset="0"/>
                <a:ea typeface="Calibri" pitchFamily="34" charset="-122"/>
                <a:cs typeface="Calibri" pitchFamily="34" charset="-120"/>
              </a:rPr>
              <a:t>Propagation + Risk</a:t>
            </a:r>
            <a:endParaRPr lang="en-US" sz="1250" dirty="0"/>
          </a:p>
        </p:txBody>
      </p:sp>
      <p:sp>
        <p:nvSpPr>
          <p:cNvPr id="17" name="Text 14"/>
          <p:cNvSpPr/>
          <p:nvPr/>
        </p:nvSpPr>
        <p:spPr>
          <a:xfrm>
            <a:off x="4804258" y="3287268"/>
            <a:ext cx="292608" cy="512064"/>
          </a:xfrm>
          <a:prstGeom prst="rect">
            <a:avLst/>
          </a:prstGeom>
          <a:noFill/>
          <a:ln/>
        </p:spPr>
        <p:txBody>
          <a:bodyPr wrap="square" lIns="0" tIns="0" rIns="0" bIns="0" rtlCol="0" anchor="ctr"/>
          <a:lstStyle/>
          <a:p>
            <a:pPr algn="ctr" indent="0" marL="0">
              <a:buNone/>
            </a:pPr>
            <a:r>
              <a:rPr lang="en-US" sz="2200" b="1" dirty="0">
                <a:solidFill>
                  <a:srgbClr val="185C68"/>
                </a:solidFill>
                <a:latin typeface="Arial" pitchFamily="34" charset="0"/>
                <a:ea typeface="Arial" pitchFamily="34" charset="-122"/>
                <a:cs typeface="Arial" pitchFamily="34" charset="-120"/>
              </a:rPr>
              <a:t>›</a:t>
            </a:r>
            <a:endParaRPr lang="en-US" sz="2200" dirty="0"/>
          </a:p>
        </p:txBody>
      </p:sp>
      <p:sp>
        <p:nvSpPr>
          <p:cNvPr id="18" name="Shape 15"/>
          <p:cNvSpPr/>
          <p:nvPr/>
        </p:nvSpPr>
        <p:spPr>
          <a:xfrm>
            <a:off x="5078578" y="1828800"/>
            <a:ext cx="2031797" cy="3429000"/>
          </a:xfrm>
          <a:prstGeom prst="roundRect">
            <a:avLst>
              <a:gd name="adj" fmla="val 3600"/>
            </a:avLst>
          </a:prstGeom>
          <a:solidFill>
            <a:srgbClr val="0F343D"/>
          </a:solidFill>
          <a:ln w="25400">
            <a:solidFill>
              <a:srgbClr val="4DD9EC"/>
            </a:solidFill>
            <a:prstDash val="solid"/>
          </a:ln>
        </p:spPr>
      </p:sp>
      <p:sp>
        <p:nvSpPr>
          <p:cNvPr id="19" name="Text 16"/>
          <p:cNvSpPr/>
          <p:nvPr/>
        </p:nvSpPr>
        <p:spPr>
          <a:xfrm>
            <a:off x="5261458" y="2029968"/>
            <a:ext cx="1666037" cy="685800"/>
          </a:xfrm>
          <a:prstGeom prst="rect">
            <a:avLst/>
          </a:prstGeom>
          <a:noFill/>
          <a:ln/>
        </p:spPr>
        <p:txBody>
          <a:bodyPr wrap="square" lIns="0" tIns="0" rIns="0" bIns="0" rtlCol="0" anchor="ctr"/>
          <a:lstStyle/>
          <a:p>
            <a:pPr indent="0" marL="0">
              <a:buNone/>
            </a:pPr>
            <a:r>
              <a:rPr lang="en-US" sz="3400" b="1" dirty="0">
                <a:solidFill>
                  <a:srgbClr val="4DD9EC"/>
                </a:solidFill>
                <a:latin typeface="Arial" pitchFamily="34" charset="0"/>
                <a:ea typeface="Arial" pitchFamily="34" charset="-122"/>
                <a:cs typeface="Arial" pitchFamily="34" charset="-120"/>
              </a:rPr>
              <a:t>03</a:t>
            </a:r>
            <a:endParaRPr lang="en-US" sz="3400" dirty="0"/>
          </a:p>
        </p:txBody>
      </p:sp>
      <p:sp>
        <p:nvSpPr>
          <p:cNvPr id="20" name="Shape 17"/>
          <p:cNvSpPr/>
          <p:nvPr/>
        </p:nvSpPr>
        <p:spPr>
          <a:xfrm>
            <a:off x="5261458" y="2816352"/>
            <a:ext cx="1666037" cy="0"/>
          </a:xfrm>
          <a:prstGeom prst="line">
            <a:avLst/>
          </a:prstGeom>
          <a:noFill/>
          <a:ln w="12700">
            <a:solidFill>
              <a:srgbClr val="26314A"/>
            </a:solidFill>
            <a:prstDash val="solid"/>
          </a:ln>
        </p:spPr>
      </p:sp>
      <p:sp>
        <p:nvSpPr>
          <p:cNvPr id="21" name="Text 18"/>
          <p:cNvSpPr/>
          <p:nvPr/>
        </p:nvSpPr>
        <p:spPr>
          <a:xfrm>
            <a:off x="5261458" y="2944368"/>
            <a:ext cx="1666037" cy="502920"/>
          </a:xfrm>
          <a:prstGeom prst="rect">
            <a:avLst/>
          </a:prstGeom>
          <a:noFill/>
          <a:ln/>
        </p:spPr>
        <p:txBody>
          <a:bodyPr wrap="square" lIns="0" tIns="0" rIns="0" bIns="0" rtlCol="0" anchor="ctr"/>
          <a:lstStyle/>
          <a:p>
            <a:pPr indent="0" marL="0">
              <a:buNone/>
            </a:pPr>
            <a:r>
              <a:rPr lang="en-US" sz="1800" b="1" dirty="0">
                <a:solidFill>
                  <a:srgbClr val="F1F5FB"/>
                </a:solidFill>
                <a:latin typeface="Calibri" pitchFamily="34" charset="0"/>
                <a:ea typeface="Calibri" pitchFamily="34" charset="-122"/>
                <a:cs typeface="Calibri" pitchFamily="34" charset="-120"/>
              </a:rPr>
              <a:t>EXPLORE</a:t>
            </a:r>
            <a:endParaRPr lang="en-US" sz="1800" dirty="0"/>
          </a:p>
        </p:txBody>
      </p:sp>
      <p:sp>
        <p:nvSpPr>
          <p:cNvPr id="22" name="Text 19"/>
          <p:cNvSpPr/>
          <p:nvPr/>
        </p:nvSpPr>
        <p:spPr>
          <a:xfrm>
            <a:off x="5261458" y="3520440"/>
            <a:ext cx="1666037" cy="1554480"/>
          </a:xfrm>
          <a:prstGeom prst="rect">
            <a:avLst/>
          </a:prstGeom>
          <a:noFill/>
          <a:ln/>
        </p:spPr>
        <p:txBody>
          <a:bodyPr wrap="square" lIns="0" tIns="0" rIns="0" bIns="0" rtlCol="0" anchor="ctr"/>
          <a:lstStyle/>
          <a:p>
            <a:pPr indent="0" marL="0">
              <a:lnSpc>
                <a:spcPts val="1600"/>
              </a:lnSpc>
              <a:buNone/>
            </a:pPr>
            <a:r>
              <a:rPr lang="en-US" sz="1250" dirty="0">
                <a:solidFill>
                  <a:srgbClr val="A6B0C3"/>
                </a:solidFill>
                <a:latin typeface="Calibri" pitchFamily="34" charset="0"/>
                <a:ea typeface="Calibri" pitchFamily="34" charset="-122"/>
                <a:cs typeface="Calibri" pitchFamily="34" charset="-120"/>
              </a:rPr>
              <a:t>Future-State Envelope</a:t>
            </a:r>
            <a:endParaRPr lang="en-US" sz="1250" dirty="0"/>
          </a:p>
        </p:txBody>
      </p:sp>
      <p:sp>
        <p:nvSpPr>
          <p:cNvPr id="23" name="Text 20"/>
          <p:cNvSpPr/>
          <p:nvPr/>
        </p:nvSpPr>
        <p:spPr>
          <a:xfrm>
            <a:off x="7092086" y="3287268"/>
            <a:ext cx="292608" cy="512064"/>
          </a:xfrm>
          <a:prstGeom prst="rect">
            <a:avLst/>
          </a:prstGeom>
          <a:noFill/>
          <a:ln/>
        </p:spPr>
        <p:txBody>
          <a:bodyPr wrap="square" lIns="0" tIns="0" rIns="0" bIns="0" rtlCol="0" anchor="ctr"/>
          <a:lstStyle/>
          <a:p>
            <a:pPr algn="ctr" indent="0" marL="0">
              <a:buNone/>
            </a:pPr>
            <a:r>
              <a:rPr lang="en-US" sz="2200" b="1" dirty="0">
                <a:solidFill>
                  <a:srgbClr val="185C68"/>
                </a:solidFill>
                <a:latin typeface="Arial" pitchFamily="34" charset="0"/>
                <a:ea typeface="Arial" pitchFamily="34" charset="-122"/>
                <a:cs typeface="Arial" pitchFamily="34" charset="-120"/>
              </a:rPr>
              <a:t>›</a:t>
            </a:r>
            <a:endParaRPr lang="en-US" sz="2200" dirty="0"/>
          </a:p>
        </p:txBody>
      </p:sp>
      <p:sp>
        <p:nvSpPr>
          <p:cNvPr id="24" name="Shape 21"/>
          <p:cNvSpPr/>
          <p:nvPr/>
        </p:nvSpPr>
        <p:spPr>
          <a:xfrm>
            <a:off x="7366406" y="1828800"/>
            <a:ext cx="2031797" cy="3429000"/>
          </a:xfrm>
          <a:prstGeom prst="roundRect">
            <a:avLst>
              <a:gd name="adj" fmla="val 3600"/>
            </a:avLst>
          </a:prstGeom>
          <a:solidFill>
            <a:srgbClr val="111A2E"/>
          </a:solidFill>
          <a:ln w="12700">
            <a:solidFill>
              <a:srgbClr val="26314A"/>
            </a:solidFill>
            <a:prstDash val="solid"/>
          </a:ln>
        </p:spPr>
      </p:sp>
      <p:sp>
        <p:nvSpPr>
          <p:cNvPr id="25" name="Text 22"/>
          <p:cNvSpPr/>
          <p:nvPr/>
        </p:nvSpPr>
        <p:spPr>
          <a:xfrm>
            <a:off x="7549286" y="2029968"/>
            <a:ext cx="1666037" cy="685800"/>
          </a:xfrm>
          <a:prstGeom prst="rect">
            <a:avLst/>
          </a:prstGeom>
          <a:noFill/>
          <a:ln/>
        </p:spPr>
        <p:txBody>
          <a:bodyPr wrap="square" lIns="0" tIns="0" rIns="0" bIns="0" rtlCol="0" anchor="ctr"/>
          <a:lstStyle/>
          <a:p>
            <a:pPr indent="0" marL="0">
              <a:buNone/>
            </a:pPr>
            <a:r>
              <a:rPr lang="en-US" sz="3400" b="1" dirty="0">
                <a:solidFill>
                  <a:srgbClr val="3D4A64"/>
                </a:solidFill>
                <a:latin typeface="Arial" pitchFamily="34" charset="0"/>
                <a:ea typeface="Arial" pitchFamily="34" charset="-122"/>
                <a:cs typeface="Arial" pitchFamily="34" charset="-120"/>
              </a:rPr>
              <a:t>04</a:t>
            </a:r>
            <a:endParaRPr lang="en-US" sz="3400" dirty="0"/>
          </a:p>
        </p:txBody>
      </p:sp>
      <p:sp>
        <p:nvSpPr>
          <p:cNvPr id="26" name="Shape 23"/>
          <p:cNvSpPr/>
          <p:nvPr/>
        </p:nvSpPr>
        <p:spPr>
          <a:xfrm>
            <a:off x="7549286" y="2816352"/>
            <a:ext cx="1666037" cy="0"/>
          </a:xfrm>
          <a:prstGeom prst="line">
            <a:avLst/>
          </a:prstGeom>
          <a:noFill/>
          <a:ln w="12700">
            <a:solidFill>
              <a:srgbClr val="26314A"/>
            </a:solidFill>
            <a:prstDash val="solid"/>
          </a:ln>
        </p:spPr>
      </p:sp>
      <p:sp>
        <p:nvSpPr>
          <p:cNvPr id="27" name="Text 24"/>
          <p:cNvSpPr/>
          <p:nvPr/>
        </p:nvSpPr>
        <p:spPr>
          <a:xfrm>
            <a:off x="7549286" y="2944368"/>
            <a:ext cx="1666037" cy="502920"/>
          </a:xfrm>
          <a:prstGeom prst="rect">
            <a:avLst/>
          </a:prstGeom>
          <a:noFill/>
          <a:ln/>
        </p:spPr>
        <p:txBody>
          <a:bodyPr wrap="square" lIns="0" tIns="0" rIns="0" bIns="0" rtlCol="0" anchor="ctr"/>
          <a:lstStyle/>
          <a:p>
            <a:pPr indent="0" marL="0">
              <a:buNone/>
            </a:pPr>
            <a:r>
              <a:rPr lang="en-US" sz="1800" b="1" dirty="0">
                <a:solidFill>
                  <a:srgbClr val="F1F5FB"/>
                </a:solidFill>
                <a:latin typeface="Calibri" pitchFamily="34" charset="0"/>
                <a:ea typeface="Calibri" pitchFamily="34" charset="-122"/>
                <a:cs typeface="Calibri" pitchFamily="34" charset="-120"/>
              </a:rPr>
              <a:t>COMPARE</a:t>
            </a:r>
            <a:endParaRPr lang="en-US" sz="1800" dirty="0"/>
          </a:p>
        </p:txBody>
      </p:sp>
      <p:sp>
        <p:nvSpPr>
          <p:cNvPr id="28" name="Text 25"/>
          <p:cNvSpPr/>
          <p:nvPr/>
        </p:nvSpPr>
        <p:spPr>
          <a:xfrm>
            <a:off x="7549286" y="3520440"/>
            <a:ext cx="1666037" cy="1554480"/>
          </a:xfrm>
          <a:prstGeom prst="rect">
            <a:avLst/>
          </a:prstGeom>
          <a:noFill/>
          <a:ln/>
        </p:spPr>
        <p:txBody>
          <a:bodyPr wrap="square" lIns="0" tIns="0" rIns="0" bIns="0" rtlCol="0" anchor="ctr"/>
          <a:lstStyle/>
          <a:p>
            <a:pPr indent="0" marL="0">
              <a:lnSpc>
                <a:spcPts val="1600"/>
              </a:lnSpc>
              <a:buNone/>
            </a:pPr>
            <a:r>
              <a:rPr lang="en-US" sz="1250" dirty="0">
                <a:solidFill>
                  <a:srgbClr val="A6B0C3"/>
                </a:solidFill>
                <a:latin typeface="Calibri" pitchFamily="34" charset="0"/>
                <a:ea typeface="Calibri" pitchFamily="34" charset="-122"/>
                <a:cs typeface="Calibri" pitchFamily="34" charset="-120"/>
              </a:rPr>
              <a:t>No Action / A / B</a:t>
            </a:r>
            <a:endParaRPr lang="en-US" sz="1250" dirty="0"/>
          </a:p>
        </p:txBody>
      </p:sp>
      <p:sp>
        <p:nvSpPr>
          <p:cNvPr id="29" name="Text 26"/>
          <p:cNvSpPr/>
          <p:nvPr/>
        </p:nvSpPr>
        <p:spPr>
          <a:xfrm>
            <a:off x="9379915" y="3287268"/>
            <a:ext cx="292608" cy="512064"/>
          </a:xfrm>
          <a:prstGeom prst="rect">
            <a:avLst/>
          </a:prstGeom>
          <a:noFill/>
          <a:ln/>
        </p:spPr>
        <p:txBody>
          <a:bodyPr wrap="square" lIns="0" tIns="0" rIns="0" bIns="0" rtlCol="0" anchor="ctr"/>
          <a:lstStyle/>
          <a:p>
            <a:pPr algn="ctr" indent="0" marL="0">
              <a:buNone/>
            </a:pPr>
            <a:r>
              <a:rPr lang="en-US" sz="2200" b="1" dirty="0">
                <a:solidFill>
                  <a:srgbClr val="185C68"/>
                </a:solidFill>
                <a:latin typeface="Arial" pitchFamily="34" charset="0"/>
                <a:ea typeface="Arial" pitchFamily="34" charset="-122"/>
                <a:cs typeface="Arial" pitchFamily="34" charset="-120"/>
              </a:rPr>
              <a:t>›</a:t>
            </a:r>
            <a:endParaRPr lang="en-US" sz="2200" dirty="0"/>
          </a:p>
        </p:txBody>
      </p:sp>
      <p:sp>
        <p:nvSpPr>
          <p:cNvPr id="30" name="Shape 27"/>
          <p:cNvSpPr/>
          <p:nvPr/>
        </p:nvSpPr>
        <p:spPr>
          <a:xfrm>
            <a:off x="9654235" y="1828800"/>
            <a:ext cx="2031797" cy="3429000"/>
          </a:xfrm>
          <a:prstGeom prst="roundRect">
            <a:avLst>
              <a:gd name="adj" fmla="val 3600"/>
            </a:avLst>
          </a:prstGeom>
          <a:solidFill>
            <a:srgbClr val="111A2E"/>
          </a:solidFill>
          <a:ln w="12700">
            <a:solidFill>
              <a:srgbClr val="26314A"/>
            </a:solidFill>
            <a:prstDash val="solid"/>
          </a:ln>
        </p:spPr>
      </p:sp>
      <p:sp>
        <p:nvSpPr>
          <p:cNvPr id="31" name="Text 28"/>
          <p:cNvSpPr/>
          <p:nvPr/>
        </p:nvSpPr>
        <p:spPr>
          <a:xfrm>
            <a:off x="9837115" y="2029968"/>
            <a:ext cx="1666037" cy="685800"/>
          </a:xfrm>
          <a:prstGeom prst="rect">
            <a:avLst/>
          </a:prstGeom>
          <a:noFill/>
          <a:ln/>
        </p:spPr>
        <p:txBody>
          <a:bodyPr wrap="square" lIns="0" tIns="0" rIns="0" bIns="0" rtlCol="0" anchor="ctr"/>
          <a:lstStyle/>
          <a:p>
            <a:pPr indent="0" marL="0">
              <a:buNone/>
            </a:pPr>
            <a:r>
              <a:rPr lang="en-US" sz="3400" b="1" dirty="0">
                <a:solidFill>
                  <a:srgbClr val="3D4A64"/>
                </a:solidFill>
                <a:latin typeface="Arial" pitchFamily="34" charset="0"/>
                <a:ea typeface="Arial" pitchFamily="34" charset="-122"/>
                <a:cs typeface="Arial" pitchFamily="34" charset="-120"/>
              </a:rPr>
              <a:t>05</a:t>
            </a:r>
            <a:endParaRPr lang="en-US" sz="3400" dirty="0"/>
          </a:p>
        </p:txBody>
      </p:sp>
      <p:sp>
        <p:nvSpPr>
          <p:cNvPr id="32" name="Shape 29"/>
          <p:cNvSpPr/>
          <p:nvPr/>
        </p:nvSpPr>
        <p:spPr>
          <a:xfrm>
            <a:off x="9837115" y="2816352"/>
            <a:ext cx="1666037" cy="0"/>
          </a:xfrm>
          <a:prstGeom prst="line">
            <a:avLst/>
          </a:prstGeom>
          <a:noFill/>
          <a:ln w="12700">
            <a:solidFill>
              <a:srgbClr val="26314A"/>
            </a:solidFill>
            <a:prstDash val="solid"/>
          </a:ln>
        </p:spPr>
      </p:sp>
      <p:sp>
        <p:nvSpPr>
          <p:cNvPr id="33" name="Text 30"/>
          <p:cNvSpPr/>
          <p:nvPr/>
        </p:nvSpPr>
        <p:spPr>
          <a:xfrm>
            <a:off x="9837115" y="2944368"/>
            <a:ext cx="1666037" cy="502920"/>
          </a:xfrm>
          <a:prstGeom prst="rect">
            <a:avLst/>
          </a:prstGeom>
          <a:noFill/>
          <a:ln/>
        </p:spPr>
        <p:txBody>
          <a:bodyPr wrap="square" lIns="0" tIns="0" rIns="0" bIns="0" rtlCol="0" anchor="ctr"/>
          <a:lstStyle/>
          <a:p>
            <a:pPr indent="0" marL="0">
              <a:buNone/>
            </a:pPr>
            <a:r>
              <a:rPr lang="en-US" sz="1800" b="1" dirty="0">
                <a:solidFill>
                  <a:srgbClr val="F1F5FB"/>
                </a:solidFill>
                <a:latin typeface="Calibri" pitchFamily="34" charset="0"/>
                <a:ea typeface="Calibri" pitchFamily="34" charset="-122"/>
                <a:cs typeface="Calibri" pitchFamily="34" charset="-120"/>
              </a:rPr>
              <a:t>UNDERSTAND</a:t>
            </a:r>
            <a:endParaRPr lang="en-US" sz="1800" dirty="0"/>
          </a:p>
        </p:txBody>
      </p:sp>
      <p:sp>
        <p:nvSpPr>
          <p:cNvPr id="34" name="Text 31"/>
          <p:cNvSpPr/>
          <p:nvPr/>
        </p:nvSpPr>
        <p:spPr>
          <a:xfrm>
            <a:off x="9837115" y="3520440"/>
            <a:ext cx="1666037" cy="1554480"/>
          </a:xfrm>
          <a:prstGeom prst="rect">
            <a:avLst/>
          </a:prstGeom>
          <a:noFill/>
          <a:ln/>
        </p:spPr>
        <p:txBody>
          <a:bodyPr wrap="square" lIns="0" tIns="0" rIns="0" bIns="0" rtlCol="0" anchor="ctr"/>
          <a:lstStyle/>
          <a:p>
            <a:pPr indent="0" marL="0">
              <a:lnSpc>
                <a:spcPts val="1600"/>
              </a:lnSpc>
              <a:buNone/>
            </a:pPr>
            <a:r>
              <a:rPr lang="en-US" sz="1250" dirty="0">
                <a:solidFill>
                  <a:srgbClr val="A6B0C3"/>
                </a:solidFill>
                <a:latin typeface="Calibri" pitchFamily="34" charset="0"/>
                <a:ea typeface="Calibri" pitchFamily="34" charset="-122"/>
                <a:cs typeface="Calibri" pitchFamily="34" charset="-120"/>
              </a:rPr>
              <a:t>Multi-Object + Sensitivity</a:t>
            </a:r>
            <a:endParaRPr lang="en-US" sz="1250" dirty="0"/>
          </a:p>
        </p:txBody>
      </p:sp>
      <p:sp>
        <p:nvSpPr>
          <p:cNvPr id="35" name="Text 32"/>
          <p:cNvSpPr/>
          <p:nvPr/>
        </p:nvSpPr>
        <p:spPr>
          <a:xfrm>
            <a:off x="502920" y="5486400"/>
            <a:ext cx="11183112" cy="457200"/>
          </a:xfrm>
          <a:prstGeom prst="rect">
            <a:avLst/>
          </a:prstGeom>
          <a:noFill/>
          <a:ln/>
        </p:spPr>
        <p:txBody>
          <a:bodyPr wrap="square" lIns="0" tIns="0" rIns="0" bIns="0" rtlCol="0" anchor="ctr"/>
          <a:lstStyle/>
          <a:p>
            <a:pPr algn="ctr" indent="0" marL="0">
              <a:buNone/>
            </a:pPr>
            <a:r>
              <a:rPr lang="en-US" sz="1700" b="1" i="1" dirty="0">
                <a:solidFill>
                  <a:srgbClr val="4DD9EC"/>
                </a:solidFill>
                <a:latin typeface="Calibri" pitchFamily="34" charset="0"/>
                <a:ea typeface="Calibri" pitchFamily="34" charset="-122"/>
                <a:cs typeface="Calibri" pitchFamily="34" charset="-120"/>
              </a:rPr>
              <a:t>A decision-support layer built on established orbital science.</a:t>
            </a:r>
            <a:endParaRPr lang="en-US" sz="1700" dirty="0"/>
          </a:p>
        </p:txBody>
      </p:sp>
      <p:sp>
        <p:nvSpPr>
          <p:cNvPr id="36" name="Text 33"/>
          <p:cNvSpPr/>
          <p:nvPr/>
        </p:nvSpPr>
        <p:spPr>
          <a:xfrm>
            <a:off x="502920" y="6565392"/>
            <a:ext cx="6400800" cy="228600"/>
          </a:xfrm>
          <a:prstGeom prst="rect">
            <a:avLst/>
          </a:prstGeom>
          <a:noFill/>
          <a:ln/>
        </p:spPr>
        <p:txBody>
          <a:bodyPr wrap="square" lIns="0" tIns="0" rIns="0" bIns="0" rtlCol="0" anchor="ctr"/>
          <a:lstStyle/>
          <a:p>
            <a:pPr indent="0" marL="0">
              <a:buNone/>
            </a:pPr>
            <a:r>
              <a:rPr lang="en-US" sz="850" dirty="0">
                <a:solidFill>
                  <a:srgbClr val="5E6A82"/>
                </a:solidFill>
                <a:latin typeface="Calibri" pitchFamily="34" charset="0"/>
                <a:ea typeface="Calibri" pitchFamily="34" charset="-122"/>
                <a:cs typeface="Calibri" pitchFamily="34" charset="-120"/>
              </a:rPr>
              <a:t>ORBITAL FUTURE DECISION ENGINE  ·  FANTASTIC 4</a:t>
            </a:r>
            <a:endParaRPr lang="en-US" sz="850" dirty="0"/>
          </a:p>
        </p:txBody>
      </p:sp>
      <p:sp>
        <p:nvSpPr>
          <p:cNvPr id="37" name="Text 34"/>
          <p:cNvSpPr/>
          <p:nvPr/>
        </p:nvSpPr>
        <p:spPr>
          <a:xfrm>
            <a:off x="8686800" y="6565392"/>
            <a:ext cx="3017520" cy="228600"/>
          </a:xfrm>
          <a:prstGeom prst="rect">
            <a:avLst/>
          </a:prstGeom>
          <a:noFill/>
          <a:ln/>
        </p:spPr>
        <p:txBody>
          <a:bodyPr wrap="square" lIns="0" tIns="0" rIns="0" bIns="0" rtlCol="0" anchor="ctr"/>
          <a:lstStyle/>
          <a:p>
            <a:pPr algn="r" indent="0" marL="0">
              <a:buNone/>
            </a:pPr>
            <a:r>
              <a:rPr lang="en-US" sz="850" spc="100" kern="0" dirty="0">
                <a:solidFill>
                  <a:srgbClr val="185C68"/>
                </a:solidFill>
                <a:latin typeface="Calibri" pitchFamily="34" charset="0"/>
                <a:ea typeface="Calibri" pitchFamily="34" charset="-122"/>
                <a:cs typeface="Calibri" pitchFamily="34" charset="-120"/>
              </a:rPr>
              <a:t>MISSION: OFDE-01</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60911"/>
        </a:solidFill>
      </p:bgPr>
    </p:bg>
    <p:spTree>
      <p:nvGrpSpPr>
        <p:cNvPr id="1" name=""/>
        <p:cNvGrpSpPr/>
        <p:nvPr/>
      </p:nvGrpSpPr>
      <p:grpSpPr>
        <a:xfrm>
          <a:off x="0" y="0"/>
          <a:ext cx="0" cy="0"/>
          <a:chOff x="0" y="0"/>
          <a:chExt cx="0" cy="0"/>
        </a:xfrm>
      </p:grpSpPr>
      <p:pic>
        <p:nvPicPr>
          <p:cNvPr id="2" name="Image 0" descr="/home/claude/assets/erospace_rgba.png">    </p:cNvPr>
          <p:cNvPicPr>
            <a:picLocks noChangeAspect="1"/>
          </p:cNvPicPr>
          <p:nvPr/>
        </p:nvPicPr>
        <p:blipFill>
          <a:blip r:embed="rId1">
            <a:alphaModFix amt="75000"/>
          </a:blip>
          <a:stretch>
            <a:fillRect/>
          </a:stretch>
        </p:blipFill>
        <p:spPr>
          <a:xfrm>
            <a:off x="10561320" y="292608"/>
            <a:ext cx="1325880" cy="459943"/>
          </a:xfrm>
          <a:prstGeom prst="rect">
            <a:avLst/>
          </a:prstGeom>
        </p:spPr>
      </p:pic>
      <p:sp>
        <p:nvSpPr>
          <p:cNvPr id="3" name="Text 0"/>
          <p:cNvSpPr/>
          <p:nvPr/>
        </p:nvSpPr>
        <p:spPr>
          <a:xfrm>
            <a:off x="502920" y="365760"/>
            <a:ext cx="8229600" cy="292608"/>
          </a:xfrm>
          <a:prstGeom prst="rect">
            <a:avLst/>
          </a:prstGeom>
          <a:noFill/>
          <a:ln/>
        </p:spPr>
        <p:txBody>
          <a:bodyPr wrap="square" lIns="0" tIns="0" rIns="0" bIns="0" rtlCol="0" anchor="ctr"/>
          <a:lstStyle/>
          <a:p>
            <a:pPr indent="0" marL="0">
              <a:buNone/>
            </a:pPr>
            <a:r>
              <a:rPr lang="en-US" sz="1300" b="1" spc="200" kern="0" dirty="0">
                <a:solidFill>
                  <a:srgbClr val="4DD9EC"/>
                </a:solidFill>
                <a:latin typeface="Calibri" pitchFamily="34" charset="0"/>
                <a:ea typeface="Calibri" pitchFamily="34" charset="-122"/>
                <a:cs typeface="Calibri" pitchFamily="34" charset="-120"/>
              </a:rPr>
              <a:t>SYSTEM ARCHITECTURE</a:t>
            </a:r>
            <a:endParaRPr lang="en-US" sz="1300" dirty="0"/>
          </a:p>
        </p:txBody>
      </p:sp>
      <p:sp>
        <p:nvSpPr>
          <p:cNvPr id="4" name="Text 1"/>
          <p:cNvSpPr/>
          <p:nvPr/>
        </p:nvSpPr>
        <p:spPr>
          <a:xfrm>
            <a:off x="502920" y="658368"/>
            <a:ext cx="10972800" cy="685800"/>
          </a:xfrm>
          <a:prstGeom prst="rect">
            <a:avLst/>
          </a:prstGeom>
          <a:noFill/>
          <a:ln/>
        </p:spPr>
        <p:txBody>
          <a:bodyPr wrap="square" lIns="0" tIns="0" rIns="0" bIns="0" rtlCol="0" anchor="ctr"/>
          <a:lstStyle/>
          <a:p>
            <a:pPr indent="0" marL="0">
              <a:buNone/>
            </a:pPr>
            <a:r>
              <a:rPr lang="en-US" sz="3000" b="1" dirty="0">
                <a:solidFill>
                  <a:srgbClr val="F1F5FB"/>
                </a:solidFill>
                <a:latin typeface="Arial" pitchFamily="34" charset="0"/>
                <a:ea typeface="Arial" pitchFamily="34" charset="-122"/>
                <a:cs typeface="Arial" pitchFamily="34" charset="-120"/>
              </a:rPr>
              <a:t>Processing Pipeline</a:t>
            </a:r>
            <a:endParaRPr lang="en-US" sz="3000" dirty="0"/>
          </a:p>
        </p:txBody>
      </p:sp>
      <p:sp>
        <p:nvSpPr>
          <p:cNvPr id="5" name="Shape 2"/>
          <p:cNvSpPr/>
          <p:nvPr/>
        </p:nvSpPr>
        <p:spPr>
          <a:xfrm>
            <a:off x="502920" y="1481328"/>
            <a:ext cx="2658618" cy="777240"/>
          </a:xfrm>
          <a:prstGeom prst="roundRect">
            <a:avLst>
              <a:gd name="adj" fmla="val 8235"/>
            </a:avLst>
          </a:prstGeom>
          <a:solidFill>
            <a:srgbClr val="111A2E"/>
          </a:solidFill>
          <a:ln w="12700">
            <a:solidFill>
              <a:srgbClr val="26314A"/>
            </a:solidFill>
            <a:prstDash val="solid"/>
          </a:ln>
        </p:spPr>
      </p:sp>
      <p:sp>
        <p:nvSpPr>
          <p:cNvPr id="6" name="Text 3"/>
          <p:cNvSpPr/>
          <p:nvPr/>
        </p:nvSpPr>
        <p:spPr>
          <a:xfrm>
            <a:off x="557784" y="1481328"/>
            <a:ext cx="2548890" cy="777240"/>
          </a:xfrm>
          <a:prstGeom prst="rect">
            <a:avLst/>
          </a:prstGeom>
          <a:noFill/>
          <a:ln/>
        </p:spPr>
        <p:txBody>
          <a:bodyPr wrap="square" lIns="0" tIns="0" rIns="0" bIns="0" rtlCol="0" anchor="ctr"/>
          <a:lstStyle/>
          <a:p>
            <a:pPr algn="ctr" indent="0" marL="0">
              <a:lnSpc>
                <a:spcPts val="1600"/>
              </a:lnSpc>
              <a:buNone/>
            </a:pPr>
            <a:r>
              <a:rPr lang="en-US" sz="1300" b="1" dirty="0">
                <a:solidFill>
                  <a:srgbClr val="F1F5FB"/>
                </a:solidFill>
                <a:latin typeface="Calibri" pitchFamily="34" charset="0"/>
                <a:ea typeface="Calibri" pitchFamily="34" charset="-122"/>
                <a:cs typeface="Calibri" pitchFamily="34" charset="-120"/>
              </a:rPr>
              <a:t>DATA</a:t>
            </a:r>
            <a:endParaRPr lang="en-US" sz="1300" dirty="0"/>
          </a:p>
        </p:txBody>
      </p:sp>
      <p:sp>
        <p:nvSpPr>
          <p:cNvPr id="7" name="Shape 4"/>
          <p:cNvSpPr/>
          <p:nvPr/>
        </p:nvSpPr>
        <p:spPr>
          <a:xfrm>
            <a:off x="3344418" y="1481328"/>
            <a:ext cx="2658618" cy="777240"/>
          </a:xfrm>
          <a:prstGeom prst="roundRect">
            <a:avLst>
              <a:gd name="adj" fmla="val 8235"/>
            </a:avLst>
          </a:prstGeom>
          <a:solidFill>
            <a:srgbClr val="111A2E"/>
          </a:solidFill>
          <a:ln w="12700">
            <a:solidFill>
              <a:srgbClr val="26314A"/>
            </a:solidFill>
            <a:prstDash val="solid"/>
          </a:ln>
        </p:spPr>
      </p:sp>
      <p:sp>
        <p:nvSpPr>
          <p:cNvPr id="8" name="Text 5"/>
          <p:cNvSpPr/>
          <p:nvPr/>
        </p:nvSpPr>
        <p:spPr>
          <a:xfrm>
            <a:off x="3399282" y="1481328"/>
            <a:ext cx="2548890" cy="777240"/>
          </a:xfrm>
          <a:prstGeom prst="rect">
            <a:avLst/>
          </a:prstGeom>
          <a:noFill/>
          <a:ln/>
        </p:spPr>
        <p:txBody>
          <a:bodyPr wrap="square" lIns="0" tIns="0" rIns="0" bIns="0" rtlCol="0" anchor="ctr"/>
          <a:lstStyle/>
          <a:p>
            <a:pPr algn="ctr" indent="0" marL="0">
              <a:lnSpc>
                <a:spcPts val="1600"/>
              </a:lnSpc>
              <a:buNone/>
            </a:pPr>
            <a:r>
              <a:rPr lang="en-US" sz="1300" b="1" dirty="0">
                <a:solidFill>
                  <a:srgbClr val="F1F5FB"/>
                </a:solidFill>
                <a:latin typeface="Calibri" pitchFamily="34" charset="0"/>
                <a:ea typeface="Calibri" pitchFamily="34" charset="-122"/>
                <a:cs typeface="Calibri" pitchFamily="34" charset="-120"/>
              </a:rPr>
              <a:t>PROPAGATION</a:t>
            </a:r>
            <a:endParaRPr lang="en-US" sz="1300" dirty="0"/>
          </a:p>
        </p:txBody>
      </p:sp>
      <p:sp>
        <p:nvSpPr>
          <p:cNvPr id="9" name="Shape 6"/>
          <p:cNvSpPr/>
          <p:nvPr/>
        </p:nvSpPr>
        <p:spPr>
          <a:xfrm>
            <a:off x="6185916" y="1481328"/>
            <a:ext cx="2658618" cy="777240"/>
          </a:xfrm>
          <a:prstGeom prst="roundRect">
            <a:avLst>
              <a:gd name="adj" fmla="val 8235"/>
            </a:avLst>
          </a:prstGeom>
          <a:solidFill>
            <a:srgbClr val="111A2E"/>
          </a:solidFill>
          <a:ln w="12700">
            <a:solidFill>
              <a:srgbClr val="26314A"/>
            </a:solidFill>
            <a:prstDash val="solid"/>
          </a:ln>
        </p:spPr>
      </p:sp>
      <p:sp>
        <p:nvSpPr>
          <p:cNvPr id="10" name="Text 7"/>
          <p:cNvSpPr/>
          <p:nvPr/>
        </p:nvSpPr>
        <p:spPr>
          <a:xfrm>
            <a:off x="6240780" y="1481328"/>
            <a:ext cx="2548890" cy="777240"/>
          </a:xfrm>
          <a:prstGeom prst="rect">
            <a:avLst/>
          </a:prstGeom>
          <a:noFill/>
          <a:ln/>
        </p:spPr>
        <p:txBody>
          <a:bodyPr wrap="square" lIns="0" tIns="0" rIns="0" bIns="0" rtlCol="0" anchor="ctr"/>
          <a:lstStyle/>
          <a:p>
            <a:pPr algn="ctr" indent="0" marL="0">
              <a:lnSpc>
                <a:spcPts val="1600"/>
              </a:lnSpc>
              <a:buNone/>
            </a:pPr>
            <a:r>
              <a:rPr lang="en-US" sz="1300" b="1" dirty="0">
                <a:solidFill>
                  <a:srgbClr val="F1F5FB"/>
                </a:solidFill>
                <a:latin typeface="Calibri" pitchFamily="34" charset="0"/>
                <a:ea typeface="Calibri" pitchFamily="34" charset="-122"/>
                <a:cs typeface="Calibri" pitchFamily="34" charset="-120"/>
              </a:rPr>
              <a:t>RELATIVE</a:t>
            </a:r>
            <a:endParaRPr lang="en-US" sz="1300" dirty="0"/>
          </a:p>
          <a:p>
            <a:pPr algn="ctr" indent="0" marL="0">
              <a:lnSpc>
                <a:spcPts val="1600"/>
              </a:lnSpc>
              <a:buNone/>
            </a:pPr>
            <a:r>
              <a:rPr lang="en-US" sz="1300" b="1" dirty="0">
                <a:solidFill>
                  <a:srgbClr val="F1F5FB"/>
                </a:solidFill>
                <a:latin typeface="Calibri" pitchFamily="34" charset="0"/>
                <a:ea typeface="Calibri" pitchFamily="34" charset="-122"/>
                <a:cs typeface="Calibri" pitchFamily="34" charset="-120"/>
              </a:rPr>
              <a:t>GEOMETRY</a:t>
            </a:r>
            <a:endParaRPr lang="en-US" sz="1300" dirty="0"/>
          </a:p>
        </p:txBody>
      </p:sp>
      <p:sp>
        <p:nvSpPr>
          <p:cNvPr id="11" name="Shape 8"/>
          <p:cNvSpPr/>
          <p:nvPr/>
        </p:nvSpPr>
        <p:spPr>
          <a:xfrm>
            <a:off x="9027414" y="1481328"/>
            <a:ext cx="2658618" cy="777240"/>
          </a:xfrm>
          <a:prstGeom prst="roundRect">
            <a:avLst>
              <a:gd name="adj" fmla="val 8235"/>
            </a:avLst>
          </a:prstGeom>
          <a:solidFill>
            <a:srgbClr val="111A2E"/>
          </a:solidFill>
          <a:ln w="12700">
            <a:solidFill>
              <a:srgbClr val="26314A"/>
            </a:solidFill>
            <a:prstDash val="solid"/>
          </a:ln>
        </p:spPr>
      </p:sp>
      <p:sp>
        <p:nvSpPr>
          <p:cNvPr id="12" name="Text 9"/>
          <p:cNvSpPr/>
          <p:nvPr/>
        </p:nvSpPr>
        <p:spPr>
          <a:xfrm>
            <a:off x="9082278" y="1481328"/>
            <a:ext cx="2548890" cy="777240"/>
          </a:xfrm>
          <a:prstGeom prst="rect">
            <a:avLst/>
          </a:prstGeom>
          <a:noFill/>
          <a:ln/>
        </p:spPr>
        <p:txBody>
          <a:bodyPr wrap="square" lIns="0" tIns="0" rIns="0" bIns="0" rtlCol="0" anchor="ctr"/>
          <a:lstStyle/>
          <a:p>
            <a:pPr algn="ctr" indent="0" marL="0">
              <a:lnSpc>
                <a:spcPts val="1600"/>
              </a:lnSpc>
              <a:buNone/>
            </a:pPr>
            <a:r>
              <a:rPr lang="en-US" sz="1300" b="1" dirty="0">
                <a:solidFill>
                  <a:srgbClr val="F1F5FB"/>
                </a:solidFill>
                <a:latin typeface="Calibri" pitchFamily="34" charset="0"/>
                <a:ea typeface="Calibri" pitchFamily="34" charset="-122"/>
                <a:cs typeface="Calibri" pitchFamily="34" charset="-120"/>
              </a:rPr>
              <a:t>CLOSE</a:t>
            </a:r>
            <a:endParaRPr lang="en-US" sz="1300" dirty="0"/>
          </a:p>
          <a:p>
            <a:pPr algn="ctr" indent="0" marL="0">
              <a:lnSpc>
                <a:spcPts val="1600"/>
              </a:lnSpc>
              <a:buNone/>
            </a:pPr>
            <a:r>
              <a:rPr lang="en-US" sz="1300" b="1" dirty="0">
                <a:solidFill>
                  <a:srgbClr val="F1F5FB"/>
                </a:solidFill>
                <a:latin typeface="Calibri" pitchFamily="34" charset="0"/>
                <a:ea typeface="Calibri" pitchFamily="34" charset="-122"/>
                <a:cs typeface="Calibri" pitchFamily="34" charset="-120"/>
              </a:rPr>
              <a:t>APPROACH</a:t>
            </a:r>
            <a:endParaRPr lang="en-US" sz="1300" dirty="0"/>
          </a:p>
        </p:txBody>
      </p:sp>
      <p:sp>
        <p:nvSpPr>
          <p:cNvPr id="13" name="Text 10"/>
          <p:cNvSpPr/>
          <p:nvPr/>
        </p:nvSpPr>
        <p:spPr>
          <a:xfrm>
            <a:off x="502920" y="2368296"/>
            <a:ext cx="11183112" cy="182880"/>
          </a:xfrm>
          <a:prstGeom prst="rect">
            <a:avLst/>
          </a:prstGeom>
          <a:noFill/>
          <a:ln/>
        </p:spPr>
        <p:txBody>
          <a:bodyPr wrap="square" lIns="0" tIns="0" rIns="0" bIns="0" rtlCol="0" anchor="ctr"/>
          <a:lstStyle/>
          <a:p>
            <a:pPr algn="ctr" indent="0" marL="0">
              <a:buNone/>
            </a:pPr>
            <a:r>
              <a:rPr lang="en-US" sz="1200" dirty="0">
                <a:solidFill>
                  <a:srgbClr val="4DD9EC"/>
                </a:solidFill>
                <a:latin typeface="Calibri" pitchFamily="34" charset="0"/>
                <a:ea typeface="Calibri" pitchFamily="34" charset="-122"/>
                <a:cs typeface="Calibri" pitchFamily="34" charset="-120"/>
              </a:rPr>
              <a:t>▾   ▾   ▾   ▾   ▾</a:t>
            </a:r>
            <a:endParaRPr lang="en-US" sz="1200" dirty="0"/>
          </a:p>
        </p:txBody>
      </p:sp>
      <p:sp>
        <p:nvSpPr>
          <p:cNvPr id="14" name="Shape 11"/>
          <p:cNvSpPr/>
          <p:nvPr/>
        </p:nvSpPr>
        <p:spPr>
          <a:xfrm>
            <a:off x="502920" y="2587752"/>
            <a:ext cx="2658618" cy="777240"/>
          </a:xfrm>
          <a:prstGeom prst="roundRect">
            <a:avLst>
              <a:gd name="adj" fmla="val 8235"/>
            </a:avLst>
          </a:prstGeom>
          <a:solidFill>
            <a:srgbClr val="0F2733"/>
          </a:solidFill>
          <a:ln w="12700">
            <a:solidFill>
              <a:srgbClr val="26314A"/>
            </a:solidFill>
            <a:prstDash val="solid"/>
          </a:ln>
        </p:spPr>
      </p:sp>
      <p:sp>
        <p:nvSpPr>
          <p:cNvPr id="15" name="Text 12"/>
          <p:cNvSpPr/>
          <p:nvPr/>
        </p:nvSpPr>
        <p:spPr>
          <a:xfrm>
            <a:off x="557784" y="2587752"/>
            <a:ext cx="2548890" cy="777240"/>
          </a:xfrm>
          <a:prstGeom prst="rect">
            <a:avLst/>
          </a:prstGeom>
          <a:noFill/>
          <a:ln/>
        </p:spPr>
        <p:txBody>
          <a:bodyPr wrap="square" lIns="0" tIns="0" rIns="0" bIns="0" rtlCol="0" anchor="ctr"/>
          <a:lstStyle/>
          <a:p>
            <a:pPr algn="ctr" indent="0" marL="0">
              <a:lnSpc>
                <a:spcPts val="1600"/>
              </a:lnSpc>
              <a:buNone/>
            </a:pPr>
            <a:r>
              <a:rPr lang="en-US" sz="1300" b="1" dirty="0">
                <a:solidFill>
                  <a:srgbClr val="F1F5FB"/>
                </a:solidFill>
                <a:latin typeface="Calibri" pitchFamily="34" charset="0"/>
                <a:ea typeface="Calibri" pitchFamily="34" charset="-122"/>
                <a:cs typeface="Calibri" pitchFamily="34" charset="-120"/>
              </a:rPr>
              <a:t>RISK +</a:t>
            </a:r>
            <a:endParaRPr lang="en-US" sz="1300" dirty="0"/>
          </a:p>
          <a:p>
            <a:pPr algn="ctr" indent="0" marL="0">
              <a:lnSpc>
                <a:spcPts val="1600"/>
              </a:lnSpc>
              <a:buNone/>
            </a:pPr>
            <a:r>
              <a:rPr lang="en-US" sz="1300" b="1" dirty="0">
                <a:solidFill>
                  <a:srgbClr val="F1F5FB"/>
                </a:solidFill>
                <a:latin typeface="Calibri" pitchFamily="34" charset="0"/>
                <a:ea typeface="Calibri" pitchFamily="34" charset="-122"/>
                <a:cs typeface="Calibri" pitchFamily="34" charset="-120"/>
              </a:rPr>
              <a:t>UNCERTAINTY</a:t>
            </a:r>
            <a:endParaRPr lang="en-US" sz="1300" dirty="0"/>
          </a:p>
        </p:txBody>
      </p:sp>
      <p:sp>
        <p:nvSpPr>
          <p:cNvPr id="16" name="Shape 13"/>
          <p:cNvSpPr/>
          <p:nvPr/>
        </p:nvSpPr>
        <p:spPr>
          <a:xfrm>
            <a:off x="3344418" y="2587752"/>
            <a:ext cx="2658618" cy="777240"/>
          </a:xfrm>
          <a:prstGeom prst="roundRect">
            <a:avLst>
              <a:gd name="adj" fmla="val 8235"/>
            </a:avLst>
          </a:prstGeom>
          <a:solidFill>
            <a:srgbClr val="0F2733"/>
          </a:solidFill>
          <a:ln w="12700">
            <a:solidFill>
              <a:srgbClr val="26314A"/>
            </a:solidFill>
            <a:prstDash val="solid"/>
          </a:ln>
        </p:spPr>
      </p:sp>
      <p:sp>
        <p:nvSpPr>
          <p:cNvPr id="17" name="Text 14"/>
          <p:cNvSpPr/>
          <p:nvPr/>
        </p:nvSpPr>
        <p:spPr>
          <a:xfrm>
            <a:off x="3399282" y="2587752"/>
            <a:ext cx="2548890" cy="777240"/>
          </a:xfrm>
          <a:prstGeom prst="rect">
            <a:avLst/>
          </a:prstGeom>
          <a:noFill/>
          <a:ln/>
        </p:spPr>
        <p:txBody>
          <a:bodyPr wrap="square" lIns="0" tIns="0" rIns="0" bIns="0" rtlCol="0" anchor="ctr"/>
          <a:lstStyle/>
          <a:p>
            <a:pPr algn="ctr" indent="0" marL="0">
              <a:lnSpc>
                <a:spcPts val="1600"/>
              </a:lnSpc>
              <a:buNone/>
            </a:pPr>
            <a:r>
              <a:rPr lang="en-US" sz="1300" b="1" dirty="0">
                <a:solidFill>
                  <a:srgbClr val="F1F5FB"/>
                </a:solidFill>
                <a:latin typeface="Calibri" pitchFamily="34" charset="0"/>
                <a:ea typeface="Calibri" pitchFamily="34" charset="-122"/>
                <a:cs typeface="Calibri" pitchFamily="34" charset="-120"/>
              </a:rPr>
              <a:t>MONTE CARLO</a:t>
            </a:r>
            <a:endParaRPr lang="en-US" sz="1300" dirty="0"/>
          </a:p>
          <a:p>
            <a:pPr algn="ctr" indent="0" marL="0">
              <a:lnSpc>
                <a:spcPts val="1600"/>
              </a:lnSpc>
              <a:buNone/>
            </a:pPr>
            <a:r>
              <a:rPr lang="en-US" sz="1300" b="1" dirty="0">
                <a:solidFill>
                  <a:srgbClr val="F1F5FB"/>
                </a:solidFill>
                <a:latin typeface="Calibri" pitchFamily="34" charset="0"/>
                <a:ea typeface="Calibri" pitchFamily="34" charset="-122"/>
                <a:cs typeface="Calibri" pitchFamily="34" charset="-120"/>
              </a:rPr>
              <a:t>ENSEMBLE</a:t>
            </a:r>
            <a:endParaRPr lang="en-US" sz="1300" dirty="0"/>
          </a:p>
        </p:txBody>
      </p:sp>
      <p:sp>
        <p:nvSpPr>
          <p:cNvPr id="18" name="Shape 15"/>
          <p:cNvSpPr/>
          <p:nvPr/>
        </p:nvSpPr>
        <p:spPr>
          <a:xfrm>
            <a:off x="6185916" y="2587752"/>
            <a:ext cx="2658618" cy="777240"/>
          </a:xfrm>
          <a:prstGeom prst="roundRect">
            <a:avLst>
              <a:gd name="adj" fmla="val 8235"/>
            </a:avLst>
          </a:prstGeom>
          <a:solidFill>
            <a:srgbClr val="0F2733"/>
          </a:solidFill>
          <a:ln w="12700">
            <a:solidFill>
              <a:srgbClr val="26314A"/>
            </a:solidFill>
            <a:prstDash val="solid"/>
          </a:ln>
        </p:spPr>
      </p:sp>
      <p:sp>
        <p:nvSpPr>
          <p:cNvPr id="19" name="Text 16"/>
          <p:cNvSpPr/>
          <p:nvPr/>
        </p:nvSpPr>
        <p:spPr>
          <a:xfrm>
            <a:off x="6240780" y="2587752"/>
            <a:ext cx="2548890" cy="777240"/>
          </a:xfrm>
          <a:prstGeom prst="rect">
            <a:avLst/>
          </a:prstGeom>
          <a:noFill/>
          <a:ln/>
        </p:spPr>
        <p:txBody>
          <a:bodyPr wrap="square" lIns="0" tIns="0" rIns="0" bIns="0" rtlCol="0" anchor="ctr"/>
          <a:lstStyle/>
          <a:p>
            <a:pPr algn="ctr" indent="0" marL="0">
              <a:lnSpc>
                <a:spcPts val="1600"/>
              </a:lnSpc>
              <a:buNone/>
            </a:pPr>
            <a:r>
              <a:rPr lang="en-US" sz="1300" b="1" dirty="0">
                <a:solidFill>
                  <a:srgbClr val="F1F5FB"/>
                </a:solidFill>
                <a:latin typeface="Calibri" pitchFamily="34" charset="0"/>
                <a:ea typeface="Calibri" pitchFamily="34" charset="-122"/>
                <a:cs typeface="Calibri" pitchFamily="34" charset="-120"/>
              </a:rPr>
              <a:t>FUTURE STATE</a:t>
            </a:r>
            <a:endParaRPr lang="en-US" sz="1300" dirty="0"/>
          </a:p>
          <a:p>
            <a:pPr algn="ctr" indent="0" marL="0">
              <a:lnSpc>
                <a:spcPts val="1600"/>
              </a:lnSpc>
              <a:buNone/>
            </a:pPr>
            <a:r>
              <a:rPr lang="en-US" sz="1300" b="1" dirty="0">
                <a:solidFill>
                  <a:srgbClr val="F1F5FB"/>
                </a:solidFill>
                <a:latin typeface="Calibri" pitchFamily="34" charset="0"/>
                <a:ea typeface="Calibri" pitchFamily="34" charset="-122"/>
                <a:cs typeface="Calibri" pitchFamily="34" charset="-120"/>
              </a:rPr>
              <a:t>ENVELOPE</a:t>
            </a:r>
            <a:endParaRPr lang="en-US" sz="1300" dirty="0"/>
          </a:p>
        </p:txBody>
      </p:sp>
      <p:sp>
        <p:nvSpPr>
          <p:cNvPr id="20" name="Shape 17"/>
          <p:cNvSpPr/>
          <p:nvPr/>
        </p:nvSpPr>
        <p:spPr>
          <a:xfrm>
            <a:off x="9027414" y="2587752"/>
            <a:ext cx="2658618" cy="777240"/>
          </a:xfrm>
          <a:prstGeom prst="roundRect">
            <a:avLst>
              <a:gd name="adj" fmla="val 8235"/>
            </a:avLst>
          </a:prstGeom>
          <a:solidFill>
            <a:srgbClr val="0F2733"/>
          </a:solidFill>
          <a:ln w="12700">
            <a:solidFill>
              <a:srgbClr val="26314A"/>
            </a:solidFill>
            <a:prstDash val="solid"/>
          </a:ln>
        </p:spPr>
      </p:sp>
      <p:sp>
        <p:nvSpPr>
          <p:cNvPr id="21" name="Text 18"/>
          <p:cNvSpPr/>
          <p:nvPr/>
        </p:nvSpPr>
        <p:spPr>
          <a:xfrm>
            <a:off x="9082278" y="2587752"/>
            <a:ext cx="2548890" cy="777240"/>
          </a:xfrm>
          <a:prstGeom prst="rect">
            <a:avLst/>
          </a:prstGeom>
          <a:noFill/>
          <a:ln/>
        </p:spPr>
        <p:txBody>
          <a:bodyPr wrap="square" lIns="0" tIns="0" rIns="0" bIns="0" rtlCol="0" anchor="ctr"/>
          <a:lstStyle/>
          <a:p>
            <a:pPr algn="ctr" indent="0" marL="0">
              <a:lnSpc>
                <a:spcPts val="1600"/>
              </a:lnSpc>
              <a:buNone/>
            </a:pPr>
            <a:r>
              <a:rPr lang="en-US" sz="1300" b="1" dirty="0">
                <a:solidFill>
                  <a:srgbClr val="F1F5FB"/>
                </a:solidFill>
                <a:latin typeface="Calibri" pitchFamily="34" charset="0"/>
                <a:ea typeface="Calibri" pitchFamily="34" charset="-122"/>
                <a:cs typeface="Calibri" pitchFamily="34" charset="-120"/>
              </a:rPr>
              <a:t>SCENARIO</a:t>
            </a:r>
            <a:endParaRPr lang="en-US" sz="1300" dirty="0"/>
          </a:p>
          <a:p>
            <a:pPr algn="ctr" indent="0" marL="0">
              <a:lnSpc>
                <a:spcPts val="1600"/>
              </a:lnSpc>
              <a:buNone/>
            </a:pPr>
            <a:r>
              <a:rPr lang="en-US" sz="1300" b="1" dirty="0">
                <a:solidFill>
                  <a:srgbClr val="F1F5FB"/>
                </a:solidFill>
                <a:latin typeface="Calibri" pitchFamily="34" charset="0"/>
                <a:ea typeface="Calibri" pitchFamily="34" charset="-122"/>
                <a:cs typeface="Calibri" pitchFamily="34" charset="-120"/>
              </a:rPr>
              <a:t>ENGINE</a:t>
            </a:r>
            <a:endParaRPr lang="en-US" sz="1300" dirty="0"/>
          </a:p>
        </p:txBody>
      </p:sp>
      <p:sp>
        <p:nvSpPr>
          <p:cNvPr id="22" name="Shape 19"/>
          <p:cNvSpPr/>
          <p:nvPr/>
        </p:nvSpPr>
        <p:spPr>
          <a:xfrm>
            <a:off x="10356723" y="3364992"/>
            <a:ext cx="0" cy="100584"/>
          </a:xfrm>
          <a:prstGeom prst="line">
            <a:avLst/>
          </a:prstGeom>
          <a:noFill/>
          <a:ln w="19050">
            <a:solidFill>
              <a:srgbClr val="4DD9EC"/>
            </a:solidFill>
            <a:prstDash val="solid"/>
          </a:ln>
        </p:spPr>
      </p:sp>
      <p:sp>
        <p:nvSpPr>
          <p:cNvPr id="23" name="Shape 20"/>
          <p:cNvSpPr/>
          <p:nvPr/>
        </p:nvSpPr>
        <p:spPr>
          <a:xfrm>
            <a:off x="2275332" y="3465576"/>
            <a:ext cx="7638288" cy="0"/>
          </a:xfrm>
          <a:prstGeom prst="line">
            <a:avLst/>
          </a:prstGeom>
          <a:noFill/>
          <a:ln w="19050">
            <a:solidFill>
              <a:srgbClr val="4DD9EC"/>
            </a:solidFill>
            <a:prstDash val="solid"/>
          </a:ln>
        </p:spPr>
      </p:sp>
      <p:sp>
        <p:nvSpPr>
          <p:cNvPr id="24" name="Shape 21"/>
          <p:cNvSpPr/>
          <p:nvPr/>
        </p:nvSpPr>
        <p:spPr>
          <a:xfrm>
            <a:off x="2275332" y="3465576"/>
            <a:ext cx="0" cy="109728"/>
          </a:xfrm>
          <a:prstGeom prst="line">
            <a:avLst/>
          </a:prstGeom>
          <a:noFill/>
          <a:ln w="19050">
            <a:solidFill>
              <a:srgbClr val="4DD9EC"/>
            </a:solidFill>
            <a:prstDash val="solid"/>
          </a:ln>
        </p:spPr>
      </p:sp>
      <p:sp>
        <p:nvSpPr>
          <p:cNvPr id="25" name="Shape 22"/>
          <p:cNvSpPr/>
          <p:nvPr/>
        </p:nvSpPr>
        <p:spPr>
          <a:xfrm>
            <a:off x="6094476" y="3465576"/>
            <a:ext cx="0" cy="109728"/>
          </a:xfrm>
          <a:prstGeom prst="line">
            <a:avLst/>
          </a:prstGeom>
          <a:noFill/>
          <a:ln w="19050">
            <a:solidFill>
              <a:srgbClr val="4DD9EC"/>
            </a:solidFill>
            <a:prstDash val="solid"/>
          </a:ln>
        </p:spPr>
      </p:sp>
      <p:sp>
        <p:nvSpPr>
          <p:cNvPr id="26" name="Shape 23"/>
          <p:cNvSpPr/>
          <p:nvPr/>
        </p:nvSpPr>
        <p:spPr>
          <a:xfrm>
            <a:off x="9913620" y="3465576"/>
            <a:ext cx="0" cy="109728"/>
          </a:xfrm>
          <a:prstGeom prst="line">
            <a:avLst/>
          </a:prstGeom>
          <a:noFill/>
          <a:ln w="19050">
            <a:solidFill>
              <a:srgbClr val="4DD9EC"/>
            </a:solidFill>
            <a:prstDash val="solid"/>
          </a:ln>
        </p:spPr>
      </p:sp>
      <p:sp>
        <p:nvSpPr>
          <p:cNvPr id="27" name="Shape 24"/>
          <p:cNvSpPr/>
          <p:nvPr/>
        </p:nvSpPr>
        <p:spPr>
          <a:xfrm>
            <a:off x="502920" y="3575304"/>
            <a:ext cx="3544824" cy="548640"/>
          </a:xfrm>
          <a:prstGeom prst="roundRect">
            <a:avLst>
              <a:gd name="adj" fmla="val 11667"/>
            </a:avLst>
          </a:prstGeom>
          <a:solidFill>
            <a:srgbClr val="0B1220"/>
          </a:solidFill>
          <a:ln w="25400">
            <a:solidFill>
              <a:srgbClr val="5E6A82"/>
            </a:solidFill>
            <a:prstDash val="solid"/>
          </a:ln>
        </p:spPr>
      </p:sp>
      <p:sp>
        <p:nvSpPr>
          <p:cNvPr id="28" name="Text 25"/>
          <p:cNvSpPr/>
          <p:nvPr/>
        </p:nvSpPr>
        <p:spPr>
          <a:xfrm>
            <a:off x="557784" y="3575304"/>
            <a:ext cx="3435096" cy="548640"/>
          </a:xfrm>
          <a:prstGeom prst="rect">
            <a:avLst/>
          </a:prstGeom>
          <a:noFill/>
          <a:ln/>
        </p:spPr>
        <p:txBody>
          <a:bodyPr wrap="square" lIns="0" tIns="0" rIns="0" bIns="0" rtlCol="0" anchor="ctr"/>
          <a:lstStyle/>
          <a:p>
            <a:pPr algn="ctr" indent="0" marL="0">
              <a:lnSpc>
                <a:spcPts val="1650"/>
              </a:lnSpc>
              <a:buNone/>
            </a:pPr>
            <a:r>
              <a:rPr lang="en-US" sz="1350" b="1" dirty="0">
                <a:solidFill>
                  <a:srgbClr val="F1F5FB"/>
                </a:solidFill>
                <a:latin typeface="Calibri" pitchFamily="34" charset="0"/>
                <a:ea typeface="Calibri" pitchFamily="34" charset="-122"/>
                <a:cs typeface="Calibri" pitchFamily="34" charset="-120"/>
              </a:rPr>
              <a:t>NO ACTION</a:t>
            </a:r>
            <a:endParaRPr lang="en-US" sz="1350" dirty="0"/>
          </a:p>
        </p:txBody>
      </p:sp>
      <p:sp>
        <p:nvSpPr>
          <p:cNvPr id="29" name="Shape 26"/>
          <p:cNvSpPr/>
          <p:nvPr/>
        </p:nvSpPr>
        <p:spPr>
          <a:xfrm>
            <a:off x="4322064" y="3575304"/>
            <a:ext cx="3544824" cy="548640"/>
          </a:xfrm>
          <a:prstGeom prst="roundRect">
            <a:avLst>
              <a:gd name="adj" fmla="val 11667"/>
            </a:avLst>
          </a:prstGeom>
          <a:solidFill>
            <a:srgbClr val="0B1220"/>
          </a:solidFill>
          <a:ln w="25400">
            <a:solidFill>
              <a:srgbClr val="4DD9EC"/>
            </a:solidFill>
            <a:prstDash val="solid"/>
          </a:ln>
        </p:spPr>
      </p:sp>
      <p:sp>
        <p:nvSpPr>
          <p:cNvPr id="30" name="Text 27"/>
          <p:cNvSpPr/>
          <p:nvPr/>
        </p:nvSpPr>
        <p:spPr>
          <a:xfrm>
            <a:off x="4376928" y="3575304"/>
            <a:ext cx="3435096" cy="548640"/>
          </a:xfrm>
          <a:prstGeom prst="rect">
            <a:avLst/>
          </a:prstGeom>
          <a:noFill/>
          <a:ln/>
        </p:spPr>
        <p:txBody>
          <a:bodyPr wrap="square" lIns="0" tIns="0" rIns="0" bIns="0" rtlCol="0" anchor="ctr"/>
          <a:lstStyle/>
          <a:p>
            <a:pPr algn="ctr" indent="0" marL="0">
              <a:lnSpc>
                <a:spcPts val="1650"/>
              </a:lnSpc>
              <a:buNone/>
            </a:pPr>
            <a:r>
              <a:rPr lang="en-US" sz="1350" b="1" dirty="0">
                <a:solidFill>
                  <a:srgbClr val="F1F5FB"/>
                </a:solidFill>
                <a:latin typeface="Calibri" pitchFamily="34" charset="0"/>
                <a:ea typeface="Calibri" pitchFamily="34" charset="-122"/>
                <a:cs typeface="Calibri" pitchFamily="34" charset="-120"/>
              </a:rPr>
              <a:t>MANEUVER A</a:t>
            </a:r>
            <a:endParaRPr lang="en-US" sz="1350" dirty="0"/>
          </a:p>
        </p:txBody>
      </p:sp>
      <p:sp>
        <p:nvSpPr>
          <p:cNvPr id="31" name="Shape 28"/>
          <p:cNvSpPr/>
          <p:nvPr/>
        </p:nvSpPr>
        <p:spPr>
          <a:xfrm>
            <a:off x="8141208" y="3575304"/>
            <a:ext cx="3544824" cy="548640"/>
          </a:xfrm>
          <a:prstGeom prst="roundRect">
            <a:avLst>
              <a:gd name="adj" fmla="val 11667"/>
            </a:avLst>
          </a:prstGeom>
          <a:solidFill>
            <a:srgbClr val="0B1220"/>
          </a:solidFill>
          <a:ln w="25400">
            <a:solidFill>
              <a:srgbClr val="F2AA3E"/>
            </a:solidFill>
            <a:prstDash val="solid"/>
          </a:ln>
        </p:spPr>
      </p:sp>
      <p:sp>
        <p:nvSpPr>
          <p:cNvPr id="32" name="Text 29"/>
          <p:cNvSpPr/>
          <p:nvPr/>
        </p:nvSpPr>
        <p:spPr>
          <a:xfrm>
            <a:off x="8196072" y="3575304"/>
            <a:ext cx="3435096" cy="548640"/>
          </a:xfrm>
          <a:prstGeom prst="rect">
            <a:avLst/>
          </a:prstGeom>
          <a:noFill/>
          <a:ln/>
        </p:spPr>
        <p:txBody>
          <a:bodyPr wrap="square" lIns="0" tIns="0" rIns="0" bIns="0" rtlCol="0" anchor="ctr"/>
          <a:lstStyle/>
          <a:p>
            <a:pPr algn="ctr" indent="0" marL="0">
              <a:lnSpc>
                <a:spcPts val="1650"/>
              </a:lnSpc>
              <a:buNone/>
            </a:pPr>
            <a:r>
              <a:rPr lang="en-US" sz="1350" b="1" dirty="0">
                <a:solidFill>
                  <a:srgbClr val="F1F5FB"/>
                </a:solidFill>
                <a:latin typeface="Calibri" pitchFamily="34" charset="0"/>
                <a:ea typeface="Calibri" pitchFamily="34" charset="-122"/>
                <a:cs typeface="Calibri" pitchFamily="34" charset="-120"/>
              </a:rPr>
              <a:t>MANEUVER B</a:t>
            </a:r>
            <a:endParaRPr lang="en-US" sz="1350" dirty="0"/>
          </a:p>
        </p:txBody>
      </p:sp>
      <p:sp>
        <p:nvSpPr>
          <p:cNvPr id="33" name="Text 30"/>
          <p:cNvSpPr/>
          <p:nvPr/>
        </p:nvSpPr>
        <p:spPr>
          <a:xfrm>
            <a:off x="502920" y="4215384"/>
            <a:ext cx="11183112" cy="182880"/>
          </a:xfrm>
          <a:prstGeom prst="rect">
            <a:avLst/>
          </a:prstGeom>
          <a:noFill/>
          <a:ln/>
        </p:spPr>
        <p:txBody>
          <a:bodyPr wrap="square" lIns="0" tIns="0" rIns="0" bIns="0" rtlCol="0" anchor="ctr"/>
          <a:lstStyle/>
          <a:p>
            <a:pPr algn="ctr" indent="0" marL="0">
              <a:buNone/>
            </a:pPr>
            <a:r>
              <a:rPr lang="en-US" sz="1200" dirty="0">
                <a:solidFill>
                  <a:srgbClr val="4DD9EC"/>
                </a:solidFill>
                <a:latin typeface="Calibri" pitchFamily="34" charset="0"/>
                <a:ea typeface="Calibri" pitchFamily="34" charset="-122"/>
                <a:cs typeface="Calibri" pitchFamily="34" charset="-120"/>
              </a:rPr>
              <a:t>▾   ▾   ▾   ▾   ▾</a:t>
            </a:r>
            <a:endParaRPr lang="en-US" sz="1200" dirty="0"/>
          </a:p>
        </p:txBody>
      </p:sp>
      <p:sp>
        <p:nvSpPr>
          <p:cNvPr id="34" name="Shape 31"/>
          <p:cNvSpPr/>
          <p:nvPr/>
        </p:nvSpPr>
        <p:spPr>
          <a:xfrm>
            <a:off x="502920" y="4434840"/>
            <a:ext cx="5500116" cy="777240"/>
          </a:xfrm>
          <a:prstGeom prst="roundRect">
            <a:avLst>
              <a:gd name="adj" fmla="val 8235"/>
            </a:avLst>
          </a:prstGeom>
          <a:solidFill>
            <a:srgbClr val="0F2733"/>
          </a:solidFill>
          <a:ln w="12700">
            <a:solidFill>
              <a:srgbClr val="26314A"/>
            </a:solidFill>
            <a:prstDash val="solid"/>
          </a:ln>
        </p:spPr>
      </p:sp>
      <p:sp>
        <p:nvSpPr>
          <p:cNvPr id="35" name="Text 32"/>
          <p:cNvSpPr/>
          <p:nvPr/>
        </p:nvSpPr>
        <p:spPr>
          <a:xfrm>
            <a:off x="557784" y="4434840"/>
            <a:ext cx="5390388" cy="777240"/>
          </a:xfrm>
          <a:prstGeom prst="rect">
            <a:avLst/>
          </a:prstGeom>
          <a:noFill/>
          <a:ln/>
        </p:spPr>
        <p:txBody>
          <a:bodyPr wrap="square" lIns="0" tIns="0" rIns="0" bIns="0" rtlCol="0" anchor="ctr"/>
          <a:lstStyle/>
          <a:p>
            <a:pPr algn="ctr" indent="0" marL="0">
              <a:lnSpc>
                <a:spcPts val="1700"/>
              </a:lnSpc>
              <a:buNone/>
            </a:pPr>
            <a:r>
              <a:rPr lang="en-US" sz="1400" b="1" dirty="0">
                <a:solidFill>
                  <a:srgbClr val="F1F5FB"/>
                </a:solidFill>
                <a:latin typeface="Calibri" pitchFamily="34" charset="0"/>
                <a:ea typeface="Calibri" pitchFamily="34" charset="-122"/>
                <a:cs typeface="Calibri" pitchFamily="34" charset="-120"/>
              </a:rPr>
              <a:t>MULTI-OBJECT +</a:t>
            </a:r>
            <a:endParaRPr lang="en-US" sz="1400" dirty="0"/>
          </a:p>
          <a:p>
            <a:pPr algn="ctr" indent="0" marL="0">
              <a:lnSpc>
                <a:spcPts val="1700"/>
              </a:lnSpc>
              <a:buNone/>
            </a:pPr>
            <a:r>
              <a:rPr lang="en-US" sz="1400" b="1" dirty="0">
                <a:solidFill>
                  <a:srgbClr val="F1F5FB"/>
                </a:solidFill>
                <a:latin typeface="Calibri" pitchFamily="34" charset="0"/>
                <a:ea typeface="Calibri" pitchFamily="34" charset="-122"/>
                <a:cs typeface="Calibri" pitchFamily="34" charset="-120"/>
              </a:rPr>
              <a:t>MULTI-HORIZON</a:t>
            </a:r>
            <a:endParaRPr lang="en-US" sz="1400" dirty="0"/>
          </a:p>
        </p:txBody>
      </p:sp>
      <p:sp>
        <p:nvSpPr>
          <p:cNvPr id="36" name="Shape 33"/>
          <p:cNvSpPr/>
          <p:nvPr/>
        </p:nvSpPr>
        <p:spPr>
          <a:xfrm>
            <a:off x="6185916" y="4434840"/>
            <a:ext cx="5500116" cy="777240"/>
          </a:xfrm>
          <a:prstGeom prst="roundRect">
            <a:avLst>
              <a:gd name="adj" fmla="val 8235"/>
            </a:avLst>
          </a:prstGeom>
          <a:solidFill>
            <a:srgbClr val="0F2733"/>
          </a:solidFill>
          <a:ln w="12700">
            <a:solidFill>
              <a:srgbClr val="26314A"/>
            </a:solidFill>
            <a:prstDash val="solid"/>
          </a:ln>
        </p:spPr>
      </p:sp>
      <p:sp>
        <p:nvSpPr>
          <p:cNvPr id="37" name="Text 34"/>
          <p:cNvSpPr/>
          <p:nvPr/>
        </p:nvSpPr>
        <p:spPr>
          <a:xfrm>
            <a:off x="6240780" y="4434840"/>
            <a:ext cx="5390388" cy="777240"/>
          </a:xfrm>
          <a:prstGeom prst="rect">
            <a:avLst/>
          </a:prstGeom>
          <a:noFill/>
          <a:ln/>
        </p:spPr>
        <p:txBody>
          <a:bodyPr wrap="square" lIns="0" tIns="0" rIns="0" bIns="0" rtlCol="0" anchor="ctr"/>
          <a:lstStyle/>
          <a:p>
            <a:pPr algn="ctr" indent="0" marL="0">
              <a:lnSpc>
                <a:spcPts val="1700"/>
              </a:lnSpc>
              <a:buNone/>
            </a:pPr>
            <a:r>
              <a:rPr lang="en-US" sz="1400" b="1" dirty="0">
                <a:solidFill>
                  <a:srgbClr val="F1F5FB"/>
                </a:solidFill>
                <a:latin typeface="Calibri" pitchFamily="34" charset="0"/>
                <a:ea typeface="Calibri" pitchFamily="34" charset="-122"/>
                <a:cs typeface="Calibri" pitchFamily="34" charset="-120"/>
              </a:rPr>
              <a:t>DECISION</a:t>
            </a:r>
            <a:endParaRPr lang="en-US" sz="1400" dirty="0"/>
          </a:p>
          <a:p>
            <a:pPr algn="ctr" indent="0" marL="0">
              <a:lnSpc>
                <a:spcPts val="1700"/>
              </a:lnSpc>
              <a:buNone/>
            </a:pPr>
            <a:r>
              <a:rPr lang="en-US" sz="1400" b="1" dirty="0">
                <a:solidFill>
                  <a:srgbClr val="F1F5FB"/>
                </a:solidFill>
                <a:latin typeface="Calibri" pitchFamily="34" charset="0"/>
                <a:ea typeface="Calibri" pitchFamily="34" charset="-122"/>
                <a:cs typeface="Calibri" pitchFamily="34" charset="-120"/>
              </a:rPr>
              <a:t>SENSITIVITY</a:t>
            </a:r>
            <a:endParaRPr lang="en-US" sz="1400" dirty="0"/>
          </a:p>
        </p:txBody>
      </p:sp>
      <p:sp>
        <p:nvSpPr>
          <p:cNvPr id="38" name="Text 35"/>
          <p:cNvSpPr/>
          <p:nvPr/>
        </p:nvSpPr>
        <p:spPr>
          <a:xfrm>
            <a:off x="502920" y="5321808"/>
            <a:ext cx="11183112" cy="182880"/>
          </a:xfrm>
          <a:prstGeom prst="rect">
            <a:avLst/>
          </a:prstGeom>
          <a:noFill/>
          <a:ln/>
        </p:spPr>
        <p:txBody>
          <a:bodyPr wrap="square" lIns="0" tIns="0" rIns="0" bIns="0" rtlCol="0" anchor="ctr"/>
          <a:lstStyle/>
          <a:p>
            <a:pPr algn="ctr" indent="0" marL="0">
              <a:buNone/>
            </a:pPr>
            <a:r>
              <a:rPr lang="en-US" sz="1200" dirty="0">
                <a:solidFill>
                  <a:srgbClr val="4DD9EC"/>
                </a:solidFill>
                <a:latin typeface="Calibri" pitchFamily="34" charset="0"/>
                <a:ea typeface="Calibri" pitchFamily="34" charset="-122"/>
                <a:cs typeface="Calibri" pitchFamily="34" charset="-120"/>
              </a:rPr>
              <a:t>▾   ▾   ▾   ▾   ▾</a:t>
            </a:r>
            <a:endParaRPr lang="en-US" sz="1200" dirty="0"/>
          </a:p>
        </p:txBody>
      </p:sp>
      <p:sp>
        <p:nvSpPr>
          <p:cNvPr id="39" name="Shape 36"/>
          <p:cNvSpPr/>
          <p:nvPr/>
        </p:nvSpPr>
        <p:spPr>
          <a:xfrm>
            <a:off x="3168396" y="5559552"/>
            <a:ext cx="5852160" cy="658368"/>
          </a:xfrm>
          <a:prstGeom prst="roundRect">
            <a:avLst>
              <a:gd name="adj" fmla="val 9722"/>
            </a:avLst>
          </a:prstGeom>
          <a:solidFill>
            <a:srgbClr val="4DD9EC"/>
          </a:solidFill>
          <a:ln w="12700">
            <a:solidFill>
              <a:srgbClr val="4DD9EC"/>
            </a:solidFill>
            <a:prstDash val="solid"/>
          </a:ln>
        </p:spPr>
      </p:sp>
      <p:sp>
        <p:nvSpPr>
          <p:cNvPr id="40" name="Text 37"/>
          <p:cNvSpPr/>
          <p:nvPr/>
        </p:nvSpPr>
        <p:spPr>
          <a:xfrm>
            <a:off x="3223260" y="5559552"/>
            <a:ext cx="5742432" cy="658368"/>
          </a:xfrm>
          <a:prstGeom prst="rect">
            <a:avLst/>
          </a:prstGeom>
          <a:noFill/>
          <a:ln/>
        </p:spPr>
        <p:txBody>
          <a:bodyPr wrap="square" lIns="0" tIns="0" rIns="0" bIns="0" rtlCol="0" anchor="ctr"/>
          <a:lstStyle/>
          <a:p>
            <a:pPr algn="ctr" indent="0" marL="0">
              <a:lnSpc>
                <a:spcPts val="1750"/>
              </a:lnSpc>
              <a:buNone/>
            </a:pPr>
            <a:r>
              <a:rPr lang="en-US" sz="1450" b="1" dirty="0">
                <a:solidFill>
                  <a:srgbClr val="060911"/>
                </a:solidFill>
                <a:latin typeface="Calibri" pitchFamily="34" charset="0"/>
                <a:ea typeface="Calibri" pitchFamily="34" charset="-122"/>
                <a:cs typeface="Calibri" pitchFamily="34" charset="-120"/>
              </a:rPr>
              <a:t>HUMAN OPERATOR  —  REVIEW → INTERPRET → DECIDE</a:t>
            </a:r>
            <a:endParaRPr lang="en-US" sz="1450" dirty="0"/>
          </a:p>
        </p:txBody>
      </p:sp>
      <p:sp>
        <p:nvSpPr>
          <p:cNvPr id="41" name="Text 38"/>
          <p:cNvSpPr/>
          <p:nvPr/>
        </p:nvSpPr>
        <p:spPr>
          <a:xfrm>
            <a:off x="502920" y="6565392"/>
            <a:ext cx="6400800" cy="228600"/>
          </a:xfrm>
          <a:prstGeom prst="rect">
            <a:avLst/>
          </a:prstGeom>
          <a:noFill/>
          <a:ln/>
        </p:spPr>
        <p:txBody>
          <a:bodyPr wrap="square" lIns="0" tIns="0" rIns="0" bIns="0" rtlCol="0" anchor="ctr"/>
          <a:lstStyle/>
          <a:p>
            <a:pPr indent="0" marL="0">
              <a:buNone/>
            </a:pPr>
            <a:r>
              <a:rPr lang="en-US" sz="850" dirty="0">
                <a:solidFill>
                  <a:srgbClr val="5E6A82"/>
                </a:solidFill>
                <a:latin typeface="Calibri" pitchFamily="34" charset="0"/>
                <a:ea typeface="Calibri" pitchFamily="34" charset="-122"/>
                <a:cs typeface="Calibri" pitchFamily="34" charset="-120"/>
              </a:rPr>
              <a:t>ORBITAL FUTURE DECISION ENGINE  ·  FANTASTIC 4</a:t>
            </a:r>
            <a:endParaRPr lang="en-US" sz="850" dirty="0"/>
          </a:p>
        </p:txBody>
      </p:sp>
      <p:sp>
        <p:nvSpPr>
          <p:cNvPr id="42" name="Text 39"/>
          <p:cNvSpPr/>
          <p:nvPr/>
        </p:nvSpPr>
        <p:spPr>
          <a:xfrm>
            <a:off x="8686800" y="6565392"/>
            <a:ext cx="3017520" cy="228600"/>
          </a:xfrm>
          <a:prstGeom prst="rect">
            <a:avLst/>
          </a:prstGeom>
          <a:noFill/>
          <a:ln/>
        </p:spPr>
        <p:txBody>
          <a:bodyPr wrap="square" lIns="0" tIns="0" rIns="0" bIns="0" rtlCol="0" anchor="ctr"/>
          <a:lstStyle/>
          <a:p>
            <a:pPr algn="r" indent="0" marL="0">
              <a:buNone/>
            </a:pPr>
            <a:r>
              <a:rPr lang="en-US" sz="850" spc="100" kern="0" dirty="0">
                <a:solidFill>
                  <a:srgbClr val="185C68"/>
                </a:solidFill>
                <a:latin typeface="Calibri" pitchFamily="34" charset="0"/>
                <a:ea typeface="Calibri" pitchFamily="34" charset="-122"/>
                <a:cs typeface="Calibri" pitchFamily="34" charset="-120"/>
              </a:rPr>
              <a:t>MISSION: OFDE-01</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60911"/>
        </a:solidFill>
      </p:bgPr>
    </p:bg>
    <p:spTree>
      <p:nvGrpSpPr>
        <p:cNvPr id="1" name=""/>
        <p:cNvGrpSpPr/>
        <p:nvPr/>
      </p:nvGrpSpPr>
      <p:grpSpPr>
        <a:xfrm>
          <a:off x="0" y="0"/>
          <a:ext cx="0" cy="0"/>
          <a:chOff x="0" y="0"/>
          <a:chExt cx="0" cy="0"/>
        </a:xfrm>
      </p:grpSpPr>
      <p:pic>
        <p:nvPicPr>
          <p:cNvPr id="2" name="Image 0" descr="/home/claude/assets/erospace_rgba.png">    </p:cNvPr>
          <p:cNvPicPr>
            <a:picLocks noChangeAspect="1"/>
          </p:cNvPicPr>
          <p:nvPr/>
        </p:nvPicPr>
        <p:blipFill>
          <a:blip r:embed="rId1">
            <a:alphaModFix amt="75000"/>
          </a:blip>
          <a:stretch>
            <a:fillRect/>
          </a:stretch>
        </p:blipFill>
        <p:spPr>
          <a:xfrm>
            <a:off x="10561320" y="292608"/>
            <a:ext cx="1325880" cy="459943"/>
          </a:xfrm>
          <a:prstGeom prst="rect">
            <a:avLst/>
          </a:prstGeom>
        </p:spPr>
      </p:pic>
      <p:sp>
        <p:nvSpPr>
          <p:cNvPr id="3" name="Text 0"/>
          <p:cNvSpPr/>
          <p:nvPr/>
        </p:nvSpPr>
        <p:spPr>
          <a:xfrm>
            <a:off x="502920" y="365760"/>
            <a:ext cx="8229600" cy="292608"/>
          </a:xfrm>
          <a:prstGeom prst="rect">
            <a:avLst/>
          </a:prstGeom>
          <a:noFill/>
          <a:ln/>
        </p:spPr>
        <p:txBody>
          <a:bodyPr wrap="square" lIns="0" tIns="0" rIns="0" bIns="0" rtlCol="0" anchor="ctr"/>
          <a:lstStyle/>
          <a:p>
            <a:pPr indent="0" marL="0">
              <a:buNone/>
            </a:pPr>
            <a:r>
              <a:rPr lang="en-US" sz="1300" b="1" spc="200" kern="0" dirty="0">
                <a:solidFill>
                  <a:srgbClr val="4DD9EC"/>
                </a:solidFill>
                <a:latin typeface="Calibri" pitchFamily="34" charset="0"/>
                <a:ea typeface="Calibri" pitchFamily="34" charset="-122"/>
                <a:cs typeface="Calibri" pitchFamily="34" charset="-120"/>
              </a:rPr>
              <a:t>HOW IT WORKS</a:t>
            </a:r>
            <a:endParaRPr lang="en-US" sz="1300" dirty="0"/>
          </a:p>
        </p:txBody>
      </p:sp>
      <p:sp>
        <p:nvSpPr>
          <p:cNvPr id="4" name="Text 1"/>
          <p:cNvSpPr/>
          <p:nvPr/>
        </p:nvSpPr>
        <p:spPr>
          <a:xfrm>
            <a:off x="502920" y="658368"/>
            <a:ext cx="10972800" cy="685800"/>
          </a:xfrm>
          <a:prstGeom prst="rect">
            <a:avLst/>
          </a:prstGeom>
          <a:noFill/>
          <a:ln/>
        </p:spPr>
        <p:txBody>
          <a:bodyPr wrap="square" lIns="0" tIns="0" rIns="0" bIns="0" rtlCol="0" anchor="ctr"/>
          <a:lstStyle/>
          <a:p>
            <a:pPr indent="0" marL="0">
              <a:buNone/>
            </a:pPr>
            <a:r>
              <a:rPr lang="en-US" sz="3000" b="1" dirty="0">
                <a:solidFill>
                  <a:srgbClr val="F1F5FB"/>
                </a:solidFill>
                <a:latin typeface="Arial" pitchFamily="34" charset="0"/>
                <a:ea typeface="Arial" pitchFamily="34" charset="-122"/>
                <a:cs typeface="Arial" pitchFamily="34" charset="-120"/>
              </a:rPr>
              <a:t>From Alert to Future Decision</a:t>
            </a:r>
            <a:endParaRPr lang="en-US" sz="3000" dirty="0"/>
          </a:p>
        </p:txBody>
      </p:sp>
      <p:sp>
        <p:nvSpPr>
          <p:cNvPr id="5" name="Shape 2"/>
          <p:cNvSpPr/>
          <p:nvPr/>
        </p:nvSpPr>
        <p:spPr>
          <a:xfrm>
            <a:off x="502920" y="1371600"/>
            <a:ext cx="5349240" cy="5074920"/>
          </a:xfrm>
          <a:prstGeom prst="roundRect">
            <a:avLst>
              <a:gd name="adj" fmla="val 1441"/>
            </a:avLst>
          </a:prstGeom>
          <a:solidFill>
            <a:srgbClr val="111A2E"/>
          </a:solidFill>
          <a:ln w="12700">
            <a:solidFill>
              <a:srgbClr val="26314A"/>
            </a:solidFill>
            <a:prstDash val="solid"/>
          </a:ln>
        </p:spPr>
      </p:sp>
      <p:sp>
        <p:nvSpPr>
          <p:cNvPr id="6" name="Text 3"/>
          <p:cNvSpPr/>
          <p:nvPr/>
        </p:nvSpPr>
        <p:spPr>
          <a:xfrm>
            <a:off x="777240" y="1600200"/>
            <a:ext cx="4800600" cy="365760"/>
          </a:xfrm>
          <a:prstGeom prst="rect">
            <a:avLst/>
          </a:prstGeom>
          <a:noFill/>
          <a:ln/>
        </p:spPr>
        <p:txBody>
          <a:bodyPr wrap="square" lIns="0" tIns="0" rIns="0" bIns="0" rtlCol="0" anchor="ctr"/>
          <a:lstStyle/>
          <a:p>
            <a:pPr indent="0" marL="0">
              <a:buNone/>
            </a:pPr>
            <a:r>
              <a:rPr lang="en-US" sz="1400" b="1" spc="100" kern="0" dirty="0">
                <a:solidFill>
                  <a:srgbClr val="A6B0C3"/>
                </a:solidFill>
                <a:latin typeface="Calibri" pitchFamily="34" charset="0"/>
                <a:ea typeface="Calibri" pitchFamily="34" charset="-122"/>
                <a:cs typeface="Calibri" pitchFamily="34" charset="-120"/>
              </a:rPr>
              <a:t>TYPICAL SIMPLIFIED WORKFLOW</a:t>
            </a:r>
            <a:endParaRPr lang="en-US" sz="1400" dirty="0"/>
          </a:p>
        </p:txBody>
      </p:sp>
      <p:sp>
        <p:nvSpPr>
          <p:cNvPr id="7" name="Shape 4"/>
          <p:cNvSpPr/>
          <p:nvPr/>
        </p:nvSpPr>
        <p:spPr>
          <a:xfrm>
            <a:off x="822960" y="2286000"/>
            <a:ext cx="146304" cy="146304"/>
          </a:xfrm>
          <a:prstGeom prst="ellipse">
            <a:avLst/>
          </a:prstGeom>
          <a:solidFill>
            <a:srgbClr val="3D4A64"/>
          </a:solidFill>
          <a:ln/>
        </p:spPr>
      </p:sp>
      <p:sp>
        <p:nvSpPr>
          <p:cNvPr id="8" name="Text 5"/>
          <p:cNvSpPr/>
          <p:nvPr/>
        </p:nvSpPr>
        <p:spPr>
          <a:xfrm>
            <a:off x="1124712" y="2167128"/>
            <a:ext cx="4434840" cy="365760"/>
          </a:xfrm>
          <a:prstGeom prst="rect">
            <a:avLst/>
          </a:prstGeom>
          <a:noFill/>
          <a:ln/>
        </p:spPr>
        <p:txBody>
          <a:bodyPr wrap="square" lIns="0" tIns="0" rIns="0" bIns="0" rtlCol="0" anchor="ctr"/>
          <a:lstStyle/>
          <a:p>
            <a:pPr indent="0" marL="0">
              <a:buNone/>
            </a:pPr>
            <a:r>
              <a:rPr lang="en-US" sz="1600" dirty="0">
                <a:solidFill>
                  <a:srgbClr val="F1F5FB"/>
                </a:solidFill>
                <a:latin typeface="Calibri" pitchFamily="34" charset="0"/>
                <a:ea typeface="Calibri" pitchFamily="34" charset="-122"/>
                <a:cs typeface="Calibri" pitchFamily="34" charset="-120"/>
              </a:rPr>
              <a:t>Track</a:t>
            </a:r>
            <a:endParaRPr lang="en-US" sz="1600" dirty="0"/>
          </a:p>
        </p:txBody>
      </p:sp>
      <p:sp>
        <p:nvSpPr>
          <p:cNvPr id="9" name="Shape 6"/>
          <p:cNvSpPr/>
          <p:nvPr/>
        </p:nvSpPr>
        <p:spPr>
          <a:xfrm>
            <a:off x="896112" y="2459736"/>
            <a:ext cx="0" cy="457200"/>
          </a:xfrm>
          <a:prstGeom prst="line">
            <a:avLst/>
          </a:prstGeom>
          <a:noFill/>
          <a:ln w="12700">
            <a:solidFill>
              <a:srgbClr val="26314A"/>
            </a:solidFill>
            <a:prstDash val="sysDot"/>
          </a:ln>
        </p:spPr>
      </p:sp>
      <p:sp>
        <p:nvSpPr>
          <p:cNvPr id="10" name="Shape 7"/>
          <p:cNvSpPr/>
          <p:nvPr/>
        </p:nvSpPr>
        <p:spPr>
          <a:xfrm>
            <a:off x="822960" y="2999232"/>
            <a:ext cx="146304" cy="146304"/>
          </a:xfrm>
          <a:prstGeom prst="ellipse">
            <a:avLst/>
          </a:prstGeom>
          <a:solidFill>
            <a:srgbClr val="3D4A64"/>
          </a:solidFill>
          <a:ln/>
        </p:spPr>
      </p:sp>
      <p:sp>
        <p:nvSpPr>
          <p:cNvPr id="11" name="Text 8"/>
          <p:cNvSpPr/>
          <p:nvPr/>
        </p:nvSpPr>
        <p:spPr>
          <a:xfrm>
            <a:off x="1124712" y="2880360"/>
            <a:ext cx="4434840" cy="365760"/>
          </a:xfrm>
          <a:prstGeom prst="rect">
            <a:avLst/>
          </a:prstGeom>
          <a:noFill/>
          <a:ln/>
        </p:spPr>
        <p:txBody>
          <a:bodyPr wrap="square" lIns="0" tIns="0" rIns="0" bIns="0" rtlCol="0" anchor="ctr"/>
          <a:lstStyle/>
          <a:p>
            <a:pPr indent="0" marL="0">
              <a:buNone/>
            </a:pPr>
            <a:r>
              <a:rPr lang="en-US" sz="1600" dirty="0">
                <a:solidFill>
                  <a:srgbClr val="F1F5FB"/>
                </a:solidFill>
                <a:latin typeface="Calibri" pitchFamily="34" charset="0"/>
                <a:ea typeface="Calibri" pitchFamily="34" charset="-122"/>
                <a:cs typeface="Calibri" pitchFamily="34" charset="-120"/>
              </a:rPr>
              <a:t>Propagate</a:t>
            </a:r>
            <a:endParaRPr lang="en-US" sz="1600" dirty="0"/>
          </a:p>
        </p:txBody>
      </p:sp>
      <p:sp>
        <p:nvSpPr>
          <p:cNvPr id="12" name="Shape 9"/>
          <p:cNvSpPr/>
          <p:nvPr/>
        </p:nvSpPr>
        <p:spPr>
          <a:xfrm>
            <a:off x="896112" y="3172968"/>
            <a:ext cx="0" cy="457200"/>
          </a:xfrm>
          <a:prstGeom prst="line">
            <a:avLst/>
          </a:prstGeom>
          <a:noFill/>
          <a:ln w="12700">
            <a:solidFill>
              <a:srgbClr val="26314A"/>
            </a:solidFill>
            <a:prstDash val="sysDot"/>
          </a:ln>
        </p:spPr>
      </p:sp>
      <p:sp>
        <p:nvSpPr>
          <p:cNvPr id="13" name="Shape 10"/>
          <p:cNvSpPr/>
          <p:nvPr/>
        </p:nvSpPr>
        <p:spPr>
          <a:xfrm>
            <a:off x="822960" y="3712464"/>
            <a:ext cx="146304" cy="146304"/>
          </a:xfrm>
          <a:prstGeom prst="ellipse">
            <a:avLst/>
          </a:prstGeom>
          <a:solidFill>
            <a:srgbClr val="3D4A64"/>
          </a:solidFill>
          <a:ln/>
        </p:spPr>
      </p:sp>
      <p:sp>
        <p:nvSpPr>
          <p:cNvPr id="14" name="Text 11"/>
          <p:cNvSpPr/>
          <p:nvPr/>
        </p:nvSpPr>
        <p:spPr>
          <a:xfrm>
            <a:off x="1124712" y="3593592"/>
            <a:ext cx="4434840" cy="365760"/>
          </a:xfrm>
          <a:prstGeom prst="rect">
            <a:avLst/>
          </a:prstGeom>
          <a:noFill/>
          <a:ln/>
        </p:spPr>
        <p:txBody>
          <a:bodyPr wrap="square" lIns="0" tIns="0" rIns="0" bIns="0" rtlCol="0" anchor="ctr"/>
          <a:lstStyle/>
          <a:p>
            <a:pPr indent="0" marL="0">
              <a:buNone/>
            </a:pPr>
            <a:r>
              <a:rPr lang="en-US" sz="1600" dirty="0">
                <a:solidFill>
                  <a:srgbClr val="F1F5FB"/>
                </a:solidFill>
                <a:latin typeface="Calibri" pitchFamily="34" charset="0"/>
                <a:ea typeface="Calibri" pitchFamily="34" charset="-122"/>
                <a:cs typeface="Calibri" pitchFamily="34" charset="-120"/>
              </a:rPr>
              <a:t>Close Approach</a:t>
            </a:r>
            <a:endParaRPr lang="en-US" sz="1600" dirty="0"/>
          </a:p>
        </p:txBody>
      </p:sp>
      <p:sp>
        <p:nvSpPr>
          <p:cNvPr id="15" name="Shape 12"/>
          <p:cNvSpPr/>
          <p:nvPr/>
        </p:nvSpPr>
        <p:spPr>
          <a:xfrm>
            <a:off x="896112" y="3886200"/>
            <a:ext cx="0" cy="457200"/>
          </a:xfrm>
          <a:prstGeom prst="line">
            <a:avLst/>
          </a:prstGeom>
          <a:noFill/>
          <a:ln w="12700">
            <a:solidFill>
              <a:srgbClr val="26314A"/>
            </a:solidFill>
            <a:prstDash val="sysDot"/>
          </a:ln>
        </p:spPr>
      </p:sp>
      <p:sp>
        <p:nvSpPr>
          <p:cNvPr id="16" name="Shape 13"/>
          <p:cNvSpPr/>
          <p:nvPr/>
        </p:nvSpPr>
        <p:spPr>
          <a:xfrm>
            <a:off x="822960" y="4425696"/>
            <a:ext cx="146304" cy="146304"/>
          </a:xfrm>
          <a:prstGeom prst="ellipse">
            <a:avLst/>
          </a:prstGeom>
          <a:solidFill>
            <a:srgbClr val="3D4A64"/>
          </a:solidFill>
          <a:ln/>
        </p:spPr>
      </p:sp>
      <p:sp>
        <p:nvSpPr>
          <p:cNvPr id="17" name="Text 14"/>
          <p:cNvSpPr/>
          <p:nvPr/>
        </p:nvSpPr>
        <p:spPr>
          <a:xfrm>
            <a:off x="1124712" y="4306824"/>
            <a:ext cx="4434840" cy="365760"/>
          </a:xfrm>
          <a:prstGeom prst="rect">
            <a:avLst/>
          </a:prstGeom>
          <a:noFill/>
          <a:ln/>
        </p:spPr>
        <p:txBody>
          <a:bodyPr wrap="square" lIns="0" tIns="0" rIns="0" bIns="0" rtlCol="0" anchor="ctr"/>
          <a:lstStyle/>
          <a:p>
            <a:pPr indent="0" marL="0">
              <a:buNone/>
            </a:pPr>
            <a:r>
              <a:rPr lang="en-US" sz="1600" dirty="0">
                <a:solidFill>
                  <a:srgbClr val="F1F5FB"/>
                </a:solidFill>
                <a:latin typeface="Calibri" pitchFamily="34" charset="0"/>
                <a:ea typeface="Calibri" pitchFamily="34" charset="-122"/>
                <a:cs typeface="Calibri" pitchFamily="34" charset="-120"/>
              </a:rPr>
              <a:t>Risk</a:t>
            </a:r>
            <a:endParaRPr lang="en-US" sz="1600" dirty="0"/>
          </a:p>
        </p:txBody>
      </p:sp>
      <p:sp>
        <p:nvSpPr>
          <p:cNvPr id="18" name="Shape 15"/>
          <p:cNvSpPr/>
          <p:nvPr/>
        </p:nvSpPr>
        <p:spPr>
          <a:xfrm>
            <a:off x="896112" y="4599432"/>
            <a:ext cx="0" cy="457200"/>
          </a:xfrm>
          <a:prstGeom prst="line">
            <a:avLst/>
          </a:prstGeom>
          <a:noFill/>
          <a:ln w="12700">
            <a:solidFill>
              <a:srgbClr val="26314A"/>
            </a:solidFill>
            <a:prstDash val="sysDot"/>
          </a:ln>
        </p:spPr>
      </p:sp>
      <p:sp>
        <p:nvSpPr>
          <p:cNvPr id="19" name="Shape 16"/>
          <p:cNvSpPr/>
          <p:nvPr/>
        </p:nvSpPr>
        <p:spPr>
          <a:xfrm>
            <a:off x="822960" y="5138928"/>
            <a:ext cx="146304" cy="146304"/>
          </a:xfrm>
          <a:prstGeom prst="ellipse">
            <a:avLst/>
          </a:prstGeom>
          <a:solidFill>
            <a:srgbClr val="3D4A64"/>
          </a:solidFill>
          <a:ln/>
        </p:spPr>
      </p:sp>
      <p:sp>
        <p:nvSpPr>
          <p:cNvPr id="20" name="Text 17"/>
          <p:cNvSpPr/>
          <p:nvPr/>
        </p:nvSpPr>
        <p:spPr>
          <a:xfrm>
            <a:off x="1124712" y="5020056"/>
            <a:ext cx="4434840" cy="365760"/>
          </a:xfrm>
          <a:prstGeom prst="rect">
            <a:avLst/>
          </a:prstGeom>
          <a:noFill/>
          <a:ln/>
        </p:spPr>
        <p:txBody>
          <a:bodyPr wrap="square" lIns="0" tIns="0" rIns="0" bIns="0" rtlCol="0" anchor="ctr"/>
          <a:lstStyle/>
          <a:p>
            <a:pPr indent="0" marL="0">
              <a:buNone/>
            </a:pPr>
            <a:r>
              <a:rPr lang="en-US" sz="1600" dirty="0">
                <a:solidFill>
                  <a:srgbClr val="F1F5FB"/>
                </a:solidFill>
                <a:latin typeface="Calibri" pitchFamily="34" charset="0"/>
                <a:ea typeface="Calibri" pitchFamily="34" charset="-122"/>
                <a:cs typeface="Calibri" pitchFamily="34" charset="-120"/>
              </a:rPr>
              <a:t>Alert</a:t>
            </a:r>
            <a:endParaRPr lang="en-US" sz="1600" dirty="0"/>
          </a:p>
        </p:txBody>
      </p:sp>
      <p:sp>
        <p:nvSpPr>
          <p:cNvPr id="21" name="Shape 18"/>
          <p:cNvSpPr/>
          <p:nvPr/>
        </p:nvSpPr>
        <p:spPr>
          <a:xfrm>
            <a:off x="6355080" y="1371600"/>
            <a:ext cx="5349240" cy="5074920"/>
          </a:xfrm>
          <a:prstGeom prst="roundRect">
            <a:avLst>
              <a:gd name="adj" fmla="val 1441"/>
            </a:avLst>
          </a:prstGeom>
          <a:solidFill>
            <a:srgbClr val="0E2731"/>
          </a:solidFill>
          <a:ln w="19050">
            <a:solidFill>
              <a:srgbClr val="4DD9EC"/>
            </a:solidFill>
            <a:prstDash val="solid"/>
          </a:ln>
        </p:spPr>
      </p:sp>
      <p:sp>
        <p:nvSpPr>
          <p:cNvPr id="22" name="Text 19"/>
          <p:cNvSpPr/>
          <p:nvPr/>
        </p:nvSpPr>
        <p:spPr>
          <a:xfrm>
            <a:off x="6629400" y="1600200"/>
            <a:ext cx="4800600" cy="365760"/>
          </a:xfrm>
          <a:prstGeom prst="rect">
            <a:avLst/>
          </a:prstGeom>
          <a:noFill/>
          <a:ln/>
        </p:spPr>
        <p:txBody>
          <a:bodyPr wrap="square" lIns="0" tIns="0" rIns="0" bIns="0" rtlCol="0" anchor="ctr"/>
          <a:lstStyle/>
          <a:p>
            <a:pPr indent="0" marL="0">
              <a:buNone/>
            </a:pPr>
            <a:r>
              <a:rPr lang="en-US" sz="1400" b="1" spc="100" kern="0" dirty="0">
                <a:solidFill>
                  <a:srgbClr val="4DD9EC"/>
                </a:solidFill>
                <a:latin typeface="Calibri" pitchFamily="34" charset="0"/>
                <a:ea typeface="Calibri" pitchFamily="34" charset="-122"/>
                <a:cs typeface="Calibri" pitchFamily="34" charset="-120"/>
              </a:rPr>
              <a:t>OUR PROTOTYPE</a:t>
            </a:r>
            <a:endParaRPr lang="en-US" sz="1400" dirty="0"/>
          </a:p>
        </p:txBody>
      </p:sp>
      <p:sp>
        <p:nvSpPr>
          <p:cNvPr id="23" name="Shape 20"/>
          <p:cNvSpPr/>
          <p:nvPr/>
        </p:nvSpPr>
        <p:spPr>
          <a:xfrm>
            <a:off x="6519672" y="2377440"/>
            <a:ext cx="5020056" cy="3794760"/>
          </a:xfrm>
          <a:prstGeom prst="roundRect">
            <a:avLst>
              <a:gd name="adj" fmla="val 1446"/>
            </a:avLst>
          </a:prstGeom>
          <a:ln w="12700">
            <a:solidFill>
              <a:srgbClr val="4DD9EC"/>
            </a:solidFill>
            <a:prstDash val="dash"/>
          </a:ln>
        </p:spPr>
      </p:sp>
      <p:sp>
        <p:nvSpPr>
          <p:cNvPr id="24" name="Text 21"/>
          <p:cNvSpPr/>
          <p:nvPr/>
        </p:nvSpPr>
        <p:spPr>
          <a:xfrm>
            <a:off x="9692640" y="2432304"/>
            <a:ext cx="1828800" cy="219456"/>
          </a:xfrm>
          <a:prstGeom prst="rect">
            <a:avLst/>
          </a:prstGeom>
          <a:noFill/>
          <a:ln/>
        </p:spPr>
        <p:txBody>
          <a:bodyPr wrap="square" lIns="0" tIns="0" rIns="0" bIns="0" rtlCol="0" anchor="ctr"/>
          <a:lstStyle/>
          <a:p>
            <a:pPr algn="r" indent="0" marL="0">
              <a:buNone/>
            </a:pPr>
            <a:r>
              <a:rPr lang="en-US" sz="850" b="1" spc="100" kern="0" dirty="0">
                <a:solidFill>
                  <a:srgbClr val="4DD9EC"/>
                </a:solidFill>
                <a:latin typeface="Calibri" pitchFamily="34" charset="0"/>
                <a:ea typeface="Calibri" pitchFamily="34" charset="-122"/>
                <a:cs typeface="Calibri" pitchFamily="34" charset="-120"/>
              </a:rPr>
              <a:t>DECISION LAYER</a:t>
            </a:r>
            <a:endParaRPr lang="en-US" sz="850" dirty="0"/>
          </a:p>
        </p:txBody>
      </p:sp>
      <p:sp>
        <p:nvSpPr>
          <p:cNvPr id="25" name="Shape 22"/>
          <p:cNvSpPr/>
          <p:nvPr/>
        </p:nvSpPr>
        <p:spPr>
          <a:xfrm>
            <a:off x="6675120" y="2194560"/>
            <a:ext cx="146304" cy="146304"/>
          </a:xfrm>
          <a:prstGeom prst="ellipse">
            <a:avLst/>
          </a:prstGeom>
          <a:solidFill>
            <a:srgbClr val="3D4A64"/>
          </a:solidFill>
          <a:ln/>
        </p:spPr>
      </p:sp>
      <p:sp>
        <p:nvSpPr>
          <p:cNvPr id="26" name="Text 23"/>
          <p:cNvSpPr/>
          <p:nvPr/>
        </p:nvSpPr>
        <p:spPr>
          <a:xfrm>
            <a:off x="6976872" y="2075688"/>
            <a:ext cx="4434840" cy="365760"/>
          </a:xfrm>
          <a:prstGeom prst="rect">
            <a:avLst/>
          </a:prstGeom>
          <a:noFill/>
          <a:ln/>
        </p:spPr>
        <p:txBody>
          <a:bodyPr wrap="square" lIns="0" tIns="0" rIns="0" bIns="0" rtlCol="0" anchor="ctr"/>
          <a:lstStyle/>
          <a:p>
            <a:pPr indent="0" marL="0">
              <a:buNone/>
            </a:pPr>
            <a:r>
              <a:rPr lang="en-US" sz="1400" dirty="0">
                <a:solidFill>
                  <a:srgbClr val="F1F5FB"/>
                </a:solidFill>
                <a:latin typeface="Calibri" pitchFamily="34" charset="0"/>
                <a:ea typeface="Calibri" pitchFamily="34" charset="-122"/>
                <a:cs typeface="Calibri" pitchFamily="34" charset="-120"/>
              </a:rPr>
              <a:t>Track</a:t>
            </a:r>
            <a:endParaRPr lang="en-US" sz="1400" dirty="0"/>
          </a:p>
        </p:txBody>
      </p:sp>
      <p:sp>
        <p:nvSpPr>
          <p:cNvPr id="27" name="Shape 24"/>
          <p:cNvSpPr/>
          <p:nvPr/>
        </p:nvSpPr>
        <p:spPr>
          <a:xfrm>
            <a:off x="6748272" y="2368296"/>
            <a:ext cx="0" cy="288036"/>
          </a:xfrm>
          <a:prstGeom prst="line">
            <a:avLst/>
          </a:prstGeom>
          <a:noFill/>
          <a:ln w="12700">
            <a:solidFill>
              <a:srgbClr val="185C68"/>
            </a:solidFill>
            <a:prstDash val="solid"/>
          </a:ln>
        </p:spPr>
      </p:sp>
      <p:sp>
        <p:nvSpPr>
          <p:cNvPr id="28" name="Shape 25"/>
          <p:cNvSpPr/>
          <p:nvPr/>
        </p:nvSpPr>
        <p:spPr>
          <a:xfrm>
            <a:off x="6675120" y="2702052"/>
            <a:ext cx="146304" cy="146304"/>
          </a:xfrm>
          <a:prstGeom prst="ellipse">
            <a:avLst/>
          </a:prstGeom>
          <a:solidFill>
            <a:srgbClr val="4DD9EC"/>
          </a:solidFill>
          <a:ln/>
        </p:spPr>
      </p:sp>
      <p:sp>
        <p:nvSpPr>
          <p:cNvPr id="29" name="Text 26"/>
          <p:cNvSpPr/>
          <p:nvPr/>
        </p:nvSpPr>
        <p:spPr>
          <a:xfrm>
            <a:off x="6976872" y="2583180"/>
            <a:ext cx="4434840" cy="365760"/>
          </a:xfrm>
          <a:prstGeom prst="rect">
            <a:avLst/>
          </a:prstGeom>
          <a:noFill/>
          <a:ln/>
        </p:spPr>
        <p:txBody>
          <a:bodyPr wrap="square" lIns="0" tIns="0" rIns="0" bIns="0" rtlCol="0" anchor="ctr"/>
          <a:lstStyle/>
          <a:p>
            <a:pPr indent="0" marL="0">
              <a:buNone/>
            </a:pPr>
            <a:r>
              <a:rPr lang="en-US" sz="1400" b="1" dirty="0">
                <a:solidFill>
                  <a:srgbClr val="F1F5FB"/>
                </a:solidFill>
                <a:latin typeface="Calibri" pitchFamily="34" charset="0"/>
                <a:ea typeface="Calibri" pitchFamily="34" charset="-122"/>
                <a:cs typeface="Calibri" pitchFamily="34" charset="-120"/>
              </a:rPr>
              <a:t>Risk + Uncertainty</a:t>
            </a:r>
            <a:endParaRPr lang="en-US" sz="1400" dirty="0"/>
          </a:p>
        </p:txBody>
      </p:sp>
      <p:sp>
        <p:nvSpPr>
          <p:cNvPr id="30" name="Shape 27"/>
          <p:cNvSpPr/>
          <p:nvPr/>
        </p:nvSpPr>
        <p:spPr>
          <a:xfrm>
            <a:off x="6748272" y="2875788"/>
            <a:ext cx="0" cy="288036"/>
          </a:xfrm>
          <a:prstGeom prst="line">
            <a:avLst/>
          </a:prstGeom>
          <a:noFill/>
          <a:ln w="12700">
            <a:solidFill>
              <a:srgbClr val="185C68"/>
            </a:solidFill>
            <a:prstDash val="solid"/>
          </a:ln>
        </p:spPr>
      </p:sp>
      <p:sp>
        <p:nvSpPr>
          <p:cNvPr id="31" name="Shape 28"/>
          <p:cNvSpPr/>
          <p:nvPr/>
        </p:nvSpPr>
        <p:spPr>
          <a:xfrm>
            <a:off x="6675120" y="3209544"/>
            <a:ext cx="146304" cy="146304"/>
          </a:xfrm>
          <a:prstGeom prst="ellipse">
            <a:avLst/>
          </a:prstGeom>
          <a:solidFill>
            <a:srgbClr val="4DD9EC"/>
          </a:solidFill>
          <a:ln/>
        </p:spPr>
      </p:sp>
      <p:sp>
        <p:nvSpPr>
          <p:cNvPr id="32" name="Text 29"/>
          <p:cNvSpPr/>
          <p:nvPr/>
        </p:nvSpPr>
        <p:spPr>
          <a:xfrm>
            <a:off x="6976872" y="3090672"/>
            <a:ext cx="4434840" cy="365760"/>
          </a:xfrm>
          <a:prstGeom prst="rect">
            <a:avLst/>
          </a:prstGeom>
          <a:noFill/>
          <a:ln/>
        </p:spPr>
        <p:txBody>
          <a:bodyPr wrap="square" lIns="0" tIns="0" rIns="0" bIns="0" rtlCol="0" anchor="ctr"/>
          <a:lstStyle/>
          <a:p>
            <a:pPr indent="0" marL="0">
              <a:buNone/>
            </a:pPr>
            <a:r>
              <a:rPr lang="en-US" sz="1400" b="1" dirty="0">
                <a:solidFill>
                  <a:srgbClr val="F1F5FB"/>
                </a:solidFill>
                <a:latin typeface="Calibri" pitchFamily="34" charset="0"/>
                <a:ea typeface="Calibri" pitchFamily="34" charset="-122"/>
                <a:cs typeface="Calibri" pitchFamily="34" charset="-120"/>
              </a:rPr>
              <a:t>Future State Envelope</a:t>
            </a:r>
            <a:endParaRPr lang="en-US" sz="1400" dirty="0"/>
          </a:p>
        </p:txBody>
      </p:sp>
      <p:sp>
        <p:nvSpPr>
          <p:cNvPr id="33" name="Shape 30"/>
          <p:cNvSpPr/>
          <p:nvPr/>
        </p:nvSpPr>
        <p:spPr>
          <a:xfrm>
            <a:off x="6748272" y="3383280"/>
            <a:ext cx="0" cy="288036"/>
          </a:xfrm>
          <a:prstGeom prst="line">
            <a:avLst/>
          </a:prstGeom>
          <a:noFill/>
          <a:ln w="12700">
            <a:solidFill>
              <a:srgbClr val="185C68"/>
            </a:solidFill>
            <a:prstDash val="solid"/>
          </a:ln>
        </p:spPr>
      </p:sp>
      <p:sp>
        <p:nvSpPr>
          <p:cNvPr id="34" name="Shape 31"/>
          <p:cNvSpPr/>
          <p:nvPr/>
        </p:nvSpPr>
        <p:spPr>
          <a:xfrm>
            <a:off x="6675120" y="3717036"/>
            <a:ext cx="146304" cy="146304"/>
          </a:xfrm>
          <a:prstGeom prst="ellipse">
            <a:avLst/>
          </a:prstGeom>
          <a:solidFill>
            <a:srgbClr val="4DD9EC"/>
          </a:solidFill>
          <a:ln/>
        </p:spPr>
      </p:sp>
      <p:sp>
        <p:nvSpPr>
          <p:cNvPr id="35" name="Text 32"/>
          <p:cNvSpPr/>
          <p:nvPr/>
        </p:nvSpPr>
        <p:spPr>
          <a:xfrm>
            <a:off x="6976872" y="3598164"/>
            <a:ext cx="4434840" cy="365760"/>
          </a:xfrm>
          <a:prstGeom prst="rect">
            <a:avLst/>
          </a:prstGeom>
          <a:noFill/>
          <a:ln/>
        </p:spPr>
        <p:txBody>
          <a:bodyPr wrap="square" lIns="0" tIns="0" rIns="0" bIns="0" rtlCol="0" anchor="ctr"/>
          <a:lstStyle/>
          <a:p>
            <a:pPr indent="0" marL="0">
              <a:buNone/>
            </a:pPr>
            <a:r>
              <a:rPr lang="en-US" sz="1400" b="1" dirty="0">
                <a:solidFill>
                  <a:srgbClr val="F1F5FB"/>
                </a:solidFill>
                <a:latin typeface="Calibri" pitchFamily="34" charset="0"/>
                <a:ea typeface="Calibri" pitchFamily="34" charset="-122"/>
                <a:cs typeface="Calibri" pitchFamily="34" charset="-120"/>
              </a:rPr>
              <a:t>Scenario Comparison</a:t>
            </a:r>
            <a:endParaRPr lang="en-US" sz="1400" dirty="0"/>
          </a:p>
        </p:txBody>
      </p:sp>
      <p:sp>
        <p:nvSpPr>
          <p:cNvPr id="36" name="Shape 33"/>
          <p:cNvSpPr/>
          <p:nvPr/>
        </p:nvSpPr>
        <p:spPr>
          <a:xfrm>
            <a:off x="6748272" y="3890772"/>
            <a:ext cx="0" cy="288036"/>
          </a:xfrm>
          <a:prstGeom prst="line">
            <a:avLst/>
          </a:prstGeom>
          <a:noFill/>
          <a:ln w="12700">
            <a:solidFill>
              <a:srgbClr val="185C68"/>
            </a:solidFill>
            <a:prstDash val="solid"/>
          </a:ln>
        </p:spPr>
      </p:sp>
      <p:sp>
        <p:nvSpPr>
          <p:cNvPr id="37" name="Shape 34"/>
          <p:cNvSpPr/>
          <p:nvPr/>
        </p:nvSpPr>
        <p:spPr>
          <a:xfrm>
            <a:off x="6675120" y="4224528"/>
            <a:ext cx="146304" cy="146304"/>
          </a:xfrm>
          <a:prstGeom prst="ellipse">
            <a:avLst/>
          </a:prstGeom>
          <a:solidFill>
            <a:srgbClr val="4DD9EC"/>
          </a:solidFill>
          <a:ln/>
        </p:spPr>
      </p:sp>
      <p:sp>
        <p:nvSpPr>
          <p:cNvPr id="38" name="Text 35"/>
          <p:cNvSpPr/>
          <p:nvPr/>
        </p:nvSpPr>
        <p:spPr>
          <a:xfrm>
            <a:off x="6976872" y="4105656"/>
            <a:ext cx="4434840" cy="365760"/>
          </a:xfrm>
          <a:prstGeom prst="rect">
            <a:avLst/>
          </a:prstGeom>
          <a:noFill/>
          <a:ln/>
        </p:spPr>
        <p:txBody>
          <a:bodyPr wrap="square" lIns="0" tIns="0" rIns="0" bIns="0" rtlCol="0" anchor="ctr"/>
          <a:lstStyle/>
          <a:p>
            <a:pPr indent="0" marL="0">
              <a:buNone/>
            </a:pPr>
            <a:r>
              <a:rPr lang="en-US" sz="1400" b="1" dirty="0">
                <a:solidFill>
                  <a:srgbClr val="F1F5FB"/>
                </a:solidFill>
                <a:latin typeface="Calibri" pitchFamily="34" charset="0"/>
                <a:ea typeface="Calibri" pitchFamily="34" charset="-122"/>
                <a:cs typeface="Calibri" pitchFamily="34" charset="-120"/>
              </a:rPr>
              <a:t>Multi-Object Consequences</a:t>
            </a:r>
            <a:endParaRPr lang="en-US" sz="1400" dirty="0"/>
          </a:p>
        </p:txBody>
      </p:sp>
      <p:sp>
        <p:nvSpPr>
          <p:cNvPr id="39" name="Shape 36"/>
          <p:cNvSpPr/>
          <p:nvPr/>
        </p:nvSpPr>
        <p:spPr>
          <a:xfrm>
            <a:off x="6748272" y="4398264"/>
            <a:ext cx="0" cy="288036"/>
          </a:xfrm>
          <a:prstGeom prst="line">
            <a:avLst/>
          </a:prstGeom>
          <a:noFill/>
          <a:ln w="12700">
            <a:solidFill>
              <a:srgbClr val="185C68"/>
            </a:solidFill>
            <a:prstDash val="solid"/>
          </a:ln>
        </p:spPr>
      </p:sp>
      <p:sp>
        <p:nvSpPr>
          <p:cNvPr id="40" name="Shape 37"/>
          <p:cNvSpPr/>
          <p:nvPr/>
        </p:nvSpPr>
        <p:spPr>
          <a:xfrm>
            <a:off x="6675120" y="4732020"/>
            <a:ext cx="146304" cy="146304"/>
          </a:xfrm>
          <a:prstGeom prst="ellipse">
            <a:avLst/>
          </a:prstGeom>
          <a:solidFill>
            <a:srgbClr val="4DD9EC"/>
          </a:solidFill>
          <a:ln/>
        </p:spPr>
      </p:sp>
      <p:sp>
        <p:nvSpPr>
          <p:cNvPr id="41" name="Text 38"/>
          <p:cNvSpPr/>
          <p:nvPr/>
        </p:nvSpPr>
        <p:spPr>
          <a:xfrm>
            <a:off x="6976872" y="4613148"/>
            <a:ext cx="4434840" cy="365760"/>
          </a:xfrm>
          <a:prstGeom prst="rect">
            <a:avLst/>
          </a:prstGeom>
          <a:noFill/>
          <a:ln/>
        </p:spPr>
        <p:txBody>
          <a:bodyPr wrap="square" lIns="0" tIns="0" rIns="0" bIns="0" rtlCol="0" anchor="ctr"/>
          <a:lstStyle/>
          <a:p>
            <a:pPr indent="0" marL="0">
              <a:buNone/>
            </a:pPr>
            <a:r>
              <a:rPr lang="en-US" sz="1400" b="1" dirty="0">
                <a:solidFill>
                  <a:srgbClr val="F1F5FB"/>
                </a:solidFill>
                <a:latin typeface="Calibri" pitchFamily="34" charset="0"/>
                <a:ea typeface="Calibri" pitchFamily="34" charset="-122"/>
                <a:cs typeface="Calibri" pitchFamily="34" charset="-120"/>
              </a:rPr>
              <a:t>Multi-Horizon Exposure</a:t>
            </a:r>
            <a:endParaRPr lang="en-US" sz="1400" dirty="0"/>
          </a:p>
        </p:txBody>
      </p:sp>
      <p:sp>
        <p:nvSpPr>
          <p:cNvPr id="42" name="Shape 39"/>
          <p:cNvSpPr/>
          <p:nvPr/>
        </p:nvSpPr>
        <p:spPr>
          <a:xfrm>
            <a:off x="6748272" y="4905756"/>
            <a:ext cx="0" cy="288036"/>
          </a:xfrm>
          <a:prstGeom prst="line">
            <a:avLst/>
          </a:prstGeom>
          <a:noFill/>
          <a:ln w="12700">
            <a:solidFill>
              <a:srgbClr val="185C68"/>
            </a:solidFill>
            <a:prstDash val="solid"/>
          </a:ln>
        </p:spPr>
      </p:sp>
      <p:sp>
        <p:nvSpPr>
          <p:cNvPr id="43" name="Shape 40"/>
          <p:cNvSpPr/>
          <p:nvPr/>
        </p:nvSpPr>
        <p:spPr>
          <a:xfrm>
            <a:off x="6675120" y="5239512"/>
            <a:ext cx="146304" cy="146304"/>
          </a:xfrm>
          <a:prstGeom prst="ellipse">
            <a:avLst/>
          </a:prstGeom>
          <a:solidFill>
            <a:srgbClr val="4DD9EC"/>
          </a:solidFill>
          <a:ln/>
        </p:spPr>
      </p:sp>
      <p:sp>
        <p:nvSpPr>
          <p:cNvPr id="44" name="Text 41"/>
          <p:cNvSpPr/>
          <p:nvPr/>
        </p:nvSpPr>
        <p:spPr>
          <a:xfrm>
            <a:off x="6976872" y="5120640"/>
            <a:ext cx="4434840" cy="365760"/>
          </a:xfrm>
          <a:prstGeom prst="rect">
            <a:avLst/>
          </a:prstGeom>
          <a:noFill/>
          <a:ln/>
        </p:spPr>
        <p:txBody>
          <a:bodyPr wrap="square" lIns="0" tIns="0" rIns="0" bIns="0" rtlCol="0" anchor="ctr"/>
          <a:lstStyle/>
          <a:p>
            <a:pPr indent="0" marL="0">
              <a:buNone/>
            </a:pPr>
            <a:r>
              <a:rPr lang="en-US" sz="1400" b="1" dirty="0">
                <a:solidFill>
                  <a:srgbClr val="F1F5FB"/>
                </a:solidFill>
                <a:latin typeface="Calibri" pitchFamily="34" charset="0"/>
                <a:ea typeface="Calibri" pitchFamily="34" charset="-122"/>
                <a:cs typeface="Calibri" pitchFamily="34" charset="-120"/>
              </a:rPr>
              <a:t>Threat Transfer</a:t>
            </a:r>
            <a:endParaRPr lang="en-US" sz="1400" dirty="0"/>
          </a:p>
        </p:txBody>
      </p:sp>
      <p:sp>
        <p:nvSpPr>
          <p:cNvPr id="45" name="Shape 42"/>
          <p:cNvSpPr/>
          <p:nvPr/>
        </p:nvSpPr>
        <p:spPr>
          <a:xfrm>
            <a:off x="6748272" y="5413248"/>
            <a:ext cx="0" cy="288036"/>
          </a:xfrm>
          <a:prstGeom prst="line">
            <a:avLst/>
          </a:prstGeom>
          <a:noFill/>
          <a:ln w="12700">
            <a:solidFill>
              <a:srgbClr val="185C68"/>
            </a:solidFill>
            <a:prstDash val="solid"/>
          </a:ln>
        </p:spPr>
      </p:sp>
      <p:sp>
        <p:nvSpPr>
          <p:cNvPr id="46" name="Shape 43"/>
          <p:cNvSpPr/>
          <p:nvPr/>
        </p:nvSpPr>
        <p:spPr>
          <a:xfrm>
            <a:off x="6675120" y="5747004"/>
            <a:ext cx="146304" cy="146304"/>
          </a:xfrm>
          <a:prstGeom prst="ellipse">
            <a:avLst/>
          </a:prstGeom>
          <a:solidFill>
            <a:srgbClr val="4DD9EC"/>
          </a:solidFill>
          <a:ln/>
        </p:spPr>
      </p:sp>
      <p:sp>
        <p:nvSpPr>
          <p:cNvPr id="47" name="Text 44"/>
          <p:cNvSpPr/>
          <p:nvPr/>
        </p:nvSpPr>
        <p:spPr>
          <a:xfrm>
            <a:off x="6976872" y="5628132"/>
            <a:ext cx="4434840" cy="365760"/>
          </a:xfrm>
          <a:prstGeom prst="rect">
            <a:avLst/>
          </a:prstGeom>
          <a:noFill/>
          <a:ln/>
        </p:spPr>
        <p:txBody>
          <a:bodyPr wrap="square" lIns="0" tIns="0" rIns="0" bIns="0" rtlCol="0" anchor="ctr"/>
          <a:lstStyle/>
          <a:p>
            <a:pPr indent="0" marL="0">
              <a:buNone/>
            </a:pPr>
            <a:r>
              <a:rPr lang="en-US" sz="1400" b="1" dirty="0">
                <a:solidFill>
                  <a:srgbClr val="F1F5FB"/>
                </a:solidFill>
                <a:latin typeface="Calibri" pitchFamily="34" charset="0"/>
                <a:ea typeface="Calibri" pitchFamily="34" charset="-122"/>
                <a:cs typeface="Calibri" pitchFamily="34" charset="-120"/>
              </a:rPr>
              <a:t>Decision Sensitivity</a:t>
            </a:r>
            <a:endParaRPr lang="en-US" sz="1400" dirty="0"/>
          </a:p>
        </p:txBody>
      </p:sp>
      <p:sp>
        <p:nvSpPr>
          <p:cNvPr id="48" name="Text 45"/>
          <p:cNvSpPr/>
          <p:nvPr/>
        </p:nvSpPr>
        <p:spPr>
          <a:xfrm>
            <a:off x="502920" y="6565392"/>
            <a:ext cx="6400800" cy="228600"/>
          </a:xfrm>
          <a:prstGeom prst="rect">
            <a:avLst/>
          </a:prstGeom>
          <a:noFill/>
          <a:ln/>
        </p:spPr>
        <p:txBody>
          <a:bodyPr wrap="square" lIns="0" tIns="0" rIns="0" bIns="0" rtlCol="0" anchor="ctr"/>
          <a:lstStyle/>
          <a:p>
            <a:pPr indent="0" marL="0">
              <a:buNone/>
            </a:pPr>
            <a:r>
              <a:rPr lang="en-US" sz="850" dirty="0">
                <a:solidFill>
                  <a:srgbClr val="5E6A82"/>
                </a:solidFill>
                <a:latin typeface="Calibri" pitchFamily="34" charset="0"/>
                <a:ea typeface="Calibri" pitchFamily="34" charset="-122"/>
                <a:cs typeface="Calibri" pitchFamily="34" charset="-120"/>
              </a:rPr>
              <a:t>ORBITAL FUTURE DECISION ENGINE  ·  FANTASTIC 4</a:t>
            </a:r>
            <a:endParaRPr lang="en-US" sz="850" dirty="0"/>
          </a:p>
        </p:txBody>
      </p:sp>
      <p:sp>
        <p:nvSpPr>
          <p:cNvPr id="49" name="Text 46"/>
          <p:cNvSpPr/>
          <p:nvPr/>
        </p:nvSpPr>
        <p:spPr>
          <a:xfrm>
            <a:off x="8686800" y="6565392"/>
            <a:ext cx="3017520" cy="228600"/>
          </a:xfrm>
          <a:prstGeom prst="rect">
            <a:avLst/>
          </a:prstGeom>
          <a:noFill/>
          <a:ln/>
        </p:spPr>
        <p:txBody>
          <a:bodyPr wrap="square" lIns="0" tIns="0" rIns="0" bIns="0" rtlCol="0" anchor="ctr"/>
          <a:lstStyle/>
          <a:p>
            <a:pPr algn="r" indent="0" marL="0">
              <a:buNone/>
            </a:pPr>
            <a:r>
              <a:rPr lang="en-US" sz="850" spc="100" kern="0" dirty="0">
                <a:solidFill>
                  <a:srgbClr val="185C68"/>
                </a:solidFill>
                <a:latin typeface="Calibri" pitchFamily="34" charset="0"/>
                <a:ea typeface="Calibri" pitchFamily="34" charset="-122"/>
                <a:cs typeface="Calibri" pitchFamily="34" charset="-120"/>
              </a:rPr>
              <a:t>MISSION: OFDE-01</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60911"/>
        </a:solidFill>
      </p:bgPr>
    </p:bg>
    <p:spTree>
      <p:nvGrpSpPr>
        <p:cNvPr id="1" name=""/>
        <p:cNvGrpSpPr/>
        <p:nvPr/>
      </p:nvGrpSpPr>
      <p:grpSpPr>
        <a:xfrm>
          <a:off x="0" y="0"/>
          <a:ext cx="0" cy="0"/>
          <a:chOff x="0" y="0"/>
          <a:chExt cx="0" cy="0"/>
        </a:xfrm>
      </p:grpSpPr>
      <p:pic>
        <p:nvPicPr>
          <p:cNvPr id="2" name="Image 0" descr="/home/claude/assets/erospace_rgba.png">    </p:cNvPr>
          <p:cNvPicPr>
            <a:picLocks noChangeAspect="1"/>
          </p:cNvPicPr>
          <p:nvPr/>
        </p:nvPicPr>
        <p:blipFill>
          <a:blip r:embed="rId1">
            <a:alphaModFix amt="75000"/>
          </a:blip>
          <a:stretch>
            <a:fillRect/>
          </a:stretch>
        </p:blipFill>
        <p:spPr>
          <a:xfrm>
            <a:off x="10561320" y="292608"/>
            <a:ext cx="1325880" cy="459943"/>
          </a:xfrm>
          <a:prstGeom prst="rect">
            <a:avLst/>
          </a:prstGeom>
        </p:spPr>
      </p:pic>
      <p:sp>
        <p:nvSpPr>
          <p:cNvPr id="3" name="Text 0"/>
          <p:cNvSpPr/>
          <p:nvPr/>
        </p:nvSpPr>
        <p:spPr>
          <a:xfrm>
            <a:off x="502920" y="365760"/>
            <a:ext cx="8229600" cy="292608"/>
          </a:xfrm>
          <a:prstGeom prst="rect">
            <a:avLst/>
          </a:prstGeom>
          <a:noFill/>
          <a:ln/>
        </p:spPr>
        <p:txBody>
          <a:bodyPr wrap="square" lIns="0" tIns="0" rIns="0" bIns="0" rtlCol="0" anchor="ctr"/>
          <a:lstStyle/>
          <a:p>
            <a:pPr indent="0" marL="0">
              <a:buNone/>
            </a:pPr>
            <a:r>
              <a:rPr lang="en-US" sz="1300" b="1" spc="200" kern="0" dirty="0">
                <a:solidFill>
                  <a:srgbClr val="4DD9EC"/>
                </a:solidFill>
                <a:latin typeface="Calibri" pitchFamily="34" charset="0"/>
                <a:ea typeface="Calibri" pitchFamily="34" charset="-122"/>
                <a:cs typeface="Calibri" pitchFamily="34" charset="-120"/>
              </a:rPr>
              <a:t>CAPABILITIES</a:t>
            </a:r>
            <a:endParaRPr lang="en-US" sz="1300" dirty="0"/>
          </a:p>
        </p:txBody>
      </p:sp>
      <p:sp>
        <p:nvSpPr>
          <p:cNvPr id="4" name="Text 1"/>
          <p:cNvSpPr/>
          <p:nvPr/>
        </p:nvSpPr>
        <p:spPr>
          <a:xfrm>
            <a:off x="502920" y="658368"/>
            <a:ext cx="10972800" cy="685800"/>
          </a:xfrm>
          <a:prstGeom prst="rect">
            <a:avLst/>
          </a:prstGeom>
          <a:noFill/>
          <a:ln/>
        </p:spPr>
        <p:txBody>
          <a:bodyPr wrap="square" lIns="0" tIns="0" rIns="0" bIns="0" rtlCol="0" anchor="ctr"/>
          <a:lstStyle/>
          <a:p>
            <a:pPr indent="0" marL="0">
              <a:buNone/>
            </a:pPr>
            <a:r>
              <a:rPr lang="en-US" sz="3000" b="1" dirty="0">
                <a:solidFill>
                  <a:srgbClr val="F1F5FB"/>
                </a:solidFill>
                <a:latin typeface="Arial" pitchFamily="34" charset="0"/>
                <a:ea typeface="Arial" pitchFamily="34" charset="-122"/>
                <a:cs typeface="Arial" pitchFamily="34" charset="-120"/>
              </a:rPr>
              <a:t>Features &amp; Novelty</a:t>
            </a:r>
            <a:endParaRPr lang="en-US" sz="3000" dirty="0"/>
          </a:p>
        </p:txBody>
      </p:sp>
      <p:sp>
        <p:nvSpPr>
          <p:cNvPr id="5" name="Shape 2"/>
          <p:cNvSpPr/>
          <p:nvPr/>
        </p:nvSpPr>
        <p:spPr>
          <a:xfrm>
            <a:off x="502920" y="1554480"/>
            <a:ext cx="3575304" cy="1600200"/>
          </a:xfrm>
          <a:prstGeom prst="roundRect">
            <a:avLst>
              <a:gd name="adj" fmla="val 4571"/>
            </a:avLst>
          </a:prstGeom>
          <a:solidFill>
            <a:srgbClr val="111A2E"/>
          </a:solidFill>
          <a:ln w="12700">
            <a:solidFill>
              <a:srgbClr val="26314A"/>
            </a:solidFill>
            <a:prstDash val="solid"/>
          </a:ln>
        </p:spPr>
      </p:sp>
      <p:sp>
        <p:nvSpPr>
          <p:cNvPr id="6" name="Shape 3"/>
          <p:cNvSpPr/>
          <p:nvPr/>
        </p:nvSpPr>
        <p:spPr>
          <a:xfrm>
            <a:off x="685800" y="1719072"/>
            <a:ext cx="457200" cy="457200"/>
          </a:xfrm>
          <a:prstGeom prst="roundRect">
            <a:avLst>
              <a:gd name="adj" fmla="val 18000"/>
            </a:avLst>
          </a:prstGeom>
          <a:solidFill>
            <a:srgbClr val="1B2338"/>
          </a:solidFill>
          <a:ln/>
        </p:spPr>
      </p:sp>
      <p:sp>
        <p:nvSpPr>
          <p:cNvPr id="7" name="Text 4"/>
          <p:cNvSpPr/>
          <p:nvPr/>
        </p:nvSpPr>
        <p:spPr>
          <a:xfrm>
            <a:off x="685800" y="1719072"/>
            <a:ext cx="457200" cy="457200"/>
          </a:xfrm>
          <a:prstGeom prst="rect">
            <a:avLst/>
          </a:prstGeom>
          <a:noFill/>
          <a:ln/>
        </p:spPr>
        <p:txBody>
          <a:bodyPr wrap="square" lIns="0" tIns="0" rIns="0" bIns="0" rtlCol="0" anchor="ctr"/>
          <a:lstStyle/>
          <a:p>
            <a:pPr algn="ctr" indent="0" marL="0">
              <a:buNone/>
            </a:pPr>
            <a:r>
              <a:rPr lang="en-US" sz="1600" b="1" dirty="0">
                <a:solidFill>
                  <a:srgbClr val="A6B0C3"/>
                </a:solidFill>
                <a:latin typeface="Arial" pitchFamily="34" charset="0"/>
                <a:ea typeface="Arial" pitchFamily="34" charset="-122"/>
                <a:cs typeface="Arial" pitchFamily="34" charset="-120"/>
              </a:rPr>
              <a:t>01</a:t>
            </a:r>
            <a:endParaRPr lang="en-US" sz="1600" dirty="0"/>
          </a:p>
        </p:txBody>
      </p:sp>
      <p:sp>
        <p:nvSpPr>
          <p:cNvPr id="8" name="Text 5"/>
          <p:cNvSpPr/>
          <p:nvPr/>
        </p:nvSpPr>
        <p:spPr>
          <a:xfrm>
            <a:off x="685800" y="2304288"/>
            <a:ext cx="3209544" cy="457200"/>
          </a:xfrm>
          <a:prstGeom prst="rect">
            <a:avLst/>
          </a:prstGeom>
          <a:noFill/>
          <a:ln/>
        </p:spPr>
        <p:txBody>
          <a:bodyPr wrap="square" lIns="0" tIns="0" rIns="0" bIns="0" rtlCol="0" anchor="ctr"/>
          <a:lstStyle/>
          <a:p>
            <a:pPr indent="0" marL="0">
              <a:lnSpc>
                <a:spcPts val="1600"/>
              </a:lnSpc>
              <a:buNone/>
            </a:pPr>
            <a:r>
              <a:rPr lang="en-US" sz="1400" b="1" dirty="0">
                <a:solidFill>
                  <a:srgbClr val="F1F5FB"/>
                </a:solidFill>
                <a:latin typeface="Calibri" pitchFamily="34" charset="0"/>
                <a:ea typeface="Calibri" pitchFamily="34" charset="-122"/>
                <a:cs typeface="Calibri" pitchFamily="34" charset="-120"/>
              </a:rPr>
              <a:t>ORBITAL TRACKING</a:t>
            </a:r>
            <a:endParaRPr lang="en-US" sz="1400" dirty="0"/>
          </a:p>
        </p:txBody>
      </p:sp>
      <p:sp>
        <p:nvSpPr>
          <p:cNvPr id="9" name="Text 6"/>
          <p:cNvSpPr/>
          <p:nvPr/>
        </p:nvSpPr>
        <p:spPr>
          <a:xfrm>
            <a:off x="685800" y="2761488"/>
            <a:ext cx="3209544" cy="320040"/>
          </a:xfrm>
          <a:prstGeom prst="rect">
            <a:avLst/>
          </a:prstGeom>
          <a:noFill/>
          <a:ln/>
        </p:spPr>
        <p:txBody>
          <a:bodyPr wrap="square" lIns="0" tIns="0" rIns="0" bIns="0" rtlCol="0" anchor="ctr"/>
          <a:lstStyle/>
          <a:p>
            <a:pPr indent="0" marL="0">
              <a:buNone/>
            </a:pPr>
            <a:r>
              <a:rPr lang="en-US" sz="1100" dirty="0">
                <a:solidFill>
                  <a:srgbClr val="A6B0C3"/>
                </a:solidFill>
                <a:latin typeface="Calibri" pitchFamily="34" charset="0"/>
                <a:ea typeface="Calibri" pitchFamily="34" charset="-122"/>
                <a:cs typeface="Calibri" pitchFamily="34" charset="-120"/>
              </a:rPr>
              <a:t>Established propagation models</a:t>
            </a:r>
            <a:endParaRPr lang="en-US" sz="1100" dirty="0"/>
          </a:p>
        </p:txBody>
      </p:sp>
      <p:sp>
        <p:nvSpPr>
          <p:cNvPr id="10" name="Shape 7"/>
          <p:cNvSpPr/>
          <p:nvPr/>
        </p:nvSpPr>
        <p:spPr>
          <a:xfrm>
            <a:off x="4306824" y="1554480"/>
            <a:ext cx="3575304" cy="1600200"/>
          </a:xfrm>
          <a:prstGeom prst="roundRect">
            <a:avLst>
              <a:gd name="adj" fmla="val 4571"/>
            </a:avLst>
          </a:prstGeom>
          <a:solidFill>
            <a:srgbClr val="111A2E"/>
          </a:solidFill>
          <a:ln w="12700">
            <a:solidFill>
              <a:srgbClr val="26314A"/>
            </a:solidFill>
            <a:prstDash val="solid"/>
          </a:ln>
        </p:spPr>
      </p:sp>
      <p:sp>
        <p:nvSpPr>
          <p:cNvPr id="11" name="Shape 8"/>
          <p:cNvSpPr/>
          <p:nvPr/>
        </p:nvSpPr>
        <p:spPr>
          <a:xfrm>
            <a:off x="4489704" y="1719072"/>
            <a:ext cx="457200" cy="457200"/>
          </a:xfrm>
          <a:prstGeom prst="roundRect">
            <a:avLst>
              <a:gd name="adj" fmla="val 18000"/>
            </a:avLst>
          </a:prstGeom>
          <a:solidFill>
            <a:srgbClr val="1B2338"/>
          </a:solidFill>
          <a:ln/>
        </p:spPr>
      </p:sp>
      <p:sp>
        <p:nvSpPr>
          <p:cNvPr id="12" name="Text 9"/>
          <p:cNvSpPr/>
          <p:nvPr/>
        </p:nvSpPr>
        <p:spPr>
          <a:xfrm>
            <a:off x="4489704" y="1719072"/>
            <a:ext cx="457200" cy="457200"/>
          </a:xfrm>
          <a:prstGeom prst="rect">
            <a:avLst/>
          </a:prstGeom>
          <a:noFill/>
          <a:ln/>
        </p:spPr>
        <p:txBody>
          <a:bodyPr wrap="square" lIns="0" tIns="0" rIns="0" bIns="0" rtlCol="0" anchor="ctr"/>
          <a:lstStyle/>
          <a:p>
            <a:pPr algn="ctr" indent="0" marL="0">
              <a:buNone/>
            </a:pPr>
            <a:r>
              <a:rPr lang="en-US" sz="1600" b="1" dirty="0">
                <a:solidFill>
                  <a:srgbClr val="A6B0C3"/>
                </a:solidFill>
                <a:latin typeface="Arial" pitchFamily="34" charset="0"/>
                <a:ea typeface="Arial" pitchFamily="34" charset="-122"/>
                <a:cs typeface="Arial" pitchFamily="34" charset="-120"/>
              </a:rPr>
              <a:t>02</a:t>
            </a:r>
            <a:endParaRPr lang="en-US" sz="1600" dirty="0"/>
          </a:p>
        </p:txBody>
      </p:sp>
      <p:sp>
        <p:nvSpPr>
          <p:cNvPr id="13" name="Text 10"/>
          <p:cNvSpPr/>
          <p:nvPr/>
        </p:nvSpPr>
        <p:spPr>
          <a:xfrm>
            <a:off x="4489704" y="2304288"/>
            <a:ext cx="3209544" cy="457200"/>
          </a:xfrm>
          <a:prstGeom prst="rect">
            <a:avLst/>
          </a:prstGeom>
          <a:noFill/>
          <a:ln/>
        </p:spPr>
        <p:txBody>
          <a:bodyPr wrap="square" lIns="0" tIns="0" rIns="0" bIns="0" rtlCol="0" anchor="ctr"/>
          <a:lstStyle/>
          <a:p>
            <a:pPr indent="0" marL="0">
              <a:lnSpc>
                <a:spcPts val="1600"/>
              </a:lnSpc>
              <a:buNone/>
            </a:pPr>
            <a:r>
              <a:rPr lang="en-US" sz="1400" b="1" dirty="0">
                <a:solidFill>
                  <a:srgbClr val="F1F5FB"/>
                </a:solidFill>
                <a:latin typeface="Calibri" pitchFamily="34" charset="0"/>
                <a:ea typeface="Calibri" pitchFamily="34" charset="-122"/>
                <a:cs typeface="Calibri" pitchFamily="34" charset="-120"/>
              </a:rPr>
              <a:t>CLOSE-APPROACH ANALYSIS</a:t>
            </a:r>
            <a:endParaRPr lang="en-US" sz="1400" dirty="0"/>
          </a:p>
        </p:txBody>
      </p:sp>
      <p:sp>
        <p:nvSpPr>
          <p:cNvPr id="14" name="Text 11"/>
          <p:cNvSpPr/>
          <p:nvPr/>
        </p:nvSpPr>
        <p:spPr>
          <a:xfrm>
            <a:off x="4489704" y="2761488"/>
            <a:ext cx="3209544" cy="320040"/>
          </a:xfrm>
          <a:prstGeom prst="rect">
            <a:avLst/>
          </a:prstGeom>
          <a:noFill/>
          <a:ln/>
        </p:spPr>
        <p:txBody>
          <a:bodyPr wrap="square" lIns="0" tIns="0" rIns="0" bIns="0" rtlCol="0" anchor="ctr"/>
          <a:lstStyle/>
          <a:p>
            <a:pPr indent="0" marL="0">
              <a:buNone/>
            </a:pPr>
            <a:r>
              <a:rPr lang="en-US" sz="1100" dirty="0">
                <a:solidFill>
                  <a:srgbClr val="A6B0C3"/>
                </a:solidFill>
                <a:latin typeface="Calibri" pitchFamily="34" charset="0"/>
                <a:ea typeface="Calibri" pitchFamily="34" charset="-122"/>
                <a:cs typeface="Calibri" pitchFamily="34" charset="-120"/>
              </a:rPr>
              <a:t>Distance · TCA · Rel. velocity</a:t>
            </a:r>
            <a:endParaRPr lang="en-US" sz="1100" dirty="0"/>
          </a:p>
        </p:txBody>
      </p:sp>
      <p:sp>
        <p:nvSpPr>
          <p:cNvPr id="15" name="Shape 12"/>
          <p:cNvSpPr/>
          <p:nvPr/>
        </p:nvSpPr>
        <p:spPr>
          <a:xfrm>
            <a:off x="8110728" y="1554480"/>
            <a:ext cx="3575304" cy="1600200"/>
          </a:xfrm>
          <a:prstGeom prst="roundRect">
            <a:avLst>
              <a:gd name="adj" fmla="val 4571"/>
            </a:avLst>
          </a:prstGeom>
          <a:solidFill>
            <a:srgbClr val="0F2733"/>
          </a:solidFill>
          <a:ln w="22225">
            <a:solidFill>
              <a:srgbClr val="4DD9EC"/>
            </a:solidFill>
            <a:prstDash val="solid"/>
          </a:ln>
        </p:spPr>
      </p:sp>
      <p:sp>
        <p:nvSpPr>
          <p:cNvPr id="16" name="Shape 13"/>
          <p:cNvSpPr/>
          <p:nvPr/>
        </p:nvSpPr>
        <p:spPr>
          <a:xfrm>
            <a:off x="8293608" y="1719072"/>
            <a:ext cx="457200" cy="457200"/>
          </a:xfrm>
          <a:prstGeom prst="roundRect">
            <a:avLst>
              <a:gd name="adj" fmla="val 18000"/>
            </a:avLst>
          </a:prstGeom>
          <a:solidFill>
            <a:srgbClr val="4DD9EC"/>
          </a:solidFill>
          <a:ln/>
        </p:spPr>
      </p:sp>
      <p:sp>
        <p:nvSpPr>
          <p:cNvPr id="17" name="Text 14"/>
          <p:cNvSpPr/>
          <p:nvPr/>
        </p:nvSpPr>
        <p:spPr>
          <a:xfrm>
            <a:off x="8293608" y="1719072"/>
            <a:ext cx="457200" cy="457200"/>
          </a:xfrm>
          <a:prstGeom prst="rect">
            <a:avLst/>
          </a:prstGeom>
          <a:noFill/>
          <a:ln/>
        </p:spPr>
        <p:txBody>
          <a:bodyPr wrap="square" lIns="0" tIns="0" rIns="0" bIns="0" rtlCol="0" anchor="ctr"/>
          <a:lstStyle/>
          <a:p>
            <a:pPr algn="ctr" indent="0" marL="0">
              <a:buNone/>
            </a:pPr>
            <a:r>
              <a:rPr lang="en-US" sz="1600" b="1" dirty="0">
                <a:solidFill>
                  <a:srgbClr val="060911"/>
                </a:solidFill>
                <a:latin typeface="Arial" pitchFamily="34" charset="0"/>
                <a:ea typeface="Arial" pitchFamily="34" charset="-122"/>
                <a:cs typeface="Arial" pitchFamily="34" charset="-120"/>
              </a:rPr>
              <a:t>03</a:t>
            </a:r>
            <a:endParaRPr lang="en-US" sz="1600" dirty="0"/>
          </a:p>
        </p:txBody>
      </p:sp>
      <p:sp>
        <p:nvSpPr>
          <p:cNvPr id="18" name="Text 15"/>
          <p:cNvSpPr/>
          <p:nvPr/>
        </p:nvSpPr>
        <p:spPr>
          <a:xfrm>
            <a:off x="8293608" y="2304288"/>
            <a:ext cx="3209544" cy="457200"/>
          </a:xfrm>
          <a:prstGeom prst="rect">
            <a:avLst/>
          </a:prstGeom>
          <a:noFill/>
          <a:ln/>
        </p:spPr>
        <p:txBody>
          <a:bodyPr wrap="square" lIns="0" tIns="0" rIns="0" bIns="0" rtlCol="0" anchor="ctr"/>
          <a:lstStyle/>
          <a:p>
            <a:pPr indent="0" marL="0">
              <a:lnSpc>
                <a:spcPts val="1600"/>
              </a:lnSpc>
              <a:buNone/>
            </a:pPr>
            <a:r>
              <a:rPr lang="en-US" sz="1400" b="1" dirty="0">
                <a:solidFill>
                  <a:srgbClr val="F1F5FB"/>
                </a:solidFill>
                <a:latin typeface="Calibri" pitchFamily="34" charset="0"/>
                <a:ea typeface="Calibri" pitchFamily="34" charset="-122"/>
                <a:cs typeface="Calibri" pitchFamily="34" charset="-120"/>
              </a:rPr>
              <a:t>FUTURE STATE ENVELOPE</a:t>
            </a:r>
            <a:endParaRPr lang="en-US" sz="1400" dirty="0"/>
          </a:p>
        </p:txBody>
      </p:sp>
      <p:sp>
        <p:nvSpPr>
          <p:cNvPr id="19" name="Text 16"/>
          <p:cNvSpPr/>
          <p:nvPr/>
        </p:nvSpPr>
        <p:spPr>
          <a:xfrm>
            <a:off x="8293608" y="2761488"/>
            <a:ext cx="3209544" cy="320040"/>
          </a:xfrm>
          <a:prstGeom prst="rect">
            <a:avLst/>
          </a:prstGeom>
          <a:noFill/>
          <a:ln/>
        </p:spPr>
        <p:txBody>
          <a:bodyPr wrap="square" lIns="0" tIns="0" rIns="0" bIns="0" rtlCol="0" anchor="ctr"/>
          <a:lstStyle/>
          <a:p>
            <a:pPr indent="0" marL="0">
              <a:buNone/>
            </a:pPr>
            <a:r>
              <a:rPr lang="en-US" sz="1100" dirty="0">
                <a:solidFill>
                  <a:srgbClr val="A6B0C3"/>
                </a:solidFill>
                <a:latin typeface="Calibri" pitchFamily="34" charset="0"/>
                <a:ea typeface="Calibri" pitchFamily="34" charset="-122"/>
                <a:cs typeface="Calibri" pitchFamily="34" charset="-120"/>
              </a:rPr>
              <a:t>Ensemble under uncertainty</a:t>
            </a:r>
            <a:endParaRPr lang="en-US" sz="1100" dirty="0"/>
          </a:p>
        </p:txBody>
      </p:sp>
      <p:sp>
        <p:nvSpPr>
          <p:cNvPr id="20" name="Shape 17"/>
          <p:cNvSpPr/>
          <p:nvPr/>
        </p:nvSpPr>
        <p:spPr>
          <a:xfrm>
            <a:off x="502920" y="3383280"/>
            <a:ext cx="3575304" cy="1600200"/>
          </a:xfrm>
          <a:prstGeom prst="roundRect">
            <a:avLst>
              <a:gd name="adj" fmla="val 4571"/>
            </a:avLst>
          </a:prstGeom>
          <a:solidFill>
            <a:srgbClr val="111A2E"/>
          </a:solidFill>
          <a:ln w="12700">
            <a:solidFill>
              <a:srgbClr val="26314A"/>
            </a:solidFill>
            <a:prstDash val="solid"/>
          </a:ln>
        </p:spPr>
      </p:sp>
      <p:sp>
        <p:nvSpPr>
          <p:cNvPr id="21" name="Shape 18"/>
          <p:cNvSpPr/>
          <p:nvPr/>
        </p:nvSpPr>
        <p:spPr>
          <a:xfrm>
            <a:off x="685800" y="3547872"/>
            <a:ext cx="457200" cy="457200"/>
          </a:xfrm>
          <a:prstGeom prst="roundRect">
            <a:avLst>
              <a:gd name="adj" fmla="val 18000"/>
            </a:avLst>
          </a:prstGeom>
          <a:solidFill>
            <a:srgbClr val="1B2338"/>
          </a:solidFill>
          <a:ln/>
        </p:spPr>
      </p:sp>
      <p:sp>
        <p:nvSpPr>
          <p:cNvPr id="22" name="Text 19"/>
          <p:cNvSpPr/>
          <p:nvPr/>
        </p:nvSpPr>
        <p:spPr>
          <a:xfrm>
            <a:off x="685800" y="3547872"/>
            <a:ext cx="457200" cy="457200"/>
          </a:xfrm>
          <a:prstGeom prst="rect">
            <a:avLst/>
          </a:prstGeom>
          <a:noFill/>
          <a:ln/>
        </p:spPr>
        <p:txBody>
          <a:bodyPr wrap="square" lIns="0" tIns="0" rIns="0" bIns="0" rtlCol="0" anchor="ctr"/>
          <a:lstStyle/>
          <a:p>
            <a:pPr algn="ctr" indent="0" marL="0">
              <a:buNone/>
            </a:pPr>
            <a:r>
              <a:rPr lang="en-US" sz="1600" b="1" dirty="0">
                <a:solidFill>
                  <a:srgbClr val="A6B0C3"/>
                </a:solidFill>
                <a:latin typeface="Arial" pitchFamily="34" charset="0"/>
                <a:ea typeface="Arial" pitchFamily="34" charset="-122"/>
                <a:cs typeface="Arial" pitchFamily="34" charset="-120"/>
              </a:rPr>
              <a:t>04</a:t>
            </a:r>
            <a:endParaRPr lang="en-US" sz="1600" dirty="0"/>
          </a:p>
        </p:txBody>
      </p:sp>
      <p:sp>
        <p:nvSpPr>
          <p:cNvPr id="23" name="Text 20"/>
          <p:cNvSpPr/>
          <p:nvPr/>
        </p:nvSpPr>
        <p:spPr>
          <a:xfrm>
            <a:off x="685800" y="4133088"/>
            <a:ext cx="3209544" cy="457200"/>
          </a:xfrm>
          <a:prstGeom prst="rect">
            <a:avLst/>
          </a:prstGeom>
          <a:noFill/>
          <a:ln/>
        </p:spPr>
        <p:txBody>
          <a:bodyPr wrap="square" lIns="0" tIns="0" rIns="0" bIns="0" rtlCol="0" anchor="ctr"/>
          <a:lstStyle/>
          <a:p>
            <a:pPr indent="0" marL="0">
              <a:lnSpc>
                <a:spcPts val="1600"/>
              </a:lnSpc>
              <a:buNone/>
            </a:pPr>
            <a:r>
              <a:rPr lang="en-US" sz="1400" b="1" dirty="0">
                <a:solidFill>
                  <a:srgbClr val="F1F5FB"/>
                </a:solidFill>
                <a:latin typeface="Calibri" pitchFamily="34" charset="0"/>
                <a:ea typeface="Calibri" pitchFamily="34" charset="-122"/>
                <a:cs typeface="Calibri" pitchFamily="34" charset="-120"/>
              </a:rPr>
              <a:t>SCENARIO EXPLORER</a:t>
            </a:r>
            <a:endParaRPr lang="en-US" sz="1400" dirty="0"/>
          </a:p>
        </p:txBody>
      </p:sp>
      <p:sp>
        <p:nvSpPr>
          <p:cNvPr id="24" name="Text 21"/>
          <p:cNvSpPr/>
          <p:nvPr/>
        </p:nvSpPr>
        <p:spPr>
          <a:xfrm>
            <a:off x="685800" y="4590288"/>
            <a:ext cx="3209544" cy="320040"/>
          </a:xfrm>
          <a:prstGeom prst="rect">
            <a:avLst/>
          </a:prstGeom>
          <a:noFill/>
          <a:ln/>
        </p:spPr>
        <p:txBody>
          <a:bodyPr wrap="square" lIns="0" tIns="0" rIns="0" bIns="0" rtlCol="0" anchor="ctr"/>
          <a:lstStyle/>
          <a:p>
            <a:pPr indent="0" marL="0">
              <a:buNone/>
            </a:pPr>
            <a:r>
              <a:rPr lang="en-US" sz="1100" dirty="0">
                <a:solidFill>
                  <a:srgbClr val="A6B0C3"/>
                </a:solidFill>
                <a:latin typeface="Calibri" pitchFamily="34" charset="0"/>
                <a:ea typeface="Calibri" pitchFamily="34" charset="-122"/>
                <a:cs typeface="Calibri" pitchFamily="34" charset="-120"/>
              </a:rPr>
              <a:t>No Action · A · B</a:t>
            </a:r>
            <a:endParaRPr lang="en-US" sz="1100" dirty="0"/>
          </a:p>
        </p:txBody>
      </p:sp>
      <p:sp>
        <p:nvSpPr>
          <p:cNvPr id="25" name="Shape 22"/>
          <p:cNvSpPr/>
          <p:nvPr/>
        </p:nvSpPr>
        <p:spPr>
          <a:xfrm>
            <a:off x="4306824" y="3383280"/>
            <a:ext cx="3575304" cy="1600200"/>
          </a:xfrm>
          <a:prstGeom prst="roundRect">
            <a:avLst>
              <a:gd name="adj" fmla="val 4571"/>
            </a:avLst>
          </a:prstGeom>
          <a:solidFill>
            <a:srgbClr val="111A2E"/>
          </a:solidFill>
          <a:ln w="12700">
            <a:solidFill>
              <a:srgbClr val="26314A"/>
            </a:solidFill>
            <a:prstDash val="solid"/>
          </a:ln>
        </p:spPr>
      </p:sp>
      <p:sp>
        <p:nvSpPr>
          <p:cNvPr id="26" name="Shape 23"/>
          <p:cNvSpPr/>
          <p:nvPr/>
        </p:nvSpPr>
        <p:spPr>
          <a:xfrm>
            <a:off x="4489704" y="3547872"/>
            <a:ext cx="457200" cy="457200"/>
          </a:xfrm>
          <a:prstGeom prst="roundRect">
            <a:avLst>
              <a:gd name="adj" fmla="val 18000"/>
            </a:avLst>
          </a:prstGeom>
          <a:solidFill>
            <a:srgbClr val="1B2338"/>
          </a:solidFill>
          <a:ln/>
        </p:spPr>
      </p:sp>
      <p:sp>
        <p:nvSpPr>
          <p:cNvPr id="27" name="Text 24"/>
          <p:cNvSpPr/>
          <p:nvPr/>
        </p:nvSpPr>
        <p:spPr>
          <a:xfrm>
            <a:off x="4489704" y="3547872"/>
            <a:ext cx="457200" cy="457200"/>
          </a:xfrm>
          <a:prstGeom prst="rect">
            <a:avLst/>
          </a:prstGeom>
          <a:noFill/>
          <a:ln/>
        </p:spPr>
        <p:txBody>
          <a:bodyPr wrap="square" lIns="0" tIns="0" rIns="0" bIns="0" rtlCol="0" anchor="ctr"/>
          <a:lstStyle/>
          <a:p>
            <a:pPr algn="ctr" indent="0" marL="0">
              <a:buNone/>
            </a:pPr>
            <a:r>
              <a:rPr lang="en-US" sz="1600" b="1" dirty="0">
                <a:solidFill>
                  <a:srgbClr val="A6B0C3"/>
                </a:solidFill>
                <a:latin typeface="Arial" pitchFamily="34" charset="0"/>
                <a:ea typeface="Arial" pitchFamily="34" charset="-122"/>
                <a:cs typeface="Arial" pitchFamily="34" charset="-120"/>
              </a:rPr>
              <a:t>05</a:t>
            </a:r>
            <a:endParaRPr lang="en-US" sz="1600" dirty="0"/>
          </a:p>
        </p:txBody>
      </p:sp>
      <p:sp>
        <p:nvSpPr>
          <p:cNvPr id="28" name="Text 25"/>
          <p:cNvSpPr/>
          <p:nvPr/>
        </p:nvSpPr>
        <p:spPr>
          <a:xfrm>
            <a:off x="4489704" y="4133088"/>
            <a:ext cx="3209544" cy="457200"/>
          </a:xfrm>
          <a:prstGeom prst="rect">
            <a:avLst/>
          </a:prstGeom>
          <a:noFill/>
          <a:ln/>
        </p:spPr>
        <p:txBody>
          <a:bodyPr wrap="square" lIns="0" tIns="0" rIns="0" bIns="0" rtlCol="0" anchor="ctr"/>
          <a:lstStyle/>
          <a:p>
            <a:pPr indent="0" marL="0">
              <a:lnSpc>
                <a:spcPts val="1600"/>
              </a:lnSpc>
              <a:buNone/>
            </a:pPr>
            <a:r>
              <a:rPr lang="en-US" sz="1400" b="1" dirty="0">
                <a:solidFill>
                  <a:srgbClr val="F1F5FB"/>
                </a:solidFill>
                <a:latin typeface="Calibri" pitchFamily="34" charset="0"/>
                <a:ea typeface="Calibri" pitchFamily="34" charset="-122"/>
                <a:cs typeface="Calibri" pitchFamily="34" charset="-120"/>
              </a:rPr>
              <a:t>MULTI-HORIZON</a:t>
            </a:r>
            <a:endParaRPr lang="en-US" sz="1400" dirty="0"/>
          </a:p>
        </p:txBody>
      </p:sp>
      <p:sp>
        <p:nvSpPr>
          <p:cNvPr id="29" name="Text 26"/>
          <p:cNvSpPr/>
          <p:nvPr/>
        </p:nvSpPr>
        <p:spPr>
          <a:xfrm>
            <a:off x="4489704" y="4590288"/>
            <a:ext cx="3209544" cy="320040"/>
          </a:xfrm>
          <a:prstGeom prst="rect">
            <a:avLst/>
          </a:prstGeom>
          <a:noFill/>
          <a:ln/>
        </p:spPr>
        <p:txBody>
          <a:bodyPr wrap="square" lIns="0" tIns="0" rIns="0" bIns="0" rtlCol="0" anchor="ctr"/>
          <a:lstStyle/>
          <a:p>
            <a:pPr indent="0" marL="0">
              <a:buNone/>
            </a:pPr>
            <a:r>
              <a:rPr lang="en-US" sz="1100" dirty="0">
                <a:solidFill>
                  <a:srgbClr val="A6B0C3"/>
                </a:solidFill>
                <a:latin typeface="Calibri" pitchFamily="34" charset="0"/>
                <a:ea typeface="Calibri" pitchFamily="34" charset="-122"/>
                <a:cs typeface="Calibri" pitchFamily="34" charset="-120"/>
              </a:rPr>
              <a:t>24H · 7D · 30D</a:t>
            </a:r>
            <a:endParaRPr lang="en-US" sz="1100" dirty="0"/>
          </a:p>
        </p:txBody>
      </p:sp>
      <p:sp>
        <p:nvSpPr>
          <p:cNvPr id="30" name="Shape 27"/>
          <p:cNvSpPr/>
          <p:nvPr/>
        </p:nvSpPr>
        <p:spPr>
          <a:xfrm>
            <a:off x="8110728" y="3383280"/>
            <a:ext cx="3575304" cy="1600200"/>
          </a:xfrm>
          <a:prstGeom prst="roundRect">
            <a:avLst>
              <a:gd name="adj" fmla="val 4571"/>
            </a:avLst>
          </a:prstGeom>
          <a:solidFill>
            <a:srgbClr val="0F2733"/>
          </a:solidFill>
          <a:ln w="22225">
            <a:solidFill>
              <a:srgbClr val="4DD9EC"/>
            </a:solidFill>
            <a:prstDash val="solid"/>
          </a:ln>
        </p:spPr>
      </p:sp>
      <p:sp>
        <p:nvSpPr>
          <p:cNvPr id="31" name="Shape 28"/>
          <p:cNvSpPr/>
          <p:nvPr/>
        </p:nvSpPr>
        <p:spPr>
          <a:xfrm>
            <a:off x="8293608" y="3547872"/>
            <a:ext cx="457200" cy="457200"/>
          </a:xfrm>
          <a:prstGeom prst="roundRect">
            <a:avLst>
              <a:gd name="adj" fmla="val 18000"/>
            </a:avLst>
          </a:prstGeom>
          <a:solidFill>
            <a:srgbClr val="4DD9EC"/>
          </a:solidFill>
          <a:ln/>
        </p:spPr>
      </p:sp>
      <p:sp>
        <p:nvSpPr>
          <p:cNvPr id="32" name="Text 29"/>
          <p:cNvSpPr/>
          <p:nvPr/>
        </p:nvSpPr>
        <p:spPr>
          <a:xfrm>
            <a:off x="8293608" y="3547872"/>
            <a:ext cx="457200" cy="457200"/>
          </a:xfrm>
          <a:prstGeom prst="rect">
            <a:avLst/>
          </a:prstGeom>
          <a:noFill/>
          <a:ln/>
        </p:spPr>
        <p:txBody>
          <a:bodyPr wrap="square" lIns="0" tIns="0" rIns="0" bIns="0" rtlCol="0" anchor="ctr"/>
          <a:lstStyle/>
          <a:p>
            <a:pPr algn="ctr" indent="0" marL="0">
              <a:buNone/>
            </a:pPr>
            <a:r>
              <a:rPr lang="en-US" sz="1600" b="1" dirty="0">
                <a:solidFill>
                  <a:srgbClr val="060911"/>
                </a:solidFill>
                <a:latin typeface="Arial" pitchFamily="34" charset="0"/>
                <a:ea typeface="Arial" pitchFamily="34" charset="-122"/>
                <a:cs typeface="Arial" pitchFamily="34" charset="-120"/>
              </a:rPr>
              <a:t>06</a:t>
            </a:r>
            <a:endParaRPr lang="en-US" sz="1600" dirty="0"/>
          </a:p>
        </p:txBody>
      </p:sp>
      <p:sp>
        <p:nvSpPr>
          <p:cNvPr id="33" name="Text 30"/>
          <p:cNvSpPr/>
          <p:nvPr/>
        </p:nvSpPr>
        <p:spPr>
          <a:xfrm>
            <a:off x="8293608" y="4133088"/>
            <a:ext cx="3209544" cy="457200"/>
          </a:xfrm>
          <a:prstGeom prst="rect">
            <a:avLst/>
          </a:prstGeom>
          <a:noFill/>
          <a:ln/>
        </p:spPr>
        <p:txBody>
          <a:bodyPr wrap="square" lIns="0" tIns="0" rIns="0" bIns="0" rtlCol="0" anchor="ctr"/>
          <a:lstStyle/>
          <a:p>
            <a:pPr indent="0" marL="0">
              <a:lnSpc>
                <a:spcPts val="1600"/>
              </a:lnSpc>
              <a:buNone/>
            </a:pPr>
            <a:r>
              <a:rPr lang="en-US" sz="1400" b="1" dirty="0">
                <a:solidFill>
                  <a:srgbClr val="F1F5FB"/>
                </a:solidFill>
                <a:latin typeface="Calibri" pitchFamily="34" charset="0"/>
                <a:ea typeface="Calibri" pitchFamily="34" charset="-122"/>
                <a:cs typeface="Calibri" pitchFamily="34" charset="-120"/>
              </a:rPr>
              <a:t>DECISION SENSITIVITY</a:t>
            </a:r>
            <a:endParaRPr lang="en-US" sz="1400" dirty="0"/>
          </a:p>
        </p:txBody>
      </p:sp>
      <p:sp>
        <p:nvSpPr>
          <p:cNvPr id="34" name="Text 31"/>
          <p:cNvSpPr/>
          <p:nvPr/>
        </p:nvSpPr>
        <p:spPr>
          <a:xfrm>
            <a:off x="8293608" y="4590288"/>
            <a:ext cx="3209544" cy="320040"/>
          </a:xfrm>
          <a:prstGeom prst="rect">
            <a:avLst/>
          </a:prstGeom>
          <a:noFill/>
          <a:ln/>
        </p:spPr>
        <p:txBody>
          <a:bodyPr wrap="square" lIns="0" tIns="0" rIns="0" bIns="0" rtlCol="0" anchor="ctr"/>
          <a:lstStyle/>
          <a:p>
            <a:pPr indent="0" marL="0">
              <a:buNone/>
            </a:pPr>
            <a:r>
              <a:rPr lang="en-US" sz="1100" dirty="0">
                <a:solidFill>
                  <a:srgbClr val="A6B0C3"/>
                </a:solidFill>
                <a:latin typeface="Calibri" pitchFamily="34" charset="0"/>
                <a:ea typeface="Calibri" pitchFamily="34" charset="-122"/>
                <a:cs typeface="Calibri" pitchFamily="34" charset="-120"/>
              </a:rPr>
              <a:t>Stability under uncertainty</a:t>
            </a:r>
            <a:endParaRPr lang="en-US" sz="1100" dirty="0"/>
          </a:p>
        </p:txBody>
      </p:sp>
      <p:sp>
        <p:nvSpPr>
          <p:cNvPr id="35" name="Text 32"/>
          <p:cNvSpPr/>
          <p:nvPr/>
        </p:nvSpPr>
        <p:spPr>
          <a:xfrm>
            <a:off x="502920" y="5257800"/>
            <a:ext cx="11183112" cy="411480"/>
          </a:xfrm>
          <a:prstGeom prst="rect">
            <a:avLst/>
          </a:prstGeom>
          <a:noFill/>
          <a:ln/>
        </p:spPr>
        <p:txBody>
          <a:bodyPr wrap="square" lIns="0" tIns="0" rIns="0" bIns="0" rtlCol="0" anchor="ctr"/>
          <a:lstStyle/>
          <a:p>
            <a:pPr algn="ctr" indent="0" marL="0">
              <a:buNone/>
            </a:pPr>
            <a:r>
              <a:rPr lang="en-US" sz="1500" b="1" i="1" dirty="0">
                <a:solidFill>
                  <a:srgbClr val="4DD9EC"/>
                </a:solidFill>
                <a:latin typeface="Calibri" pitchFamily="34" charset="0"/>
                <a:ea typeface="Calibri" pitchFamily="34" charset="-122"/>
                <a:cs typeface="Calibri" pitchFamily="34" charset="-120"/>
              </a:rPr>
              <a:t>Extends established debris tracking into an uncertainty-aware, human-in-the-loop decision framework.</a:t>
            </a:r>
            <a:endParaRPr lang="en-US" sz="1500" dirty="0"/>
          </a:p>
        </p:txBody>
      </p:sp>
      <p:sp>
        <p:nvSpPr>
          <p:cNvPr id="36" name="Text 33"/>
          <p:cNvSpPr/>
          <p:nvPr/>
        </p:nvSpPr>
        <p:spPr>
          <a:xfrm>
            <a:off x="502920" y="6565392"/>
            <a:ext cx="6400800" cy="228600"/>
          </a:xfrm>
          <a:prstGeom prst="rect">
            <a:avLst/>
          </a:prstGeom>
          <a:noFill/>
          <a:ln/>
        </p:spPr>
        <p:txBody>
          <a:bodyPr wrap="square" lIns="0" tIns="0" rIns="0" bIns="0" rtlCol="0" anchor="ctr"/>
          <a:lstStyle/>
          <a:p>
            <a:pPr indent="0" marL="0">
              <a:buNone/>
            </a:pPr>
            <a:r>
              <a:rPr lang="en-US" sz="850" dirty="0">
                <a:solidFill>
                  <a:srgbClr val="5E6A82"/>
                </a:solidFill>
                <a:latin typeface="Calibri" pitchFamily="34" charset="0"/>
                <a:ea typeface="Calibri" pitchFamily="34" charset="-122"/>
                <a:cs typeface="Calibri" pitchFamily="34" charset="-120"/>
              </a:rPr>
              <a:t>ORBITAL FUTURE DECISION ENGINE  ·  FANTASTIC 4</a:t>
            </a:r>
            <a:endParaRPr lang="en-US" sz="850" dirty="0"/>
          </a:p>
        </p:txBody>
      </p:sp>
      <p:sp>
        <p:nvSpPr>
          <p:cNvPr id="37" name="Text 34"/>
          <p:cNvSpPr/>
          <p:nvPr/>
        </p:nvSpPr>
        <p:spPr>
          <a:xfrm>
            <a:off x="8686800" y="6565392"/>
            <a:ext cx="3017520" cy="228600"/>
          </a:xfrm>
          <a:prstGeom prst="rect">
            <a:avLst/>
          </a:prstGeom>
          <a:noFill/>
          <a:ln/>
        </p:spPr>
        <p:txBody>
          <a:bodyPr wrap="square" lIns="0" tIns="0" rIns="0" bIns="0" rtlCol="0" anchor="ctr"/>
          <a:lstStyle/>
          <a:p>
            <a:pPr algn="r" indent="0" marL="0">
              <a:buNone/>
            </a:pPr>
            <a:r>
              <a:rPr lang="en-US" sz="850" spc="100" kern="0" dirty="0">
                <a:solidFill>
                  <a:srgbClr val="185C68"/>
                </a:solidFill>
                <a:latin typeface="Calibri" pitchFamily="34" charset="0"/>
                <a:ea typeface="Calibri" pitchFamily="34" charset="-122"/>
                <a:cs typeface="Calibri" pitchFamily="34" charset="-120"/>
              </a:rPr>
              <a:t>MISSION: OFDE-01</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60911"/>
        </a:solidFill>
      </p:bgPr>
    </p:bg>
    <p:spTree>
      <p:nvGrpSpPr>
        <p:cNvPr id="1" name=""/>
        <p:cNvGrpSpPr/>
        <p:nvPr/>
      </p:nvGrpSpPr>
      <p:grpSpPr>
        <a:xfrm>
          <a:off x="0" y="0"/>
          <a:ext cx="0" cy="0"/>
          <a:chOff x="0" y="0"/>
          <a:chExt cx="0" cy="0"/>
        </a:xfrm>
      </p:grpSpPr>
      <p:pic>
        <p:nvPicPr>
          <p:cNvPr id="2" name="Image 0" descr="/home/claude/assets/erospace_rgba.png">    </p:cNvPr>
          <p:cNvPicPr>
            <a:picLocks noChangeAspect="1"/>
          </p:cNvPicPr>
          <p:nvPr/>
        </p:nvPicPr>
        <p:blipFill>
          <a:blip r:embed="rId1">
            <a:alphaModFix amt="75000"/>
          </a:blip>
          <a:stretch>
            <a:fillRect/>
          </a:stretch>
        </p:blipFill>
        <p:spPr>
          <a:xfrm>
            <a:off x="10561320" y="292608"/>
            <a:ext cx="1325880" cy="459943"/>
          </a:xfrm>
          <a:prstGeom prst="rect">
            <a:avLst/>
          </a:prstGeom>
        </p:spPr>
      </p:pic>
      <p:sp>
        <p:nvSpPr>
          <p:cNvPr id="3" name="Text 0"/>
          <p:cNvSpPr/>
          <p:nvPr/>
        </p:nvSpPr>
        <p:spPr>
          <a:xfrm>
            <a:off x="8229600" y="786384"/>
            <a:ext cx="2377440" cy="182880"/>
          </a:xfrm>
          <a:prstGeom prst="rect">
            <a:avLst/>
          </a:prstGeom>
          <a:noFill/>
          <a:ln/>
        </p:spPr>
        <p:txBody>
          <a:bodyPr wrap="square" lIns="0" tIns="0" rIns="0" bIns="0" rtlCol="0" anchor="ctr"/>
          <a:lstStyle/>
          <a:p>
            <a:pPr algn="r" indent="0" marL="0">
              <a:buNone/>
            </a:pPr>
            <a:r>
              <a:rPr lang="en-US" sz="800" spc="100" kern="0" dirty="0">
                <a:solidFill>
                  <a:srgbClr val="185C68"/>
                </a:solidFill>
                <a:latin typeface="Calibri" pitchFamily="34" charset="0"/>
                <a:ea typeface="Calibri" pitchFamily="34" charset="-122"/>
                <a:cs typeface="Calibri" pitchFamily="34" charset="-120"/>
              </a:rPr>
              <a:t>OBJECT: SAT-X  ·  HORIZON: 30 DAYS</a:t>
            </a:r>
            <a:endParaRPr lang="en-US" sz="800" dirty="0"/>
          </a:p>
        </p:txBody>
      </p:sp>
      <p:sp>
        <p:nvSpPr>
          <p:cNvPr id="4" name="Text 1"/>
          <p:cNvSpPr/>
          <p:nvPr/>
        </p:nvSpPr>
        <p:spPr>
          <a:xfrm>
            <a:off x="502920" y="365760"/>
            <a:ext cx="8229600" cy="292608"/>
          </a:xfrm>
          <a:prstGeom prst="rect">
            <a:avLst/>
          </a:prstGeom>
          <a:noFill/>
          <a:ln/>
        </p:spPr>
        <p:txBody>
          <a:bodyPr wrap="square" lIns="0" tIns="0" rIns="0" bIns="0" rtlCol="0" anchor="ctr"/>
          <a:lstStyle/>
          <a:p>
            <a:pPr indent="0" marL="0">
              <a:buNone/>
            </a:pPr>
            <a:r>
              <a:rPr lang="en-US" sz="1300" b="1" spc="200" kern="0" dirty="0">
                <a:solidFill>
                  <a:srgbClr val="4DD9EC"/>
                </a:solidFill>
                <a:latin typeface="Calibri" pitchFamily="34" charset="0"/>
                <a:ea typeface="Calibri" pitchFamily="34" charset="-122"/>
                <a:cs typeface="Calibri" pitchFamily="34" charset="-120"/>
              </a:rPr>
              <a:t>SIGNATURE CONCEPT</a:t>
            </a:r>
            <a:endParaRPr lang="en-US" sz="1300" dirty="0"/>
          </a:p>
        </p:txBody>
      </p:sp>
      <p:sp>
        <p:nvSpPr>
          <p:cNvPr id="5" name="Text 2"/>
          <p:cNvSpPr/>
          <p:nvPr/>
        </p:nvSpPr>
        <p:spPr>
          <a:xfrm>
            <a:off x="502920" y="658368"/>
            <a:ext cx="10972800" cy="685800"/>
          </a:xfrm>
          <a:prstGeom prst="rect">
            <a:avLst/>
          </a:prstGeom>
          <a:noFill/>
          <a:ln/>
        </p:spPr>
        <p:txBody>
          <a:bodyPr wrap="square" lIns="0" tIns="0" rIns="0" bIns="0" rtlCol="0" anchor="ctr"/>
          <a:lstStyle/>
          <a:p>
            <a:pPr indent="0" marL="0">
              <a:buNone/>
            </a:pPr>
            <a:r>
              <a:rPr lang="en-US" sz="3000" b="1" dirty="0">
                <a:solidFill>
                  <a:srgbClr val="F1F5FB"/>
                </a:solidFill>
                <a:latin typeface="Arial" pitchFamily="34" charset="0"/>
                <a:ea typeface="Arial" pitchFamily="34" charset="-122"/>
                <a:cs typeface="Arial" pitchFamily="34" charset="-120"/>
              </a:rPr>
              <a:t>Future State Envelope</a:t>
            </a:r>
            <a:endParaRPr lang="en-US" sz="3000" dirty="0"/>
          </a:p>
        </p:txBody>
      </p:sp>
      <p:sp>
        <p:nvSpPr>
          <p:cNvPr id="6" name="Shape 3"/>
          <p:cNvSpPr/>
          <p:nvPr/>
        </p:nvSpPr>
        <p:spPr>
          <a:xfrm>
            <a:off x="502920" y="1508760"/>
            <a:ext cx="11183112" cy="4160520"/>
          </a:xfrm>
          <a:prstGeom prst="roundRect">
            <a:avLst>
              <a:gd name="adj" fmla="val 1758"/>
            </a:avLst>
          </a:prstGeom>
          <a:solidFill>
            <a:srgbClr val="070C16"/>
          </a:solidFill>
          <a:ln w="12700">
            <a:solidFill>
              <a:srgbClr val="26314A"/>
            </a:solidFill>
            <a:prstDash val="solid"/>
          </a:ln>
        </p:spPr>
      </p:sp>
      <p:sp>
        <p:nvSpPr>
          <p:cNvPr id="7" name="Shape 4"/>
          <p:cNvSpPr/>
          <p:nvPr/>
        </p:nvSpPr>
        <p:spPr>
          <a:xfrm>
            <a:off x="-1417320" y="4023360"/>
            <a:ext cx="4389120" cy="4389120"/>
          </a:xfrm>
          <a:prstGeom prst="ellipse">
            <a:avLst/>
          </a:prstGeom>
          <a:solidFill>
            <a:srgbClr val="0C2A3E"/>
          </a:solidFill>
          <a:ln/>
        </p:spPr>
      </p:sp>
      <p:sp>
        <p:nvSpPr>
          <p:cNvPr id="8" name="Shape 5"/>
          <p:cNvSpPr/>
          <p:nvPr/>
        </p:nvSpPr>
        <p:spPr>
          <a:xfrm>
            <a:off x="-1417320" y="4023360"/>
            <a:ext cx="4389120" cy="4389120"/>
          </a:xfrm>
          <a:prstGeom prst="ellipse">
            <a:avLst/>
          </a:prstGeom>
          <a:ln w="12700">
            <a:solidFill>
              <a:srgbClr val="185C68"/>
            </a:solidFill>
            <a:prstDash val="solid"/>
          </a:ln>
        </p:spPr>
      </p:sp>
      <p:sp>
        <p:nvSpPr>
          <p:cNvPr id="9" name="Shape 6"/>
          <p:cNvSpPr/>
          <p:nvPr/>
        </p:nvSpPr>
        <p:spPr>
          <a:xfrm>
            <a:off x="-758952" y="4352544"/>
            <a:ext cx="3291840" cy="4169664"/>
          </a:xfrm>
          <a:prstGeom prst="ellipse">
            <a:avLst/>
          </a:prstGeom>
          <a:solidFill>
            <a:srgbClr val="081D2C"/>
          </a:solidFill>
          <a:ln/>
        </p:spPr>
      </p:sp>
      <p:sp>
        <p:nvSpPr>
          <p:cNvPr id="10" name="Shape 7"/>
          <p:cNvSpPr/>
          <p:nvPr/>
        </p:nvSpPr>
        <p:spPr>
          <a:xfrm>
            <a:off x="1325880" y="4983480"/>
            <a:ext cx="4677156" cy="-1394460"/>
          </a:xfrm>
          <a:prstGeom prst="line">
            <a:avLst/>
          </a:prstGeom>
          <a:noFill/>
          <a:ln w="31750">
            <a:solidFill>
              <a:srgbClr val="4DD9EC"/>
            </a:solidFill>
            <a:prstDash val="solid"/>
          </a:ln>
        </p:spPr>
      </p:sp>
      <p:sp>
        <p:nvSpPr>
          <p:cNvPr id="11" name="Shape 8"/>
          <p:cNvSpPr/>
          <p:nvPr/>
        </p:nvSpPr>
        <p:spPr>
          <a:xfrm>
            <a:off x="6003036" y="3589020"/>
            <a:ext cx="4677156" cy="-1394460"/>
          </a:xfrm>
          <a:prstGeom prst="line">
            <a:avLst/>
          </a:prstGeom>
          <a:noFill/>
          <a:ln w="31750">
            <a:solidFill>
              <a:srgbClr val="4DD9EC"/>
            </a:solidFill>
            <a:prstDash val="solid"/>
          </a:ln>
        </p:spPr>
      </p:sp>
      <p:sp>
        <p:nvSpPr>
          <p:cNvPr id="12" name="Shape 9"/>
          <p:cNvSpPr/>
          <p:nvPr/>
        </p:nvSpPr>
        <p:spPr>
          <a:xfrm>
            <a:off x="7870290" y="3051884"/>
            <a:ext cx="41148" cy="41148"/>
          </a:xfrm>
          <a:prstGeom prst="ellipse">
            <a:avLst/>
          </a:prstGeom>
          <a:solidFill>
            <a:srgbClr val="4DD9EC"/>
          </a:solidFill>
          <a:ln/>
        </p:spPr>
      </p:sp>
      <p:sp>
        <p:nvSpPr>
          <p:cNvPr id="13" name="Shape 10"/>
          <p:cNvSpPr/>
          <p:nvPr/>
        </p:nvSpPr>
        <p:spPr>
          <a:xfrm>
            <a:off x="2226333" y="4696740"/>
            <a:ext cx="41148" cy="41148"/>
          </a:xfrm>
          <a:prstGeom prst="ellipse">
            <a:avLst/>
          </a:prstGeom>
          <a:solidFill>
            <a:srgbClr val="4DD9EC"/>
          </a:solidFill>
          <a:ln/>
        </p:spPr>
      </p:sp>
      <p:sp>
        <p:nvSpPr>
          <p:cNvPr id="14" name="Shape 11"/>
          <p:cNvSpPr/>
          <p:nvPr/>
        </p:nvSpPr>
        <p:spPr>
          <a:xfrm>
            <a:off x="3083989" y="4455493"/>
            <a:ext cx="41148" cy="41148"/>
          </a:xfrm>
          <a:prstGeom prst="ellipse">
            <a:avLst/>
          </a:prstGeom>
          <a:solidFill>
            <a:srgbClr val="4DD9EC"/>
          </a:solidFill>
          <a:ln/>
        </p:spPr>
      </p:sp>
      <p:sp>
        <p:nvSpPr>
          <p:cNvPr id="15" name="Shape 12"/>
          <p:cNvSpPr/>
          <p:nvPr/>
        </p:nvSpPr>
        <p:spPr>
          <a:xfrm>
            <a:off x="4530852" y="4084936"/>
            <a:ext cx="41148" cy="41148"/>
          </a:xfrm>
          <a:prstGeom prst="ellipse">
            <a:avLst/>
          </a:prstGeom>
          <a:solidFill>
            <a:srgbClr val="4DD9EC"/>
          </a:solidFill>
          <a:ln/>
        </p:spPr>
      </p:sp>
      <p:sp>
        <p:nvSpPr>
          <p:cNvPr id="16" name="Shape 13"/>
          <p:cNvSpPr/>
          <p:nvPr/>
        </p:nvSpPr>
        <p:spPr>
          <a:xfrm>
            <a:off x="10264626" y="2108866"/>
            <a:ext cx="41148" cy="41148"/>
          </a:xfrm>
          <a:prstGeom prst="ellipse">
            <a:avLst/>
          </a:prstGeom>
          <a:solidFill>
            <a:srgbClr val="4DD9EC"/>
          </a:solidFill>
          <a:ln/>
        </p:spPr>
      </p:sp>
      <p:sp>
        <p:nvSpPr>
          <p:cNvPr id="17" name="Shape 14"/>
          <p:cNvSpPr/>
          <p:nvPr/>
        </p:nvSpPr>
        <p:spPr>
          <a:xfrm>
            <a:off x="5509802" y="3724724"/>
            <a:ext cx="41148" cy="41148"/>
          </a:xfrm>
          <a:prstGeom prst="ellipse">
            <a:avLst/>
          </a:prstGeom>
          <a:solidFill>
            <a:srgbClr val="4DD9EC"/>
          </a:solidFill>
          <a:ln/>
        </p:spPr>
      </p:sp>
      <p:sp>
        <p:nvSpPr>
          <p:cNvPr id="18" name="Shape 15"/>
          <p:cNvSpPr/>
          <p:nvPr/>
        </p:nvSpPr>
        <p:spPr>
          <a:xfrm>
            <a:off x="3815507" y="4195301"/>
            <a:ext cx="41148" cy="41148"/>
          </a:xfrm>
          <a:prstGeom prst="ellipse">
            <a:avLst/>
          </a:prstGeom>
          <a:solidFill>
            <a:srgbClr val="4DD9EC"/>
          </a:solidFill>
          <a:ln/>
        </p:spPr>
      </p:sp>
      <p:sp>
        <p:nvSpPr>
          <p:cNvPr id="19" name="Shape 16"/>
          <p:cNvSpPr/>
          <p:nvPr/>
        </p:nvSpPr>
        <p:spPr>
          <a:xfrm>
            <a:off x="7849977" y="2661818"/>
            <a:ext cx="41148" cy="41148"/>
          </a:xfrm>
          <a:prstGeom prst="ellipse">
            <a:avLst/>
          </a:prstGeom>
          <a:solidFill>
            <a:srgbClr val="4DD9EC"/>
          </a:solidFill>
          <a:ln/>
        </p:spPr>
      </p:sp>
      <p:sp>
        <p:nvSpPr>
          <p:cNvPr id="20" name="Shape 17"/>
          <p:cNvSpPr/>
          <p:nvPr/>
        </p:nvSpPr>
        <p:spPr>
          <a:xfrm>
            <a:off x="5456811" y="3761407"/>
            <a:ext cx="41148" cy="41148"/>
          </a:xfrm>
          <a:prstGeom prst="ellipse">
            <a:avLst/>
          </a:prstGeom>
          <a:solidFill>
            <a:srgbClr val="4DD9EC"/>
          </a:solidFill>
          <a:ln/>
        </p:spPr>
      </p:sp>
      <p:sp>
        <p:nvSpPr>
          <p:cNvPr id="21" name="Shape 18"/>
          <p:cNvSpPr/>
          <p:nvPr/>
        </p:nvSpPr>
        <p:spPr>
          <a:xfrm>
            <a:off x="7711143" y="3075933"/>
            <a:ext cx="41148" cy="41148"/>
          </a:xfrm>
          <a:prstGeom prst="ellipse">
            <a:avLst/>
          </a:prstGeom>
          <a:solidFill>
            <a:srgbClr val="4DD9EC"/>
          </a:solidFill>
          <a:ln/>
        </p:spPr>
      </p:sp>
      <p:sp>
        <p:nvSpPr>
          <p:cNvPr id="22" name="Shape 19"/>
          <p:cNvSpPr/>
          <p:nvPr/>
        </p:nvSpPr>
        <p:spPr>
          <a:xfrm>
            <a:off x="8278732" y="2288626"/>
            <a:ext cx="41148" cy="41148"/>
          </a:xfrm>
          <a:prstGeom prst="ellipse">
            <a:avLst/>
          </a:prstGeom>
          <a:solidFill>
            <a:srgbClr val="4DD9EC"/>
          </a:solidFill>
          <a:ln/>
        </p:spPr>
      </p:sp>
      <p:sp>
        <p:nvSpPr>
          <p:cNvPr id="23" name="Shape 20"/>
          <p:cNvSpPr/>
          <p:nvPr/>
        </p:nvSpPr>
        <p:spPr>
          <a:xfrm>
            <a:off x="5330163" y="3729073"/>
            <a:ext cx="41148" cy="41148"/>
          </a:xfrm>
          <a:prstGeom prst="ellipse">
            <a:avLst/>
          </a:prstGeom>
          <a:solidFill>
            <a:srgbClr val="4DD9EC"/>
          </a:solidFill>
          <a:ln/>
        </p:spPr>
      </p:sp>
      <p:sp>
        <p:nvSpPr>
          <p:cNvPr id="24" name="Shape 21"/>
          <p:cNvSpPr/>
          <p:nvPr/>
        </p:nvSpPr>
        <p:spPr>
          <a:xfrm>
            <a:off x="8835193" y="3031162"/>
            <a:ext cx="41148" cy="41148"/>
          </a:xfrm>
          <a:prstGeom prst="ellipse">
            <a:avLst/>
          </a:prstGeom>
          <a:solidFill>
            <a:srgbClr val="4DD9EC"/>
          </a:solidFill>
          <a:ln/>
        </p:spPr>
      </p:sp>
      <p:sp>
        <p:nvSpPr>
          <p:cNvPr id="25" name="Shape 22"/>
          <p:cNvSpPr/>
          <p:nvPr/>
        </p:nvSpPr>
        <p:spPr>
          <a:xfrm>
            <a:off x="4939597" y="3984632"/>
            <a:ext cx="41148" cy="41148"/>
          </a:xfrm>
          <a:prstGeom prst="ellipse">
            <a:avLst/>
          </a:prstGeom>
          <a:solidFill>
            <a:srgbClr val="4DD9EC"/>
          </a:solidFill>
          <a:ln/>
        </p:spPr>
      </p:sp>
      <p:sp>
        <p:nvSpPr>
          <p:cNvPr id="26" name="Shape 23"/>
          <p:cNvSpPr/>
          <p:nvPr/>
        </p:nvSpPr>
        <p:spPr>
          <a:xfrm>
            <a:off x="7131619" y="3196262"/>
            <a:ext cx="41148" cy="41148"/>
          </a:xfrm>
          <a:prstGeom prst="ellipse">
            <a:avLst/>
          </a:prstGeom>
          <a:solidFill>
            <a:srgbClr val="4DD9EC"/>
          </a:solidFill>
          <a:ln/>
        </p:spPr>
      </p:sp>
      <p:sp>
        <p:nvSpPr>
          <p:cNvPr id="27" name="Shape 24"/>
          <p:cNvSpPr/>
          <p:nvPr/>
        </p:nvSpPr>
        <p:spPr>
          <a:xfrm>
            <a:off x="10152631" y="2766646"/>
            <a:ext cx="41148" cy="41148"/>
          </a:xfrm>
          <a:prstGeom prst="ellipse">
            <a:avLst/>
          </a:prstGeom>
          <a:solidFill>
            <a:srgbClr val="4DD9EC"/>
          </a:solidFill>
          <a:ln/>
        </p:spPr>
      </p:sp>
      <p:sp>
        <p:nvSpPr>
          <p:cNvPr id="28" name="Shape 25"/>
          <p:cNvSpPr/>
          <p:nvPr/>
        </p:nvSpPr>
        <p:spPr>
          <a:xfrm>
            <a:off x="7254461" y="3300900"/>
            <a:ext cx="41148" cy="41148"/>
          </a:xfrm>
          <a:prstGeom prst="ellipse">
            <a:avLst/>
          </a:prstGeom>
          <a:solidFill>
            <a:srgbClr val="4DD9EC"/>
          </a:solidFill>
          <a:ln/>
        </p:spPr>
      </p:sp>
      <p:sp>
        <p:nvSpPr>
          <p:cNvPr id="29" name="Shape 26"/>
          <p:cNvSpPr/>
          <p:nvPr/>
        </p:nvSpPr>
        <p:spPr>
          <a:xfrm>
            <a:off x="3804440" y="4189130"/>
            <a:ext cx="41148" cy="41148"/>
          </a:xfrm>
          <a:prstGeom prst="ellipse">
            <a:avLst/>
          </a:prstGeom>
          <a:solidFill>
            <a:srgbClr val="4DD9EC"/>
          </a:solidFill>
          <a:ln/>
        </p:spPr>
      </p:sp>
      <p:sp>
        <p:nvSpPr>
          <p:cNvPr id="30" name="Shape 27"/>
          <p:cNvSpPr/>
          <p:nvPr/>
        </p:nvSpPr>
        <p:spPr>
          <a:xfrm>
            <a:off x="3338820" y="4349869"/>
            <a:ext cx="41148" cy="41148"/>
          </a:xfrm>
          <a:prstGeom prst="ellipse">
            <a:avLst/>
          </a:prstGeom>
          <a:solidFill>
            <a:srgbClr val="4DD9EC"/>
          </a:solidFill>
          <a:ln/>
        </p:spPr>
      </p:sp>
      <p:sp>
        <p:nvSpPr>
          <p:cNvPr id="31" name="Shape 28"/>
          <p:cNvSpPr/>
          <p:nvPr/>
        </p:nvSpPr>
        <p:spPr>
          <a:xfrm>
            <a:off x="9387299" y="2224704"/>
            <a:ext cx="41148" cy="41148"/>
          </a:xfrm>
          <a:prstGeom prst="ellipse">
            <a:avLst/>
          </a:prstGeom>
          <a:solidFill>
            <a:srgbClr val="4DD9EC"/>
          </a:solidFill>
          <a:ln/>
        </p:spPr>
      </p:sp>
      <p:sp>
        <p:nvSpPr>
          <p:cNvPr id="32" name="Shape 29"/>
          <p:cNvSpPr/>
          <p:nvPr/>
        </p:nvSpPr>
        <p:spPr>
          <a:xfrm>
            <a:off x="7975882" y="3294010"/>
            <a:ext cx="41148" cy="41148"/>
          </a:xfrm>
          <a:prstGeom prst="ellipse">
            <a:avLst/>
          </a:prstGeom>
          <a:solidFill>
            <a:srgbClr val="4DD9EC"/>
          </a:solidFill>
          <a:ln/>
        </p:spPr>
      </p:sp>
      <p:sp>
        <p:nvSpPr>
          <p:cNvPr id="33" name="Shape 30"/>
          <p:cNvSpPr/>
          <p:nvPr/>
        </p:nvSpPr>
        <p:spPr>
          <a:xfrm>
            <a:off x="1672812" y="4843936"/>
            <a:ext cx="41148" cy="41148"/>
          </a:xfrm>
          <a:prstGeom prst="ellipse">
            <a:avLst/>
          </a:prstGeom>
          <a:solidFill>
            <a:srgbClr val="4DD9EC"/>
          </a:solidFill>
          <a:ln/>
        </p:spPr>
      </p:sp>
      <p:sp>
        <p:nvSpPr>
          <p:cNvPr id="34" name="Shape 31"/>
          <p:cNvSpPr/>
          <p:nvPr/>
        </p:nvSpPr>
        <p:spPr>
          <a:xfrm>
            <a:off x="4805927" y="3937220"/>
            <a:ext cx="41148" cy="41148"/>
          </a:xfrm>
          <a:prstGeom prst="ellipse">
            <a:avLst/>
          </a:prstGeom>
          <a:solidFill>
            <a:srgbClr val="4DD9EC"/>
          </a:solidFill>
          <a:ln/>
        </p:spPr>
      </p:sp>
      <p:sp>
        <p:nvSpPr>
          <p:cNvPr id="35" name="Shape 32"/>
          <p:cNvSpPr/>
          <p:nvPr/>
        </p:nvSpPr>
        <p:spPr>
          <a:xfrm>
            <a:off x="1916937" y="4807321"/>
            <a:ext cx="41148" cy="41148"/>
          </a:xfrm>
          <a:prstGeom prst="ellipse">
            <a:avLst/>
          </a:prstGeom>
          <a:solidFill>
            <a:srgbClr val="4DD9EC"/>
          </a:solidFill>
          <a:ln/>
        </p:spPr>
      </p:sp>
      <p:sp>
        <p:nvSpPr>
          <p:cNvPr id="36" name="Shape 33"/>
          <p:cNvSpPr/>
          <p:nvPr/>
        </p:nvSpPr>
        <p:spPr>
          <a:xfrm>
            <a:off x="6258795" y="3180381"/>
            <a:ext cx="41148" cy="41148"/>
          </a:xfrm>
          <a:prstGeom prst="ellipse">
            <a:avLst/>
          </a:prstGeom>
          <a:solidFill>
            <a:srgbClr val="4DD9EC"/>
          </a:solidFill>
          <a:ln/>
        </p:spPr>
      </p:sp>
      <p:sp>
        <p:nvSpPr>
          <p:cNvPr id="37" name="Shape 34"/>
          <p:cNvSpPr/>
          <p:nvPr/>
        </p:nvSpPr>
        <p:spPr>
          <a:xfrm>
            <a:off x="4398834" y="4098053"/>
            <a:ext cx="41148" cy="41148"/>
          </a:xfrm>
          <a:prstGeom prst="ellipse">
            <a:avLst/>
          </a:prstGeom>
          <a:solidFill>
            <a:srgbClr val="4DD9EC"/>
          </a:solidFill>
          <a:ln/>
        </p:spPr>
      </p:sp>
      <p:sp>
        <p:nvSpPr>
          <p:cNvPr id="38" name="Shape 35"/>
          <p:cNvSpPr/>
          <p:nvPr/>
        </p:nvSpPr>
        <p:spPr>
          <a:xfrm>
            <a:off x="7887735" y="3057561"/>
            <a:ext cx="41148" cy="41148"/>
          </a:xfrm>
          <a:prstGeom prst="ellipse">
            <a:avLst/>
          </a:prstGeom>
          <a:solidFill>
            <a:srgbClr val="4DD9EC"/>
          </a:solidFill>
          <a:ln/>
        </p:spPr>
      </p:sp>
      <p:sp>
        <p:nvSpPr>
          <p:cNvPr id="39" name="Shape 36"/>
          <p:cNvSpPr/>
          <p:nvPr/>
        </p:nvSpPr>
        <p:spPr>
          <a:xfrm>
            <a:off x="2262082" y="4681978"/>
            <a:ext cx="41148" cy="41148"/>
          </a:xfrm>
          <a:prstGeom prst="ellipse">
            <a:avLst/>
          </a:prstGeom>
          <a:solidFill>
            <a:srgbClr val="4DD9EC"/>
          </a:solidFill>
          <a:ln/>
        </p:spPr>
      </p:sp>
      <p:sp>
        <p:nvSpPr>
          <p:cNvPr id="40" name="Shape 37"/>
          <p:cNvSpPr/>
          <p:nvPr/>
        </p:nvSpPr>
        <p:spPr>
          <a:xfrm>
            <a:off x="9553867" y="2576802"/>
            <a:ext cx="41148" cy="41148"/>
          </a:xfrm>
          <a:prstGeom prst="ellipse">
            <a:avLst/>
          </a:prstGeom>
          <a:solidFill>
            <a:srgbClr val="4DD9EC"/>
          </a:solidFill>
          <a:ln/>
        </p:spPr>
      </p:sp>
      <p:sp>
        <p:nvSpPr>
          <p:cNvPr id="41" name="Shape 38"/>
          <p:cNvSpPr/>
          <p:nvPr/>
        </p:nvSpPr>
        <p:spPr>
          <a:xfrm>
            <a:off x="8724200" y="2539990"/>
            <a:ext cx="41148" cy="41148"/>
          </a:xfrm>
          <a:prstGeom prst="ellipse">
            <a:avLst/>
          </a:prstGeom>
          <a:solidFill>
            <a:srgbClr val="4DD9EC"/>
          </a:solidFill>
          <a:ln/>
        </p:spPr>
      </p:sp>
      <p:sp>
        <p:nvSpPr>
          <p:cNvPr id="42" name="Shape 39"/>
          <p:cNvSpPr/>
          <p:nvPr/>
        </p:nvSpPr>
        <p:spPr>
          <a:xfrm>
            <a:off x="9487921" y="2641467"/>
            <a:ext cx="41148" cy="41148"/>
          </a:xfrm>
          <a:prstGeom prst="ellipse">
            <a:avLst/>
          </a:prstGeom>
          <a:solidFill>
            <a:srgbClr val="4DD9EC"/>
          </a:solidFill>
          <a:ln/>
        </p:spPr>
      </p:sp>
      <p:sp>
        <p:nvSpPr>
          <p:cNvPr id="43" name="Shape 40"/>
          <p:cNvSpPr/>
          <p:nvPr/>
        </p:nvSpPr>
        <p:spPr>
          <a:xfrm>
            <a:off x="7354580" y="3247582"/>
            <a:ext cx="41148" cy="41148"/>
          </a:xfrm>
          <a:prstGeom prst="ellipse">
            <a:avLst/>
          </a:prstGeom>
          <a:solidFill>
            <a:srgbClr val="4DD9EC"/>
          </a:solidFill>
          <a:ln/>
        </p:spPr>
      </p:sp>
      <p:sp>
        <p:nvSpPr>
          <p:cNvPr id="44" name="Shape 41"/>
          <p:cNvSpPr/>
          <p:nvPr/>
        </p:nvSpPr>
        <p:spPr>
          <a:xfrm>
            <a:off x="6899245" y="3499394"/>
            <a:ext cx="41148" cy="41148"/>
          </a:xfrm>
          <a:prstGeom prst="ellipse">
            <a:avLst/>
          </a:prstGeom>
          <a:solidFill>
            <a:srgbClr val="4DD9EC"/>
          </a:solidFill>
          <a:ln/>
        </p:spPr>
      </p:sp>
      <p:sp>
        <p:nvSpPr>
          <p:cNvPr id="45" name="Shape 42"/>
          <p:cNvSpPr/>
          <p:nvPr/>
        </p:nvSpPr>
        <p:spPr>
          <a:xfrm>
            <a:off x="2051589" y="4747853"/>
            <a:ext cx="41148" cy="41148"/>
          </a:xfrm>
          <a:prstGeom prst="ellipse">
            <a:avLst/>
          </a:prstGeom>
          <a:solidFill>
            <a:srgbClr val="4DD9EC"/>
          </a:solidFill>
          <a:ln/>
        </p:spPr>
      </p:sp>
      <p:sp>
        <p:nvSpPr>
          <p:cNvPr id="46" name="Shape 43"/>
          <p:cNvSpPr/>
          <p:nvPr/>
        </p:nvSpPr>
        <p:spPr>
          <a:xfrm>
            <a:off x="6196032" y="3370791"/>
            <a:ext cx="41148" cy="41148"/>
          </a:xfrm>
          <a:prstGeom prst="ellipse">
            <a:avLst/>
          </a:prstGeom>
          <a:solidFill>
            <a:srgbClr val="4DD9EC"/>
          </a:solidFill>
          <a:ln/>
        </p:spPr>
      </p:sp>
      <p:sp>
        <p:nvSpPr>
          <p:cNvPr id="47" name="Shape 44"/>
          <p:cNvSpPr/>
          <p:nvPr/>
        </p:nvSpPr>
        <p:spPr>
          <a:xfrm>
            <a:off x="5086057" y="3818477"/>
            <a:ext cx="41148" cy="41148"/>
          </a:xfrm>
          <a:prstGeom prst="ellipse">
            <a:avLst/>
          </a:prstGeom>
          <a:solidFill>
            <a:srgbClr val="4DD9EC"/>
          </a:solidFill>
          <a:ln/>
        </p:spPr>
      </p:sp>
      <p:sp>
        <p:nvSpPr>
          <p:cNvPr id="48" name="Shape 45"/>
          <p:cNvSpPr/>
          <p:nvPr/>
        </p:nvSpPr>
        <p:spPr>
          <a:xfrm>
            <a:off x="1629172" y="4883012"/>
            <a:ext cx="41148" cy="41148"/>
          </a:xfrm>
          <a:prstGeom prst="ellipse">
            <a:avLst/>
          </a:prstGeom>
          <a:solidFill>
            <a:srgbClr val="4DD9EC"/>
          </a:solidFill>
          <a:ln/>
        </p:spPr>
      </p:sp>
      <p:sp>
        <p:nvSpPr>
          <p:cNvPr id="49" name="Shape 46"/>
          <p:cNvSpPr/>
          <p:nvPr/>
        </p:nvSpPr>
        <p:spPr>
          <a:xfrm>
            <a:off x="10596152" y="2734647"/>
            <a:ext cx="41148" cy="41148"/>
          </a:xfrm>
          <a:prstGeom prst="ellipse">
            <a:avLst/>
          </a:prstGeom>
          <a:solidFill>
            <a:srgbClr val="4DD9EC"/>
          </a:solidFill>
          <a:ln/>
        </p:spPr>
      </p:sp>
      <p:sp>
        <p:nvSpPr>
          <p:cNvPr id="50" name="Shape 47"/>
          <p:cNvSpPr/>
          <p:nvPr/>
        </p:nvSpPr>
        <p:spPr>
          <a:xfrm>
            <a:off x="5153944" y="3744277"/>
            <a:ext cx="41148" cy="41148"/>
          </a:xfrm>
          <a:prstGeom prst="ellipse">
            <a:avLst/>
          </a:prstGeom>
          <a:solidFill>
            <a:srgbClr val="4DD9EC"/>
          </a:solidFill>
          <a:ln/>
        </p:spPr>
      </p:sp>
      <p:sp>
        <p:nvSpPr>
          <p:cNvPr id="51" name="Shape 48"/>
          <p:cNvSpPr/>
          <p:nvPr/>
        </p:nvSpPr>
        <p:spPr>
          <a:xfrm>
            <a:off x="9400652" y="2503087"/>
            <a:ext cx="41148" cy="41148"/>
          </a:xfrm>
          <a:prstGeom prst="ellipse">
            <a:avLst/>
          </a:prstGeom>
          <a:solidFill>
            <a:srgbClr val="4DD9EC"/>
          </a:solidFill>
          <a:ln/>
        </p:spPr>
      </p:sp>
      <p:sp>
        <p:nvSpPr>
          <p:cNvPr id="52" name="Shape 49"/>
          <p:cNvSpPr/>
          <p:nvPr/>
        </p:nvSpPr>
        <p:spPr>
          <a:xfrm>
            <a:off x="1394859" y="4942915"/>
            <a:ext cx="41148" cy="41148"/>
          </a:xfrm>
          <a:prstGeom prst="ellipse">
            <a:avLst/>
          </a:prstGeom>
          <a:solidFill>
            <a:srgbClr val="4DD9EC"/>
          </a:solidFill>
          <a:ln/>
        </p:spPr>
      </p:sp>
      <p:sp>
        <p:nvSpPr>
          <p:cNvPr id="53" name="Shape 50"/>
          <p:cNvSpPr/>
          <p:nvPr/>
        </p:nvSpPr>
        <p:spPr>
          <a:xfrm>
            <a:off x="10503976" y="2222052"/>
            <a:ext cx="41148" cy="41148"/>
          </a:xfrm>
          <a:prstGeom prst="ellipse">
            <a:avLst/>
          </a:prstGeom>
          <a:solidFill>
            <a:srgbClr val="4DD9EC"/>
          </a:solidFill>
          <a:ln/>
        </p:spPr>
      </p:sp>
      <p:sp>
        <p:nvSpPr>
          <p:cNvPr id="54" name="Shape 51"/>
          <p:cNvSpPr/>
          <p:nvPr/>
        </p:nvSpPr>
        <p:spPr>
          <a:xfrm>
            <a:off x="2704143" y="4529213"/>
            <a:ext cx="41148" cy="41148"/>
          </a:xfrm>
          <a:prstGeom prst="ellipse">
            <a:avLst/>
          </a:prstGeom>
          <a:solidFill>
            <a:srgbClr val="4DD9EC"/>
          </a:solidFill>
          <a:ln/>
        </p:spPr>
      </p:sp>
      <p:sp>
        <p:nvSpPr>
          <p:cNvPr id="55" name="Shape 52"/>
          <p:cNvSpPr/>
          <p:nvPr/>
        </p:nvSpPr>
        <p:spPr>
          <a:xfrm>
            <a:off x="2075745" y="4748680"/>
            <a:ext cx="41148" cy="41148"/>
          </a:xfrm>
          <a:prstGeom prst="ellipse">
            <a:avLst/>
          </a:prstGeom>
          <a:solidFill>
            <a:srgbClr val="4DD9EC"/>
          </a:solidFill>
          <a:ln/>
        </p:spPr>
      </p:sp>
      <p:sp>
        <p:nvSpPr>
          <p:cNvPr id="56" name="Shape 53"/>
          <p:cNvSpPr/>
          <p:nvPr/>
        </p:nvSpPr>
        <p:spPr>
          <a:xfrm>
            <a:off x="2758623" y="4511540"/>
            <a:ext cx="41148" cy="41148"/>
          </a:xfrm>
          <a:prstGeom prst="ellipse">
            <a:avLst/>
          </a:prstGeom>
          <a:solidFill>
            <a:srgbClr val="4DD9EC"/>
          </a:solidFill>
          <a:ln/>
        </p:spPr>
      </p:sp>
      <p:sp>
        <p:nvSpPr>
          <p:cNvPr id="57" name="Shape 54"/>
          <p:cNvSpPr/>
          <p:nvPr/>
        </p:nvSpPr>
        <p:spPr>
          <a:xfrm>
            <a:off x="9068404" y="2951400"/>
            <a:ext cx="41148" cy="41148"/>
          </a:xfrm>
          <a:prstGeom prst="ellipse">
            <a:avLst/>
          </a:prstGeom>
          <a:solidFill>
            <a:srgbClr val="4DD9EC"/>
          </a:solidFill>
          <a:ln/>
        </p:spPr>
      </p:sp>
      <p:sp>
        <p:nvSpPr>
          <p:cNvPr id="58" name="Shape 55"/>
          <p:cNvSpPr/>
          <p:nvPr/>
        </p:nvSpPr>
        <p:spPr>
          <a:xfrm>
            <a:off x="4960767" y="3952096"/>
            <a:ext cx="41148" cy="41148"/>
          </a:xfrm>
          <a:prstGeom prst="ellipse">
            <a:avLst/>
          </a:prstGeom>
          <a:solidFill>
            <a:srgbClr val="4DD9EC"/>
          </a:solidFill>
          <a:ln/>
        </p:spPr>
      </p:sp>
      <p:sp>
        <p:nvSpPr>
          <p:cNvPr id="59" name="Shape 56"/>
          <p:cNvSpPr/>
          <p:nvPr/>
        </p:nvSpPr>
        <p:spPr>
          <a:xfrm>
            <a:off x="4967528" y="3861482"/>
            <a:ext cx="41148" cy="41148"/>
          </a:xfrm>
          <a:prstGeom prst="ellipse">
            <a:avLst/>
          </a:prstGeom>
          <a:solidFill>
            <a:srgbClr val="4DD9EC"/>
          </a:solidFill>
          <a:ln/>
        </p:spPr>
      </p:sp>
      <p:sp>
        <p:nvSpPr>
          <p:cNvPr id="60" name="Shape 57"/>
          <p:cNvSpPr/>
          <p:nvPr/>
        </p:nvSpPr>
        <p:spPr>
          <a:xfrm>
            <a:off x="3006288" y="4485933"/>
            <a:ext cx="41148" cy="41148"/>
          </a:xfrm>
          <a:prstGeom prst="ellipse">
            <a:avLst/>
          </a:prstGeom>
          <a:solidFill>
            <a:srgbClr val="4DD9EC"/>
          </a:solidFill>
          <a:ln/>
        </p:spPr>
      </p:sp>
      <p:sp>
        <p:nvSpPr>
          <p:cNvPr id="61" name="Shape 58"/>
          <p:cNvSpPr/>
          <p:nvPr/>
        </p:nvSpPr>
        <p:spPr>
          <a:xfrm>
            <a:off x="2983949" y="4496275"/>
            <a:ext cx="41148" cy="41148"/>
          </a:xfrm>
          <a:prstGeom prst="ellipse">
            <a:avLst/>
          </a:prstGeom>
          <a:solidFill>
            <a:srgbClr val="4DD9EC"/>
          </a:solidFill>
          <a:ln/>
        </p:spPr>
      </p:sp>
      <p:sp>
        <p:nvSpPr>
          <p:cNvPr id="62" name="Shape 59"/>
          <p:cNvSpPr/>
          <p:nvPr/>
        </p:nvSpPr>
        <p:spPr>
          <a:xfrm>
            <a:off x="9430929" y="2888136"/>
            <a:ext cx="41148" cy="41148"/>
          </a:xfrm>
          <a:prstGeom prst="ellipse">
            <a:avLst/>
          </a:prstGeom>
          <a:solidFill>
            <a:srgbClr val="4DD9EC"/>
          </a:solidFill>
          <a:ln/>
        </p:spPr>
      </p:sp>
      <p:sp>
        <p:nvSpPr>
          <p:cNvPr id="63" name="Shape 60"/>
          <p:cNvSpPr/>
          <p:nvPr/>
        </p:nvSpPr>
        <p:spPr>
          <a:xfrm>
            <a:off x="6008306" y="3575318"/>
            <a:ext cx="41148" cy="41148"/>
          </a:xfrm>
          <a:prstGeom prst="ellipse">
            <a:avLst/>
          </a:prstGeom>
          <a:solidFill>
            <a:srgbClr val="4DD9EC"/>
          </a:solidFill>
          <a:ln/>
        </p:spPr>
      </p:sp>
      <p:sp>
        <p:nvSpPr>
          <p:cNvPr id="64" name="Shape 61"/>
          <p:cNvSpPr/>
          <p:nvPr/>
        </p:nvSpPr>
        <p:spPr>
          <a:xfrm>
            <a:off x="7616227" y="2782725"/>
            <a:ext cx="41148" cy="41148"/>
          </a:xfrm>
          <a:prstGeom prst="ellipse">
            <a:avLst/>
          </a:prstGeom>
          <a:solidFill>
            <a:srgbClr val="4DD9EC"/>
          </a:solidFill>
          <a:ln/>
        </p:spPr>
      </p:sp>
      <p:sp>
        <p:nvSpPr>
          <p:cNvPr id="65" name="Shape 62"/>
          <p:cNvSpPr/>
          <p:nvPr/>
        </p:nvSpPr>
        <p:spPr>
          <a:xfrm>
            <a:off x="8337352" y="2704836"/>
            <a:ext cx="41148" cy="41148"/>
          </a:xfrm>
          <a:prstGeom prst="ellipse">
            <a:avLst/>
          </a:prstGeom>
          <a:solidFill>
            <a:srgbClr val="4DD9EC"/>
          </a:solidFill>
          <a:ln/>
        </p:spPr>
      </p:sp>
      <p:sp>
        <p:nvSpPr>
          <p:cNvPr id="66" name="Shape 63"/>
          <p:cNvSpPr/>
          <p:nvPr/>
        </p:nvSpPr>
        <p:spPr>
          <a:xfrm>
            <a:off x="2277946" y="4665052"/>
            <a:ext cx="41148" cy="41148"/>
          </a:xfrm>
          <a:prstGeom prst="ellipse">
            <a:avLst/>
          </a:prstGeom>
          <a:solidFill>
            <a:srgbClr val="4DD9EC"/>
          </a:solidFill>
          <a:ln/>
        </p:spPr>
      </p:sp>
      <p:sp>
        <p:nvSpPr>
          <p:cNvPr id="67" name="Shape 64"/>
          <p:cNvSpPr/>
          <p:nvPr/>
        </p:nvSpPr>
        <p:spPr>
          <a:xfrm>
            <a:off x="3112706" y="4458130"/>
            <a:ext cx="41148" cy="41148"/>
          </a:xfrm>
          <a:prstGeom prst="ellipse">
            <a:avLst/>
          </a:prstGeom>
          <a:solidFill>
            <a:srgbClr val="4DD9EC"/>
          </a:solidFill>
          <a:ln/>
        </p:spPr>
      </p:sp>
      <p:sp>
        <p:nvSpPr>
          <p:cNvPr id="68" name="Shape 65"/>
          <p:cNvSpPr/>
          <p:nvPr/>
        </p:nvSpPr>
        <p:spPr>
          <a:xfrm>
            <a:off x="4979426" y="3931250"/>
            <a:ext cx="41148" cy="41148"/>
          </a:xfrm>
          <a:prstGeom prst="ellipse">
            <a:avLst/>
          </a:prstGeom>
          <a:solidFill>
            <a:srgbClr val="4DD9EC"/>
          </a:solidFill>
          <a:ln/>
        </p:spPr>
      </p:sp>
      <p:sp>
        <p:nvSpPr>
          <p:cNvPr id="69" name="Shape 66"/>
          <p:cNvSpPr/>
          <p:nvPr/>
        </p:nvSpPr>
        <p:spPr>
          <a:xfrm>
            <a:off x="3005020" y="4481743"/>
            <a:ext cx="41148" cy="41148"/>
          </a:xfrm>
          <a:prstGeom prst="ellipse">
            <a:avLst/>
          </a:prstGeom>
          <a:solidFill>
            <a:srgbClr val="4DD9EC"/>
          </a:solidFill>
          <a:ln/>
        </p:spPr>
      </p:sp>
      <p:sp>
        <p:nvSpPr>
          <p:cNvPr id="70" name="Shape 67"/>
          <p:cNvSpPr/>
          <p:nvPr/>
        </p:nvSpPr>
        <p:spPr>
          <a:xfrm>
            <a:off x="9194311" y="2115328"/>
            <a:ext cx="41148" cy="41148"/>
          </a:xfrm>
          <a:prstGeom prst="ellipse">
            <a:avLst/>
          </a:prstGeom>
          <a:solidFill>
            <a:srgbClr val="4DD9EC"/>
          </a:solidFill>
          <a:ln/>
        </p:spPr>
      </p:sp>
      <p:sp>
        <p:nvSpPr>
          <p:cNvPr id="71" name="Shape 68"/>
          <p:cNvSpPr/>
          <p:nvPr/>
        </p:nvSpPr>
        <p:spPr>
          <a:xfrm>
            <a:off x="1648312" y="4818950"/>
            <a:ext cx="41148" cy="41148"/>
          </a:xfrm>
          <a:prstGeom prst="ellipse">
            <a:avLst/>
          </a:prstGeom>
          <a:solidFill>
            <a:srgbClr val="4DD9EC"/>
          </a:solidFill>
          <a:ln/>
        </p:spPr>
      </p:sp>
      <p:sp>
        <p:nvSpPr>
          <p:cNvPr id="72" name="Shape 69"/>
          <p:cNvSpPr/>
          <p:nvPr/>
        </p:nvSpPr>
        <p:spPr>
          <a:xfrm>
            <a:off x="9731077" y="2511952"/>
            <a:ext cx="41148" cy="41148"/>
          </a:xfrm>
          <a:prstGeom prst="ellipse">
            <a:avLst/>
          </a:prstGeom>
          <a:solidFill>
            <a:srgbClr val="4DD9EC"/>
          </a:solidFill>
          <a:ln/>
        </p:spPr>
      </p:sp>
      <p:sp>
        <p:nvSpPr>
          <p:cNvPr id="73" name="Shape 70"/>
          <p:cNvSpPr/>
          <p:nvPr/>
        </p:nvSpPr>
        <p:spPr>
          <a:xfrm>
            <a:off x="2436208" y="4640196"/>
            <a:ext cx="41148" cy="41148"/>
          </a:xfrm>
          <a:prstGeom prst="ellipse">
            <a:avLst/>
          </a:prstGeom>
          <a:solidFill>
            <a:srgbClr val="4DD9EC"/>
          </a:solidFill>
          <a:ln/>
        </p:spPr>
      </p:sp>
      <p:sp>
        <p:nvSpPr>
          <p:cNvPr id="74" name="Shape 71"/>
          <p:cNvSpPr/>
          <p:nvPr/>
        </p:nvSpPr>
        <p:spPr>
          <a:xfrm>
            <a:off x="10219699" y="2868849"/>
            <a:ext cx="41148" cy="41148"/>
          </a:xfrm>
          <a:prstGeom prst="ellipse">
            <a:avLst/>
          </a:prstGeom>
          <a:solidFill>
            <a:srgbClr val="4DD9EC"/>
          </a:solidFill>
          <a:ln/>
        </p:spPr>
      </p:sp>
      <p:sp>
        <p:nvSpPr>
          <p:cNvPr id="75" name="Shape 72"/>
          <p:cNvSpPr/>
          <p:nvPr/>
        </p:nvSpPr>
        <p:spPr>
          <a:xfrm>
            <a:off x="7546632" y="2817074"/>
            <a:ext cx="41148" cy="41148"/>
          </a:xfrm>
          <a:prstGeom prst="ellipse">
            <a:avLst/>
          </a:prstGeom>
          <a:solidFill>
            <a:srgbClr val="4DD9EC"/>
          </a:solidFill>
          <a:ln/>
        </p:spPr>
      </p:sp>
      <p:sp>
        <p:nvSpPr>
          <p:cNvPr id="76" name="Shape 73"/>
          <p:cNvSpPr/>
          <p:nvPr/>
        </p:nvSpPr>
        <p:spPr>
          <a:xfrm>
            <a:off x="1865583" y="4800428"/>
            <a:ext cx="41148" cy="41148"/>
          </a:xfrm>
          <a:prstGeom prst="ellipse">
            <a:avLst/>
          </a:prstGeom>
          <a:solidFill>
            <a:srgbClr val="4DD9EC"/>
          </a:solidFill>
          <a:ln/>
        </p:spPr>
      </p:sp>
      <p:sp>
        <p:nvSpPr>
          <p:cNvPr id="77" name="Shape 74"/>
          <p:cNvSpPr/>
          <p:nvPr/>
        </p:nvSpPr>
        <p:spPr>
          <a:xfrm>
            <a:off x="3738049" y="4325537"/>
            <a:ext cx="41148" cy="41148"/>
          </a:xfrm>
          <a:prstGeom prst="ellipse">
            <a:avLst/>
          </a:prstGeom>
          <a:solidFill>
            <a:srgbClr val="4DD9EC"/>
          </a:solidFill>
          <a:ln/>
        </p:spPr>
      </p:sp>
      <p:sp>
        <p:nvSpPr>
          <p:cNvPr id="78" name="Shape 75"/>
          <p:cNvSpPr/>
          <p:nvPr/>
        </p:nvSpPr>
        <p:spPr>
          <a:xfrm>
            <a:off x="7975994" y="3038176"/>
            <a:ext cx="41148" cy="41148"/>
          </a:xfrm>
          <a:prstGeom prst="ellipse">
            <a:avLst/>
          </a:prstGeom>
          <a:solidFill>
            <a:srgbClr val="4DD9EC"/>
          </a:solidFill>
          <a:ln/>
        </p:spPr>
      </p:sp>
      <p:sp>
        <p:nvSpPr>
          <p:cNvPr id="79" name="Shape 76"/>
          <p:cNvSpPr/>
          <p:nvPr/>
        </p:nvSpPr>
        <p:spPr>
          <a:xfrm>
            <a:off x="10456632" y="2075044"/>
            <a:ext cx="41148" cy="41148"/>
          </a:xfrm>
          <a:prstGeom prst="ellipse">
            <a:avLst/>
          </a:prstGeom>
          <a:solidFill>
            <a:srgbClr val="4DD9EC"/>
          </a:solidFill>
          <a:ln/>
        </p:spPr>
      </p:sp>
      <p:sp>
        <p:nvSpPr>
          <p:cNvPr id="80" name="Shape 77"/>
          <p:cNvSpPr/>
          <p:nvPr/>
        </p:nvSpPr>
        <p:spPr>
          <a:xfrm>
            <a:off x="4098318" y="4157830"/>
            <a:ext cx="41148" cy="41148"/>
          </a:xfrm>
          <a:prstGeom prst="ellipse">
            <a:avLst/>
          </a:prstGeom>
          <a:solidFill>
            <a:srgbClr val="4DD9EC"/>
          </a:solidFill>
          <a:ln/>
        </p:spPr>
      </p:sp>
      <p:sp>
        <p:nvSpPr>
          <p:cNvPr id="81" name="Shape 78"/>
          <p:cNvSpPr/>
          <p:nvPr/>
        </p:nvSpPr>
        <p:spPr>
          <a:xfrm>
            <a:off x="3351565" y="4286281"/>
            <a:ext cx="41148" cy="41148"/>
          </a:xfrm>
          <a:prstGeom prst="ellipse">
            <a:avLst/>
          </a:prstGeom>
          <a:solidFill>
            <a:srgbClr val="4DD9EC"/>
          </a:solidFill>
          <a:ln/>
        </p:spPr>
      </p:sp>
      <p:sp>
        <p:nvSpPr>
          <p:cNvPr id="82" name="Shape 79"/>
          <p:cNvSpPr/>
          <p:nvPr/>
        </p:nvSpPr>
        <p:spPr>
          <a:xfrm>
            <a:off x="2292645" y="4648693"/>
            <a:ext cx="41148" cy="41148"/>
          </a:xfrm>
          <a:prstGeom prst="ellipse">
            <a:avLst/>
          </a:prstGeom>
          <a:solidFill>
            <a:srgbClr val="4DD9EC"/>
          </a:solidFill>
          <a:ln/>
        </p:spPr>
      </p:sp>
      <p:sp>
        <p:nvSpPr>
          <p:cNvPr id="83" name="Shape 80"/>
          <p:cNvSpPr/>
          <p:nvPr/>
        </p:nvSpPr>
        <p:spPr>
          <a:xfrm>
            <a:off x="4737165" y="3944271"/>
            <a:ext cx="41148" cy="41148"/>
          </a:xfrm>
          <a:prstGeom prst="ellipse">
            <a:avLst/>
          </a:prstGeom>
          <a:solidFill>
            <a:srgbClr val="4DD9EC"/>
          </a:solidFill>
          <a:ln/>
        </p:spPr>
      </p:sp>
      <p:sp>
        <p:nvSpPr>
          <p:cNvPr id="84" name="Shape 81"/>
          <p:cNvSpPr/>
          <p:nvPr/>
        </p:nvSpPr>
        <p:spPr>
          <a:xfrm>
            <a:off x="5242582" y="3790467"/>
            <a:ext cx="41148" cy="41148"/>
          </a:xfrm>
          <a:prstGeom prst="ellipse">
            <a:avLst/>
          </a:prstGeom>
          <a:solidFill>
            <a:srgbClr val="4DD9EC"/>
          </a:solidFill>
          <a:ln/>
        </p:spPr>
      </p:sp>
      <p:sp>
        <p:nvSpPr>
          <p:cNvPr id="85" name="Shape 82"/>
          <p:cNvSpPr/>
          <p:nvPr/>
        </p:nvSpPr>
        <p:spPr>
          <a:xfrm>
            <a:off x="7996572" y="3210797"/>
            <a:ext cx="41148" cy="41148"/>
          </a:xfrm>
          <a:prstGeom prst="ellipse">
            <a:avLst/>
          </a:prstGeom>
          <a:solidFill>
            <a:srgbClr val="4DD9EC"/>
          </a:solidFill>
          <a:ln/>
        </p:spPr>
      </p:sp>
      <p:sp>
        <p:nvSpPr>
          <p:cNvPr id="86" name="Shape 83"/>
          <p:cNvSpPr/>
          <p:nvPr/>
        </p:nvSpPr>
        <p:spPr>
          <a:xfrm>
            <a:off x="7217544" y="3316381"/>
            <a:ext cx="41148" cy="41148"/>
          </a:xfrm>
          <a:prstGeom prst="ellipse">
            <a:avLst/>
          </a:prstGeom>
          <a:solidFill>
            <a:srgbClr val="4DD9EC"/>
          </a:solidFill>
          <a:ln/>
        </p:spPr>
      </p:sp>
      <p:sp>
        <p:nvSpPr>
          <p:cNvPr id="87" name="Shape 84"/>
          <p:cNvSpPr/>
          <p:nvPr/>
        </p:nvSpPr>
        <p:spPr>
          <a:xfrm>
            <a:off x="7151902" y="3312224"/>
            <a:ext cx="41148" cy="41148"/>
          </a:xfrm>
          <a:prstGeom prst="ellipse">
            <a:avLst/>
          </a:prstGeom>
          <a:solidFill>
            <a:srgbClr val="4DD9EC"/>
          </a:solidFill>
          <a:ln/>
        </p:spPr>
      </p:sp>
      <p:sp>
        <p:nvSpPr>
          <p:cNvPr id="88" name="Shape 85"/>
          <p:cNvSpPr/>
          <p:nvPr/>
        </p:nvSpPr>
        <p:spPr>
          <a:xfrm>
            <a:off x="1918069" y="4805883"/>
            <a:ext cx="41148" cy="41148"/>
          </a:xfrm>
          <a:prstGeom prst="ellipse">
            <a:avLst/>
          </a:prstGeom>
          <a:solidFill>
            <a:srgbClr val="4DD9EC"/>
          </a:solidFill>
          <a:ln/>
        </p:spPr>
      </p:sp>
      <p:sp>
        <p:nvSpPr>
          <p:cNvPr id="89" name="Shape 86"/>
          <p:cNvSpPr/>
          <p:nvPr/>
        </p:nvSpPr>
        <p:spPr>
          <a:xfrm>
            <a:off x="4806813" y="3740862"/>
            <a:ext cx="41148" cy="41148"/>
          </a:xfrm>
          <a:prstGeom prst="ellipse">
            <a:avLst/>
          </a:prstGeom>
          <a:solidFill>
            <a:srgbClr val="4DD9EC"/>
          </a:solidFill>
          <a:ln/>
        </p:spPr>
      </p:sp>
      <p:sp>
        <p:nvSpPr>
          <p:cNvPr id="90" name="Shape 87"/>
          <p:cNvSpPr/>
          <p:nvPr/>
        </p:nvSpPr>
        <p:spPr>
          <a:xfrm>
            <a:off x="1640278" y="4847160"/>
            <a:ext cx="41148" cy="41148"/>
          </a:xfrm>
          <a:prstGeom prst="ellipse">
            <a:avLst/>
          </a:prstGeom>
          <a:solidFill>
            <a:srgbClr val="4DD9EC"/>
          </a:solidFill>
          <a:ln/>
        </p:spPr>
      </p:sp>
      <p:sp>
        <p:nvSpPr>
          <p:cNvPr id="91" name="Shape 88"/>
          <p:cNvSpPr/>
          <p:nvPr/>
        </p:nvSpPr>
        <p:spPr>
          <a:xfrm>
            <a:off x="4902164" y="3852203"/>
            <a:ext cx="41148" cy="41148"/>
          </a:xfrm>
          <a:prstGeom prst="ellipse">
            <a:avLst/>
          </a:prstGeom>
          <a:solidFill>
            <a:srgbClr val="4DD9EC"/>
          </a:solidFill>
          <a:ln/>
        </p:spPr>
      </p:sp>
      <p:sp>
        <p:nvSpPr>
          <p:cNvPr id="92" name="Shape 89"/>
          <p:cNvSpPr/>
          <p:nvPr/>
        </p:nvSpPr>
        <p:spPr>
          <a:xfrm>
            <a:off x="9864267" y="2566642"/>
            <a:ext cx="41148" cy="41148"/>
          </a:xfrm>
          <a:prstGeom prst="ellipse">
            <a:avLst/>
          </a:prstGeom>
          <a:solidFill>
            <a:srgbClr val="4DD9EC"/>
          </a:solidFill>
          <a:ln/>
        </p:spPr>
      </p:sp>
      <p:sp>
        <p:nvSpPr>
          <p:cNvPr id="93" name="Shape 90"/>
          <p:cNvSpPr/>
          <p:nvPr/>
        </p:nvSpPr>
        <p:spPr>
          <a:xfrm>
            <a:off x="10386319" y="2070948"/>
            <a:ext cx="41148" cy="41148"/>
          </a:xfrm>
          <a:prstGeom prst="ellipse">
            <a:avLst/>
          </a:prstGeom>
          <a:solidFill>
            <a:srgbClr val="4DD9EC"/>
          </a:solidFill>
          <a:ln/>
        </p:spPr>
      </p:sp>
      <p:sp>
        <p:nvSpPr>
          <p:cNvPr id="94" name="Shape 91"/>
          <p:cNvSpPr/>
          <p:nvPr/>
        </p:nvSpPr>
        <p:spPr>
          <a:xfrm>
            <a:off x="10876328" y="2534788"/>
            <a:ext cx="41148" cy="41148"/>
          </a:xfrm>
          <a:prstGeom prst="ellipse">
            <a:avLst/>
          </a:prstGeom>
          <a:solidFill>
            <a:srgbClr val="4DD9EC"/>
          </a:solidFill>
          <a:ln/>
        </p:spPr>
      </p:sp>
      <p:sp>
        <p:nvSpPr>
          <p:cNvPr id="95" name="Shape 92"/>
          <p:cNvSpPr/>
          <p:nvPr/>
        </p:nvSpPr>
        <p:spPr>
          <a:xfrm>
            <a:off x="4625189" y="3984122"/>
            <a:ext cx="41148" cy="41148"/>
          </a:xfrm>
          <a:prstGeom prst="ellipse">
            <a:avLst/>
          </a:prstGeom>
          <a:solidFill>
            <a:srgbClr val="4DD9EC"/>
          </a:solidFill>
          <a:ln/>
        </p:spPr>
      </p:sp>
      <p:sp>
        <p:nvSpPr>
          <p:cNvPr id="96" name="Shape 93"/>
          <p:cNvSpPr/>
          <p:nvPr/>
        </p:nvSpPr>
        <p:spPr>
          <a:xfrm>
            <a:off x="6149227" y="3269250"/>
            <a:ext cx="41148" cy="41148"/>
          </a:xfrm>
          <a:prstGeom prst="ellipse">
            <a:avLst/>
          </a:prstGeom>
          <a:solidFill>
            <a:srgbClr val="4DD9EC"/>
          </a:solidFill>
          <a:ln/>
        </p:spPr>
      </p:sp>
      <p:sp>
        <p:nvSpPr>
          <p:cNvPr id="97" name="Shape 94"/>
          <p:cNvSpPr/>
          <p:nvPr/>
        </p:nvSpPr>
        <p:spPr>
          <a:xfrm>
            <a:off x="11841357" y="2690501"/>
            <a:ext cx="41148" cy="41148"/>
          </a:xfrm>
          <a:prstGeom prst="ellipse">
            <a:avLst/>
          </a:prstGeom>
          <a:solidFill>
            <a:srgbClr val="4DD9EC"/>
          </a:solidFill>
          <a:ln/>
        </p:spPr>
      </p:sp>
      <p:sp>
        <p:nvSpPr>
          <p:cNvPr id="98" name="Shape 95"/>
          <p:cNvSpPr/>
          <p:nvPr/>
        </p:nvSpPr>
        <p:spPr>
          <a:xfrm>
            <a:off x="1857596" y="4799446"/>
            <a:ext cx="41148" cy="41148"/>
          </a:xfrm>
          <a:prstGeom prst="ellipse">
            <a:avLst/>
          </a:prstGeom>
          <a:solidFill>
            <a:srgbClr val="4DD9EC"/>
          </a:solidFill>
          <a:ln/>
        </p:spPr>
      </p:sp>
      <p:sp>
        <p:nvSpPr>
          <p:cNvPr id="99" name="Shape 96"/>
          <p:cNvSpPr/>
          <p:nvPr/>
        </p:nvSpPr>
        <p:spPr>
          <a:xfrm>
            <a:off x="2942285" y="4505775"/>
            <a:ext cx="41148" cy="41148"/>
          </a:xfrm>
          <a:prstGeom prst="ellipse">
            <a:avLst/>
          </a:prstGeom>
          <a:solidFill>
            <a:srgbClr val="4DD9EC"/>
          </a:solidFill>
          <a:ln/>
        </p:spPr>
      </p:sp>
      <p:sp>
        <p:nvSpPr>
          <p:cNvPr id="100" name="Shape 97"/>
          <p:cNvSpPr/>
          <p:nvPr/>
        </p:nvSpPr>
        <p:spPr>
          <a:xfrm>
            <a:off x="7921552" y="2801035"/>
            <a:ext cx="41148" cy="41148"/>
          </a:xfrm>
          <a:prstGeom prst="ellipse">
            <a:avLst/>
          </a:prstGeom>
          <a:solidFill>
            <a:srgbClr val="4DD9EC"/>
          </a:solidFill>
          <a:ln/>
        </p:spPr>
      </p:sp>
      <p:sp>
        <p:nvSpPr>
          <p:cNvPr id="101" name="Shape 98"/>
          <p:cNvSpPr/>
          <p:nvPr/>
        </p:nvSpPr>
        <p:spPr>
          <a:xfrm>
            <a:off x="3533129" y="4263754"/>
            <a:ext cx="41148" cy="41148"/>
          </a:xfrm>
          <a:prstGeom prst="ellipse">
            <a:avLst/>
          </a:prstGeom>
          <a:solidFill>
            <a:srgbClr val="4DD9EC"/>
          </a:solidFill>
          <a:ln/>
        </p:spPr>
      </p:sp>
      <p:sp>
        <p:nvSpPr>
          <p:cNvPr id="102" name="Shape 99"/>
          <p:cNvSpPr/>
          <p:nvPr/>
        </p:nvSpPr>
        <p:spPr>
          <a:xfrm>
            <a:off x="1404492" y="4976050"/>
            <a:ext cx="41148" cy="41148"/>
          </a:xfrm>
          <a:prstGeom prst="ellipse">
            <a:avLst/>
          </a:prstGeom>
          <a:solidFill>
            <a:srgbClr val="4DD9EC"/>
          </a:solidFill>
          <a:ln/>
        </p:spPr>
      </p:sp>
      <p:sp>
        <p:nvSpPr>
          <p:cNvPr id="103" name="Shape 100"/>
          <p:cNvSpPr/>
          <p:nvPr/>
        </p:nvSpPr>
        <p:spPr>
          <a:xfrm>
            <a:off x="6103449" y="3519202"/>
            <a:ext cx="41148" cy="41148"/>
          </a:xfrm>
          <a:prstGeom prst="ellipse">
            <a:avLst/>
          </a:prstGeom>
          <a:solidFill>
            <a:srgbClr val="4DD9EC"/>
          </a:solidFill>
          <a:ln/>
        </p:spPr>
      </p:sp>
      <p:sp>
        <p:nvSpPr>
          <p:cNvPr id="104" name="Shape 101"/>
          <p:cNvSpPr/>
          <p:nvPr/>
        </p:nvSpPr>
        <p:spPr>
          <a:xfrm>
            <a:off x="2617478" y="4632569"/>
            <a:ext cx="41148" cy="41148"/>
          </a:xfrm>
          <a:prstGeom prst="ellipse">
            <a:avLst/>
          </a:prstGeom>
          <a:solidFill>
            <a:srgbClr val="4DD9EC"/>
          </a:solidFill>
          <a:ln/>
        </p:spPr>
      </p:sp>
      <p:sp>
        <p:nvSpPr>
          <p:cNvPr id="105" name="Shape 102"/>
          <p:cNvSpPr/>
          <p:nvPr/>
        </p:nvSpPr>
        <p:spPr>
          <a:xfrm>
            <a:off x="4340645" y="3990431"/>
            <a:ext cx="41148" cy="41148"/>
          </a:xfrm>
          <a:prstGeom prst="ellipse">
            <a:avLst/>
          </a:prstGeom>
          <a:solidFill>
            <a:srgbClr val="4DD9EC"/>
          </a:solidFill>
          <a:ln/>
        </p:spPr>
      </p:sp>
      <p:sp>
        <p:nvSpPr>
          <p:cNvPr id="106" name="Shape 103"/>
          <p:cNvSpPr/>
          <p:nvPr/>
        </p:nvSpPr>
        <p:spPr>
          <a:xfrm>
            <a:off x="5787724" y="3495645"/>
            <a:ext cx="41148" cy="41148"/>
          </a:xfrm>
          <a:prstGeom prst="ellipse">
            <a:avLst/>
          </a:prstGeom>
          <a:solidFill>
            <a:srgbClr val="4DD9EC"/>
          </a:solidFill>
          <a:ln/>
        </p:spPr>
      </p:sp>
      <p:sp>
        <p:nvSpPr>
          <p:cNvPr id="107" name="Shape 104"/>
          <p:cNvSpPr/>
          <p:nvPr/>
        </p:nvSpPr>
        <p:spPr>
          <a:xfrm>
            <a:off x="1381082" y="4906570"/>
            <a:ext cx="41148" cy="41148"/>
          </a:xfrm>
          <a:prstGeom prst="ellipse">
            <a:avLst/>
          </a:prstGeom>
          <a:solidFill>
            <a:srgbClr val="4DD9EC"/>
          </a:solidFill>
          <a:ln/>
        </p:spPr>
      </p:sp>
      <p:sp>
        <p:nvSpPr>
          <p:cNvPr id="108" name="Shape 105"/>
          <p:cNvSpPr/>
          <p:nvPr/>
        </p:nvSpPr>
        <p:spPr>
          <a:xfrm>
            <a:off x="4662443" y="3937970"/>
            <a:ext cx="41148" cy="41148"/>
          </a:xfrm>
          <a:prstGeom prst="ellipse">
            <a:avLst/>
          </a:prstGeom>
          <a:solidFill>
            <a:srgbClr val="4DD9EC"/>
          </a:solidFill>
          <a:ln/>
        </p:spPr>
      </p:sp>
      <p:sp>
        <p:nvSpPr>
          <p:cNvPr id="109" name="Shape 106"/>
          <p:cNvSpPr/>
          <p:nvPr/>
        </p:nvSpPr>
        <p:spPr>
          <a:xfrm>
            <a:off x="9307888" y="2525735"/>
            <a:ext cx="41148" cy="41148"/>
          </a:xfrm>
          <a:prstGeom prst="ellipse">
            <a:avLst/>
          </a:prstGeom>
          <a:solidFill>
            <a:srgbClr val="4DD9EC"/>
          </a:solidFill>
          <a:ln/>
        </p:spPr>
      </p:sp>
      <p:sp>
        <p:nvSpPr>
          <p:cNvPr id="110" name="Shape 107"/>
          <p:cNvSpPr/>
          <p:nvPr/>
        </p:nvSpPr>
        <p:spPr>
          <a:xfrm>
            <a:off x="2570614" y="4602305"/>
            <a:ext cx="41148" cy="41148"/>
          </a:xfrm>
          <a:prstGeom prst="ellipse">
            <a:avLst/>
          </a:prstGeom>
          <a:solidFill>
            <a:srgbClr val="4DD9EC"/>
          </a:solidFill>
          <a:ln/>
        </p:spPr>
      </p:sp>
      <p:sp>
        <p:nvSpPr>
          <p:cNvPr id="111" name="Shape 108"/>
          <p:cNvSpPr/>
          <p:nvPr/>
        </p:nvSpPr>
        <p:spPr>
          <a:xfrm>
            <a:off x="4893343" y="3847602"/>
            <a:ext cx="41148" cy="41148"/>
          </a:xfrm>
          <a:prstGeom prst="ellipse">
            <a:avLst/>
          </a:prstGeom>
          <a:solidFill>
            <a:srgbClr val="4DD9EC"/>
          </a:solidFill>
          <a:ln/>
        </p:spPr>
      </p:sp>
      <p:sp>
        <p:nvSpPr>
          <p:cNvPr id="112" name="Shape 109"/>
          <p:cNvSpPr/>
          <p:nvPr/>
        </p:nvSpPr>
        <p:spPr>
          <a:xfrm>
            <a:off x="2398291" y="4662215"/>
            <a:ext cx="41148" cy="41148"/>
          </a:xfrm>
          <a:prstGeom prst="ellipse">
            <a:avLst/>
          </a:prstGeom>
          <a:solidFill>
            <a:srgbClr val="4DD9EC"/>
          </a:solidFill>
          <a:ln/>
        </p:spPr>
      </p:sp>
      <p:sp>
        <p:nvSpPr>
          <p:cNvPr id="113" name="Shape 110"/>
          <p:cNvSpPr/>
          <p:nvPr/>
        </p:nvSpPr>
        <p:spPr>
          <a:xfrm>
            <a:off x="7615182" y="3009276"/>
            <a:ext cx="41148" cy="41148"/>
          </a:xfrm>
          <a:prstGeom prst="ellipse">
            <a:avLst/>
          </a:prstGeom>
          <a:solidFill>
            <a:srgbClr val="4DD9EC"/>
          </a:solidFill>
          <a:ln/>
        </p:spPr>
      </p:sp>
      <p:sp>
        <p:nvSpPr>
          <p:cNvPr id="114" name="Shape 111"/>
          <p:cNvSpPr/>
          <p:nvPr/>
        </p:nvSpPr>
        <p:spPr>
          <a:xfrm>
            <a:off x="6687528" y="3385517"/>
            <a:ext cx="41148" cy="41148"/>
          </a:xfrm>
          <a:prstGeom prst="ellipse">
            <a:avLst/>
          </a:prstGeom>
          <a:solidFill>
            <a:srgbClr val="4DD9EC"/>
          </a:solidFill>
          <a:ln/>
        </p:spPr>
      </p:sp>
      <p:sp>
        <p:nvSpPr>
          <p:cNvPr id="115" name="Shape 112"/>
          <p:cNvSpPr/>
          <p:nvPr/>
        </p:nvSpPr>
        <p:spPr>
          <a:xfrm>
            <a:off x="3901937" y="4266093"/>
            <a:ext cx="41148" cy="41148"/>
          </a:xfrm>
          <a:prstGeom prst="ellipse">
            <a:avLst/>
          </a:prstGeom>
          <a:solidFill>
            <a:srgbClr val="4DD9EC"/>
          </a:solidFill>
          <a:ln/>
        </p:spPr>
      </p:sp>
      <p:sp>
        <p:nvSpPr>
          <p:cNvPr id="116" name="Shape 113"/>
          <p:cNvSpPr/>
          <p:nvPr/>
        </p:nvSpPr>
        <p:spPr>
          <a:xfrm>
            <a:off x="1722480" y="4880837"/>
            <a:ext cx="41148" cy="41148"/>
          </a:xfrm>
          <a:prstGeom prst="ellipse">
            <a:avLst/>
          </a:prstGeom>
          <a:solidFill>
            <a:srgbClr val="4DD9EC"/>
          </a:solidFill>
          <a:ln/>
        </p:spPr>
      </p:sp>
      <p:sp>
        <p:nvSpPr>
          <p:cNvPr id="117" name="Shape 114"/>
          <p:cNvSpPr/>
          <p:nvPr/>
        </p:nvSpPr>
        <p:spPr>
          <a:xfrm>
            <a:off x="4617345" y="3941123"/>
            <a:ext cx="41148" cy="41148"/>
          </a:xfrm>
          <a:prstGeom prst="ellipse">
            <a:avLst/>
          </a:prstGeom>
          <a:solidFill>
            <a:srgbClr val="4DD9EC"/>
          </a:solidFill>
          <a:ln/>
        </p:spPr>
      </p:sp>
      <p:sp>
        <p:nvSpPr>
          <p:cNvPr id="118" name="Shape 115"/>
          <p:cNvSpPr/>
          <p:nvPr/>
        </p:nvSpPr>
        <p:spPr>
          <a:xfrm>
            <a:off x="6887378" y="3357516"/>
            <a:ext cx="41148" cy="41148"/>
          </a:xfrm>
          <a:prstGeom prst="ellipse">
            <a:avLst/>
          </a:prstGeom>
          <a:solidFill>
            <a:srgbClr val="4DD9EC"/>
          </a:solidFill>
          <a:ln/>
        </p:spPr>
      </p:sp>
      <p:sp>
        <p:nvSpPr>
          <p:cNvPr id="119" name="Shape 116"/>
          <p:cNvSpPr/>
          <p:nvPr/>
        </p:nvSpPr>
        <p:spPr>
          <a:xfrm>
            <a:off x="4407295" y="4060909"/>
            <a:ext cx="41148" cy="41148"/>
          </a:xfrm>
          <a:prstGeom prst="ellipse">
            <a:avLst/>
          </a:prstGeom>
          <a:solidFill>
            <a:srgbClr val="4DD9EC"/>
          </a:solidFill>
          <a:ln/>
        </p:spPr>
      </p:sp>
      <p:sp>
        <p:nvSpPr>
          <p:cNvPr id="120" name="Shape 117"/>
          <p:cNvSpPr/>
          <p:nvPr/>
        </p:nvSpPr>
        <p:spPr>
          <a:xfrm>
            <a:off x="9032340" y="2514326"/>
            <a:ext cx="41148" cy="41148"/>
          </a:xfrm>
          <a:prstGeom prst="ellipse">
            <a:avLst/>
          </a:prstGeom>
          <a:solidFill>
            <a:srgbClr val="4DD9EC"/>
          </a:solidFill>
          <a:ln/>
        </p:spPr>
      </p:sp>
      <p:sp>
        <p:nvSpPr>
          <p:cNvPr id="121" name="Shape 118"/>
          <p:cNvSpPr/>
          <p:nvPr/>
        </p:nvSpPr>
        <p:spPr>
          <a:xfrm>
            <a:off x="5903224" y="3314513"/>
            <a:ext cx="41148" cy="41148"/>
          </a:xfrm>
          <a:prstGeom prst="ellipse">
            <a:avLst/>
          </a:prstGeom>
          <a:solidFill>
            <a:srgbClr val="4DD9EC"/>
          </a:solidFill>
          <a:ln/>
        </p:spPr>
      </p:sp>
      <p:sp>
        <p:nvSpPr>
          <p:cNvPr id="122" name="Shape 119"/>
          <p:cNvSpPr/>
          <p:nvPr/>
        </p:nvSpPr>
        <p:spPr>
          <a:xfrm>
            <a:off x="9297629" y="2378252"/>
            <a:ext cx="41148" cy="41148"/>
          </a:xfrm>
          <a:prstGeom prst="ellipse">
            <a:avLst/>
          </a:prstGeom>
          <a:solidFill>
            <a:srgbClr val="4DD9EC"/>
          </a:solidFill>
          <a:ln/>
        </p:spPr>
      </p:sp>
      <p:sp>
        <p:nvSpPr>
          <p:cNvPr id="123" name="Shape 120"/>
          <p:cNvSpPr/>
          <p:nvPr/>
        </p:nvSpPr>
        <p:spPr>
          <a:xfrm>
            <a:off x="3947996" y="4240315"/>
            <a:ext cx="41148" cy="41148"/>
          </a:xfrm>
          <a:prstGeom prst="ellipse">
            <a:avLst/>
          </a:prstGeom>
          <a:solidFill>
            <a:srgbClr val="4DD9EC"/>
          </a:solidFill>
          <a:ln/>
        </p:spPr>
      </p:sp>
      <p:sp>
        <p:nvSpPr>
          <p:cNvPr id="124" name="Shape 121"/>
          <p:cNvSpPr/>
          <p:nvPr/>
        </p:nvSpPr>
        <p:spPr>
          <a:xfrm>
            <a:off x="2431651" y="4587806"/>
            <a:ext cx="41148" cy="41148"/>
          </a:xfrm>
          <a:prstGeom prst="ellipse">
            <a:avLst/>
          </a:prstGeom>
          <a:solidFill>
            <a:srgbClr val="4DD9EC"/>
          </a:solidFill>
          <a:ln/>
        </p:spPr>
      </p:sp>
      <p:sp>
        <p:nvSpPr>
          <p:cNvPr id="125" name="Shape 122"/>
          <p:cNvSpPr/>
          <p:nvPr/>
        </p:nvSpPr>
        <p:spPr>
          <a:xfrm>
            <a:off x="9101723" y="2804643"/>
            <a:ext cx="41148" cy="41148"/>
          </a:xfrm>
          <a:prstGeom prst="ellipse">
            <a:avLst/>
          </a:prstGeom>
          <a:solidFill>
            <a:srgbClr val="4DD9EC"/>
          </a:solidFill>
          <a:ln/>
        </p:spPr>
      </p:sp>
      <p:sp>
        <p:nvSpPr>
          <p:cNvPr id="126" name="Shape 123"/>
          <p:cNvSpPr/>
          <p:nvPr/>
        </p:nvSpPr>
        <p:spPr>
          <a:xfrm>
            <a:off x="10961747" y="2483116"/>
            <a:ext cx="41148" cy="41148"/>
          </a:xfrm>
          <a:prstGeom prst="ellipse">
            <a:avLst/>
          </a:prstGeom>
          <a:solidFill>
            <a:srgbClr val="4DD9EC"/>
          </a:solidFill>
          <a:ln/>
        </p:spPr>
      </p:sp>
      <p:sp>
        <p:nvSpPr>
          <p:cNvPr id="127" name="Shape 124"/>
          <p:cNvSpPr/>
          <p:nvPr/>
        </p:nvSpPr>
        <p:spPr>
          <a:xfrm>
            <a:off x="7757360" y="2749067"/>
            <a:ext cx="41148" cy="41148"/>
          </a:xfrm>
          <a:prstGeom prst="ellipse">
            <a:avLst/>
          </a:prstGeom>
          <a:solidFill>
            <a:srgbClr val="4DD9EC"/>
          </a:solidFill>
          <a:ln/>
        </p:spPr>
      </p:sp>
      <p:sp>
        <p:nvSpPr>
          <p:cNvPr id="128" name="Shape 125"/>
          <p:cNvSpPr/>
          <p:nvPr/>
        </p:nvSpPr>
        <p:spPr>
          <a:xfrm>
            <a:off x="6679674" y="3291665"/>
            <a:ext cx="41148" cy="41148"/>
          </a:xfrm>
          <a:prstGeom prst="ellipse">
            <a:avLst/>
          </a:prstGeom>
          <a:solidFill>
            <a:srgbClr val="4DD9EC"/>
          </a:solidFill>
          <a:ln/>
        </p:spPr>
      </p:sp>
      <p:sp>
        <p:nvSpPr>
          <p:cNvPr id="129" name="Shape 126"/>
          <p:cNvSpPr/>
          <p:nvPr/>
        </p:nvSpPr>
        <p:spPr>
          <a:xfrm>
            <a:off x="2076200" y="4750935"/>
            <a:ext cx="41148" cy="41148"/>
          </a:xfrm>
          <a:prstGeom prst="ellipse">
            <a:avLst/>
          </a:prstGeom>
          <a:solidFill>
            <a:srgbClr val="4DD9EC"/>
          </a:solidFill>
          <a:ln/>
        </p:spPr>
      </p:sp>
      <p:sp>
        <p:nvSpPr>
          <p:cNvPr id="130" name="Shape 127"/>
          <p:cNvSpPr/>
          <p:nvPr/>
        </p:nvSpPr>
        <p:spPr>
          <a:xfrm>
            <a:off x="5814947" y="3556354"/>
            <a:ext cx="41148" cy="41148"/>
          </a:xfrm>
          <a:prstGeom prst="ellipse">
            <a:avLst/>
          </a:prstGeom>
          <a:solidFill>
            <a:srgbClr val="4DD9EC"/>
          </a:solidFill>
          <a:ln/>
        </p:spPr>
      </p:sp>
      <p:sp>
        <p:nvSpPr>
          <p:cNvPr id="131" name="Shape 128"/>
          <p:cNvSpPr/>
          <p:nvPr/>
        </p:nvSpPr>
        <p:spPr>
          <a:xfrm>
            <a:off x="4301236" y="4097913"/>
            <a:ext cx="41148" cy="41148"/>
          </a:xfrm>
          <a:prstGeom prst="ellipse">
            <a:avLst/>
          </a:prstGeom>
          <a:solidFill>
            <a:srgbClr val="4DD9EC"/>
          </a:solidFill>
          <a:ln/>
        </p:spPr>
      </p:sp>
      <p:sp>
        <p:nvSpPr>
          <p:cNvPr id="132" name="Shape 129"/>
          <p:cNvSpPr/>
          <p:nvPr/>
        </p:nvSpPr>
        <p:spPr>
          <a:xfrm>
            <a:off x="9615405" y="2658097"/>
            <a:ext cx="41148" cy="41148"/>
          </a:xfrm>
          <a:prstGeom prst="ellipse">
            <a:avLst/>
          </a:prstGeom>
          <a:solidFill>
            <a:srgbClr val="4DD9EC"/>
          </a:solidFill>
          <a:ln/>
        </p:spPr>
      </p:sp>
      <p:sp>
        <p:nvSpPr>
          <p:cNvPr id="133" name="Shape 130"/>
          <p:cNvSpPr/>
          <p:nvPr/>
        </p:nvSpPr>
        <p:spPr>
          <a:xfrm>
            <a:off x="8979861" y="2409844"/>
            <a:ext cx="41148" cy="41148"/>
          </a:xfrm>
          <a:prstGeom prst="ellipse">
            <a:avLst/>
          </a:prstGeom>
          <a:solidFill>
            <a:srgbClr val="4DD9EC"/>
          </a:solidFill>
          <a:ln/>
        </p:spPr>
      </p:sp>
      <p:sp>
        <p:nvSpPr>
          <p:cNvPr id="134" name="Shape 131"/>
          <p:cNvSpPr/>
          <p:nvPr/>
        </p:nvSpPr>
        <p:spPr>
          <a:xfrm>
            <a:off x="4020330" y="4232670"/>
            <a:ext cx="41148" cy="41148"/>
          </a:xfrm>
          <a:prstGeom prst="ellipse">
            <a:avLst/>
          </a:prstGeom>
          <a:solidFill>
            <a:srgbClr val="4DD9EC"/>
          </a:solidFill>
          <a:ln/>
        </p:spPr>
      </p:sp>
      <p:sp>
        <p:nvSpPr>
          <p:cNvPr id="135" name="Shape 132"/>
          <p:cNvSpPr/>
          <p:nvPr/>
        </p:nvSpPr>
        <p:spPr>
          <a:xfrm>
            <a:off x="8220641" y="2754997"/>
            <a:ext cx="41148" cy="41148"/>
          </a:xfrm>
          <a:prstGeom prst="ellipse">
            <a:avLst/>
          </a:prstGeom>
          <a:solidFill>
            <a:srgbClr val="4DD9EC"/>
          </a:solidFill>
          <a:ln/>
        </p:spPr>
      </p:sp>
      <p:sp>
        <p:nvSpPr>
          <p:cNvPr id="136" name="Shape 133"/>
          <p:cNvSpPr/>
          <p:nvPr/>
        </p:nvSpPr>
        <p:spPr>
          <a:xfrm>
            <a:off x="8163644" y="2879003"/>
            <a:ext cx="41148" cy="41148"/>
          </a:xfrm>
          <a:prstGeom prst="ellipse">
            <a:avLst/>
          </a:prstGeom>
          <a:solidFill>
            <a:srgbClr val="4DD9EC"/>
          </a:solidFill>
          <a:ln/>
        </p:spPr>
      </p:sp>
      <p:sp>
        <p:nvSpPr>
          <p:cNvPr id="137" name="Shape 134"/>
          <p:cNvSpPr/>
          <p:nvPr/>
        </p:nvSpPr>
        <p:spPr>
          <a:xfrm>
            <a:off x="7278730" y="3149416"/>
            <a:ext cx="41148" cy="41148"/>
          </a:xfrm>
          <a:prstGeom prst="ellipse">
            <a:avLst/>
          </a:prstGeom>
          <a:solidFill>
            <a:srgbClr val="4DD9EC"/>
          </a:solidFill>
          <a:ln/>
        </p:spPr>
      </p:sp>
      <p:sp>
        <p:nvSpPr>
          <p:cNvPr id="138" name="Shape 135"/>
          <p:cNvSpPr/>
          <p:nvPr/>
        </p:nvSpPr>
        <p:spPr>
          <a:xfrm>
            <a:off x="9640920" y="2036254"/>
            <a:ext cx="41148" cy="41148"/>
          </a:xfrm>
          <a:prstGeom prst="ellipse">
            <a:avLst/>
          </a:prstGeom>
          <a:solidFill>
            <a:srgbClr val="4DD9EC"/>
          </a:solidFill>
          <a:ln/>
        </p:spPr>
      </p:sp>
      <p:sp>
        <p:nvSpPr>
          <p:cNvPr id="139" name="Shape 136"/>
          <p:cNvSpPr/>
          <p:nvPr/>
        </p:nvSpPr>
        <p:spPr>
          <a:xfrm>
            <a:off x="9329073" y="3027171"/>
            <a:ext cx="41148" cy="41148"/>
          </a:xfrm>
          <a:prstGeom prst="ellipse">
            <a:avLst/>
          </a:prstGeom>
          <a:solidFill>
            <a:srgbClr val="4DD9EC"/>
          </a:solidFill>
          <a:ln/>
        </p:spPr>
      </p:sp>
      <p:sp>
        <p:nvSpPr>
          <p:cNvPr id="140" name="Shape 137"/>
          <p:cNvSpPr/>
          <p:nvPr/>
        </p:nvSpPr>
        <p:spPr>
          <a:xfrm>
            <a:off x="8972708" y="2927336"/>
            <a:ext cx="41148" cy="41148"/>
          </a:xfrm>
          <a:prstGeom prst="ellipse">
            <a:avLst/>
          </a:prstGeom>
          <a:solidFill>
            <a:srgbClr val="4DD9EC"/>
          </a:solidFill>
          <a:ln/>
        </p:spPr>
      </p:sp>
      <p:sp>
        <p:nvSpPr>
          <p:cNvPr id="141" name="Shape 138"/>
          <p:cNvSpPr/>
          <p:nvPr/>
        </p:nvSpPr>
        <p:spPr>
          <a:xfrm>
            <a:off x="5664380" y="3660826"/>
            <a:ext cx="41148" cy="41148"/>
          </a:xfrm>
          <a:prstGeom prst="ellipse">
            <a:avLst/>
          </a:prstGeom>
          <a:solidFill>
            <a:srgbClr val="4DD9EC"/>
          </a:solidFill>
          <a:ln/>
        </p:spPr>
      </p:sp>
      <p:sp>
        <p:nvSpPr>
          <p:cNvPr id="142" name="Shape 139"/>
          <p:cNvSpPr/>
          <p:nvPr/>
        </p:nvSpPr>
        <p:spPr>
          <a:xfrm>
            <a:off x="1271016" y="4928616"/>
            <a:ext cx="118872" cy="118872"/>
          </a:xfrm>
          <a:prstGeom prst="ellipse">
            <a:avLst/>
          </a:prstGeom>
          <a:solidFill>
            <a:srgbClr val="F1F5FB"/>
          </a:solidFill>
          <a:ln/>
        </p:spPr>
      </p:sp>
      <p:sp>
        <p:nvSpPr>
          <p:cNvPr id="143" name="Text 140"/>
          <p:cNvSpPr/>
          <p:nvPr/>
        </p:nvSpPr>
        <p:spPr>
          <a:xfrm>
            <a:off x="868680" y="5111496"/>
            <a:ext cx="1371600" cy="201168"/>
          </a:xfrm>
          <a:prstGeom prst="rect">
            <a:avLst/>
          </a:prstGeom>
          <a:noFill/>
          <a:ln/>
        </p:spPr>
        <p:txBody>
          <a:bodyPr wrap="square" lIns="0" tIns="0" rIns="0" bIns="0" rtlCol="0" anchor="ctr"/>
          <a:lstStyle/>
          <a:p>
            <a:pPr indent="0" marL="0">
              <a:buNone/>
            </a:pPr>
            <a:r>
              <a:rPr lang="en-US" sz="950" b="1" dirty="0">
                <a:solidFill>
                  <a:srgbClr val="F1F5FB"/>
                </a:solidFill>
                <a:latin typeface="Calibri" pitchFamily="34" charset="0"/>
                <a:ea typeface="Calibri" pitchFamily="34" charset="-122"/>
                <a:cs typeface="Calibri" pitchFamily="34" charset="-120"/>
              </a:rPr>
              <a:t>SAT-X · NOW</a:t>
            </a:r>
            <a:endParaRPr lang="en-US" sz="950" dirty="0"/>
          </a:p>
        </p:txBody>
      </p:sp>
      <p:sp>
        <p:nvSpPr>
          <p:cNvPr id="144" name="Shape 141"/>
          <p:cNvSpPr/>
          <p:nvPr/>
        </p:nvSpPr>
        <p:spPr>
          <a:xfrm>
            <a:off x="10616184" y="2130552"/>
            <a:ext cx="137160" cy="137160"/>
          </a:xfrm>
          <a:prstGeom prst="ellipse">
            <a:avLst/>
          </a:prstGeom>
          <a:solidFill>
            <a:srgbClr val="EC6459"/>
          </a:solidFill>
          <a:ln/>
        </p:spPr>
      </p:sp>
      <p:sp>
        <p:nvSpPr>
          <p:cNvPr id="145" name="Text 142"/>
          <p:cNvSpPr/>
          <p:nvPr/>
        </p:nvSpPr>
        <p:spPr>
          <a:xfrm>
            <a:off x="9857232" y="1847088"/>
            <a:ext cx="1463040" cy="201168"/>
          </a:xfrm>
          <a:prstGeom prst="rect">
            <a:avLst/>
          </a:prstGeom>
          <a:noFill/>
          <a:ln/>
        </p:spPr>
        <p:txBody>
          <a:bodyPr wrap="square" lIns="0" tIns="0" rIns="0" bIns="0" rtlCol="0" anchor="ctr"/>
          <a:lstStyle/>
          <a:p>
            <a:pPr indent="0" marL="0">
              <a:buNone/>
            </a:pPr>
            <a:r>
              <a:rPr lang="en-US" sz="950" b="1" dirty="0">
                <a:solidFill>
                  <a:srgbClr val="EC6459"/>
                </a:solidFill>
                <a:latin typeface="Calibri" pitchFamily="34" charset="0"/>
                <a:ea typeface="Calibri" pitchFamily="34" charset="-122"/>
                <a:cs typeface="Calibri" pitchFamily="34" charset="-120"/>
              </a:rPr>
              <a:t>TCA REGION</a:t>
            </a:r>
            <a:endParaRPr lang="en-US" sz="950" dirty="0"/>
          </a:p>
        </p:txBody>
      </p:sp>
      <p:sp>
        <p:nvSpPr>
          <p:cNvPr id="146" name="Text 143"/>
          <p:cNvSpPr/>
          <p:nvPr/>
        </p:nvSpPr>
        <p:spPr>
          <a:xfrm>
            <a:off x="2735336" y="4737506"/>
            <a:ext cx="548640" cy="201168"/>
          </a:xfrm>
          <a:prstGeom prst="rect">
            <a:avLst/>
          </a:prstGeom>
          <a:noFill/>
          <a:ln/>
        </p:spPr>
        <p:txBody>
          <a:bodyPr wrap="square" lIns="0" tIns="0" rIns="0" bIns="0" rtlCol="0" anchor="ctr"/>
          <a:lstStyle/>
          <a:p>
            <a:pPr algn="ctr" indent="0" marL="0">
              <a:buNone/>
            </a:pPr>
            <a:r>
              <a:rPr lang="en-US" sz="900" dirty="0">
                <a:solidFill>
                  <a:srgbClr val="A6B0C3"/>
                </a:solidFill>
                <a:latin typeface="Calibri" pitchFamily="34" charset="0"/>
                <a:ea typeface="Calibri" pitchFamily="34" charset="-122"/>
                <a:cs typeface="Calibri" pitchFamily="34" charset="-120"/>
              </a:rPr>
              <a:t>24H</a:t>
            </a:r>
            <a:endParaRPr lang="en-US" sz="900" dirty="0"/>
          </a:p>
        </p:txBody>
      </p:sp>
      <p:sp>
        <p:nvSpPr>
          <p:cNvPr id="147" name="Text 144"/>
          <p:cNvSpPr/>
          <p:nvPr/>
        </p:nvSpPr>
        <p:spPr>
          <a:xfrm>
            <a:off x="5728716" y="3845052"/>
            <a:ext cx="548640" cy="201168"/>
          </a:xfrm>
          <a:prstGeom prst="rect">
            <a:avLst/>
          </a:prstGeom>
          <a:noFill/>
          <a:ln/>
        </p:spPr>
        <p:txBody>
          <a:bodyPr wrap="square" lIns="0" tIns="0" rIns="0" bIns="0" rtlCol="0" anchor="ctr"/>
          <a:lstStyle/>
          <a:p>
            <a:pPr algn="ctr" indent="0" marL="0">
              <a:buNone/>
            </a:pPr>
            <a:r>
              <a:rPr lang="en-US" sz="900" dirty="0">
                <a:solidFill>
                  <a:srgbClr val="A6B0C3"/>
                </a:solidFill>
                <a:latin typeface="Calibri" pitchFamily="34" charset="0"/>
                <a:ea typeface="Calibri" pitchFamily="34" charset="-122"/>
                <a:cs typeface="Calibri" pitchFamily="34" charset="-120"/>
              </a:rPr>
              <a:t>7D</a:t>
            </a:r>
            <a:endParaRPr lang="en-US" sz="900" dirty="0"/>
          </a:p>
        </p:txBody>
      </p:sp>
      <p:sp>
        <p:nvSpPr>
          <p:cNvPr id="148" name="Text 145"/>
          <p:cNvSpPr/>
          <p:nvPr/>
        </p:nvSpPr>
        <p:spPr>
          <a:xfrm>
            <a:off x="8722096" y="2952598"/>
            <a:ext cx="548640" cy="201168"/>
          </a:xfrm>
          <a:prstGeom prst="rect">
            <a:avLst/>
          </a:prstGeom>
          <a:noFill/>
          <a:ln/>
        </p:spPr>
        <p:txBody>
          <a:bodyPr wrap="square" lIns="0" tIns="0" rIns="0" bIns="0" rtlCol="0" anchor="ctr"/>
          <a:lstStyle/>
          <a:p>
            <a:pPr algn="ctr" indent="0" marL="0">
              <a:buNone/>
            </a:pPr>
            <a:r>
              <a:rPr lang="en-US" sz="900" dirty="0">
                <a:solidFill>
                  <a:srgbClr val="A6B0C3"/>
                </a:solidFill>
                <a:latin typeface="Calibri" pitchFamily="34" charset="0"/>
                <a:ea typeface="Calibri" pitchFamily="34" charset="-122"/>
                <a:cs typeface="Calibri" pitchFamily="34" charset="-120"/>
              </a:rPr>
              <a:t>30D</a:t>
            </a:r>
            <a:endParaRPr lang="en-US" sz="900" dirty="0"/>
          </a:p>
        </p:txBody>
      </p:sp>
      <p:sp>
        <p:nvSpPr>
          <p:cNvPr id="149" name="Text 146"/>
          <p:cNvSpPr/>
          <p:nvPr/>
        </p:nvSpPr>
        <p:spPr>
          <a:xfrm>
            <a:off x="9582912" y="1783080"/>
            <a:ext cx="1828800" cy="219456"/>
          </a:xfrm>
          <a:prstGeom prst="rect">
            <a:avLst/>
          </a:prstGeom>
          <a:noFill/>
          <a:ln/>
        </p:spPr>
        <p:txBody>
          <a:bodyPr wrap="square" lIns="0" tIns="0" rIns="0" bIns="0" rtlCol="0" anchor="ctr"/>
          <a:lstStyle/>
          <a:p>
            <a:pPr algn="r" indent="0" marL="0">
              <a:buNone/>
            </a:pPr>
            <a:r>
              <a:rPr lang="en-US" sz="1000" b="1" dirty="0">
                <a:solidFill>
                  <a:srgbClr val="F2AA3E"/>
                </a:solidFill>
                <a:latin typeface="Calibri" pitchFamily="34" charset="0"/>
                <a:ea typeface="Calibri" pitchFamily="34" charset="-122"/>
                <a:cs typeface="Calibri" pitchFamily="34" charset="-120"/>
              </a:rPr>
              <a:t>DEBRIS-07</a:t>
            </a:r>
            <a:endParaRPr lang="en-US" sz="1000" dirty="0"/>
          </a:p>
        </p:txBody>
      </p:sp>
      <p:sp>
        <p:nvSpPr>
          <p:cNvPr id="150" name="Text 147"/>
          <p:cNvSpPr/>
          <p:nvPr/>
        </p:nvSpPr>
        <p:spPr>
          <a:xfrm>
            <a:off x="502920" y="5806440"/>
            <a:ext cx="11183112" cy="365760"/>
          </a:xfrm>
          <a:prstGeom prst="rect">
            <a:avLst/>
          </a:prstGeom>
          <a:noFill/>
          <a:ln/>
        </p:spPr>
        <p:txBody>
          <a:bodyPr wrap="square" lIns="0" tIns="0" rIns="0" bIns="0" rtlCol="0" anchor="ctr"/>
          <a:lstStyle/>
          <a:p>
            <a:pPr algn="ctr" indent="0" marL="0">
              <a:buNone/>
            </a:pPr>
            <a:r>
              <a:rPr lang="en-US" sz="1600" b="1" i="1" dirty="0">
                <a:solidFill>
                  <a:srgbClr val="4DD9EC"/>
                </a:solidFill>
                <a:latin typeface="Calibri" pitchFamily="34" charset="0"/>
                <a:ea typeface="Calibri" pitchFamily="34" charset="-122"/>
                <a:cs typeface="Calibri" pitchFamily="34" charset="-120"/>
              </a:rPr>
              <a:t>“One predicted path → a distribution of plausible futures.”</a:t>
            </a:r>
            <a:endParaRPr lang="en-US" sz="1600" dirty="0"/>
          </a:p>
        </p:txBody>
      </p:sp>
      <p:sp>
        <p:nvSpPr>
          <p:cNvPr id="151" name="Text 148"/>
          <p:cNvSpPr/>
          <p:nvPr/>
        </p:nvSpPr>
        <p:spPr>
          <a:xfrm>
            <a:off x="502920" y="6565392"/>
            <a:ext cx="6400800" cy="228600"/>
          </a:xfrm>
          <a:prstGeom prst="rect">
            <a:avLst/>
          </a:prstGeom>
          <a:noFill/>
          <a:ln/>
        </p:spPr>
        <p:txBody>
          <a:bodyPr wrap="square" lIns="0" tIns="0" rIns="0" bIns="0" rtlCol="0" anchor="ctr"/>
          <a:lstStyle/>
          <a:p>
            <a:pPr indent="0" marL="0">
              <a:buNone/>
            </a:pPr>
            <a:r>
              <a:rPr lang="en-US" sz="850" dirty="0">
                <a:solidFill>
                  <a:srgbClr val="5E6A82"/>
                </a:solidFill>
                <a:latin typeface="Calibri" pitchFamily="34" charset="0"/>
                <a:ea typeface="Calibri" pitchFamily="34" charset="-122"/>
                <a:cs typeface="Calibri" pitchFamily="34" charset="-120"/>
              </a:rPr>
              <a:t>ORBITAL FUTURE DECISION ENGINE  ·  FANTASTIC 4</a:t>
            </a:r>
            <a:endParaRPr lang="en-US" sz="850" dirty="0"/>
          </a:p>
        </p:txBody>
      </p:sp>
      <p:sp>
        <p:nvSpPr>
          <p:cNvPr id="152" name="Text 149"/>
          <p:cNvSpPr/>
          <p:nvPr/>
        </p:nvSpPr>
        <p:spPr>
          <a:xfrm>
            <a:off x="8686800" y="6565392"/>
            <a:ext cx="3017520" cy="228600"/>
          </a:xfrm>
          <a:prstGeom prst="rect">
            <a:avLst/>
          </a:prstGeom>
          <a:noFill/>
          <a:ln/>
        </p:spPr>
        <p:txBody>
          <a:bodyPr wrap="square" lIns="0" tIns="0" rIns="0" bIns="0" rtlCol="0" anchor="ctr"/>
          <a:lstStyle/>
          <a:p>
            <a:pPr algn="r" indent="0" marL="0">
              <a:buNone/>
            </a:pPr>
            <a:r>
              <a:rPr lang="en-US" sz="850" spc="100" kern="0" dirty="0">
                <a:solidFill>
                  <a:srgbClr val="185C68"/>
                </a:solidFill>
                <a:latin typeface="Calibri" pitchFamily="34" charset="0"/>
                <a:ea typeface="Calibri" pitchFamily="34" charset="-122"/>
                <a:cs typeface="Calibri" pitchFamily="34" charset="-120"/>
              </a:rPr>
              <a:t>MISSION: OFDE-01</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60911"/>
        </a:solidFill>
      </p:bgPr>
    </p:bg>
    <p:spTree>
      <p:nvGrpSpPr>
        <p:cNvPr id="1" name=""/>
        <p:cNvGrpSpPr/>
        <p:nvPr/>
      </p:nvGrpSpPr>
      <p:grpSpPr>
        <a:xfrm>
          <a:off x="0" y="0"/>
          <a:ext cx="0" cy="0"/>
          <a:chOff x="0" y="0"/>
          <a:chExt cx="0" cy="0"/>
        </a:xfrm>
      </p:grpSpPr>
      <p:pic>
        <p:nvPicPr>
          <p:cNvPr id="2" name="Image 0" descr="/home/claude/assets/erospace_rgba.png">    </p:cNvPr>
          <p:cNvPicPr>
            <a:picLocks noChangeAspect="1"/>
          </p:cNvPicPr>
          <p:nvPr/>
        </p:nvPicPr>
        <p:blipFill>
          <a:blip r:embed="rId1">
            <a:alphaModFix amt="75000"/>
          </a:blip>
          <a:stretch>
            <a:fillRect/>
          </a:stretch>
        </p:blipFill>
        <p:spPr>
          <a:xfrm>
            <a:off x="10561320" y="292608"/>
            <a:ext cx="1325880" cy="459943"/>
          </a:xfrm>
          <a:prstGeom prst="rect">
            <a:avLst/>
          </a:prstGeom>
        </p:spPr>
      </p:pic>
      <p:sp>
        <p:nvSpPr>
          <p:cNvPr id="3" name="Text 0"/>
          <p:cNvSpPr/>
          <p:nvPr/>
        </p:nvSpPr>
        <p:spPr>
          <a:xfrm>
            <a:off x="502920" y="365760"/>
            <a:ext cx="8229600" cy="292608"/>
          </a:xfrm>
          <a:prstGeom prst="rect">
            <a:avLst/>
          </a:prstGeom>
          <a:noFill/>
          <a:ln/>
        </p:spPr>
        <p:txBody>
          <a:bodyPr wrap="square" lIns="0" tIns="0" rIns="0" bIns="0" rtlCol="0" anchor="ctr"/>
          <a:lstStyle/>
          <a:p>
            <a:pPr indent="0" marL="0">
              <a:buNone/>
            </a:pPr>
            <a:r>
              <a:rPr lang="en-US" sz="1300" b="1" spc="200" kern="0" dirty="0">
                <a:solidFill>
                  <a:srgbClr val="4DD9EC"/>
                </a:solidFill>
                <a:latin typeface="Calibri" pitchFamily="34" charset="0"/>
                <a:ea typeface="Calibri" pitchFamily="34" charset="-122"/>
                <a:cs typeface="Calibri" pitchFamily="34" charset="-120"/>
              </a:rPr>
              <a:t>SCENARIO COMPARISON</a:t>
            </a:r>
            <a:endParaRPr lang="en-US" sz="1300" dirty="0"/>
          </a:p>
        </p:txBody>
      </p:sp>
      <p:sp>
        <p:nvSpPr>
          <p:cNvPr id="4" name="Text 1"/>
          <p:cNvSpPr/>
          <p:nvPr/>
        </p:nvSpPr>
        <p:spPr>
          <a:xfrm>
            <a:off x="502920" y="658368"/>
            <a:ext cx="10972800" cy="685800"/>
          </a:xfrm>
          <a:prstGeom prst="rect">
            <a:avLst/>
          </a:prstGeom>
          <a:noFill/>
          <a:ln/>
        </p:spPr>
        <p:txBody>
          <a:bodyPr wrap="square" lIns="0" tIns="0" rIns="0" bIns="0" rtlCol="0" anchor="ctr"/>
          <a:lstStyle/>
          <a:p>
            <a:pPr indent="0" marL="0">
              <a:buNone/>
            </a:pPr>
            <a:r>
              <a:rPr lang="en-US" sz="3000" b="1" dirty="0">
                <a:solidFill>
                  <a:srgbClr val="F1F5FB"/>
                </a:solidFill>
                <a:latin typeface="Arial" pitchFamily="34" charset="0"/>
                <a:ea typeface="Arial" pitchFamily="34" charset="-122"/>
                <a:cs typeface="Arial" pitchFamily="34" charset="-120"/>
              </a:rPr>
              <a:t>Branching Futures</a:t>
            </a:r>
            <a:endParaRPr lang="en-US" sz="3000" dirty="0"/>
          </a:p>
        </p:txBody>
      </p:sp>
      <p:sp>
        <p:nvSpPr>
          <p:cNvPr id="5" name="Shape 2"/>
          <p:cNvSpPr/>
          <p:nvPr/>
        </p:nvSpPr>
        <p:spPr>
          <a:xfrm>
            <a:off x="6949440" y="786384"/>
            <a:ext cx="2496312" cy="292608"/>
          </a:xfrm>
          <a:prstGeom prst="roundRect">
            <a:avLst>
              <a:gd name="adj" fmla="val 50000"/>
            </a:avLst>
          </a:prstGeom>
          <a:solidFill>
            <a:srgbClr val="2A2410"/>
          </a:solidFill>
          <a:ln w="12700">
            <a:solidFill>
              <a:srgbClr val="F2AA3E"/>
            </a:solidFill>
            <a:prstDash val="solid"/>
          </a:ln>
        </p:spPr>
      </p:sp>
      <p:sp>
        <p:nvSpPr>
          <p:cNvPr id="6" name="Text 3"/>
          <p:cNvSpPr/>
          <p:nvPr/>
        </p:nvSpPr>
        <p:spPr>
          <a:xfrm>
            <a:off x="6949440" y="786384"/>
            <a:ext cx="2496312" cy="292608"/>
          </a:xfrm>
          <a:prstGeom prst="rect">
            <a:avLst/>
          </a:prstGeom>
          <a:noFill/>
          <a:ln/>
        </p:spPr>
        <p:txBody>
          <a:bodyPr wrap="square" lIns="0" tIns="0" rIns="0" bIns="0" rtlCol="0" anchor="ctr"/>
          <a:lstStyle/>
          <a:p>
            <a:pPr algn="ctr" indent="0" marL="0">
              <a:buNone/>
            </a:pPr>
            <a:r>
              <a:rPr lang="en-US" sz="850" b="1" spc="50" kern="0" dirty="0">
                <a:solidFill>
                  <a:srgbClr val="F2AA3E"/>
                </a:solidFill>
                <a:latin typeface="Calibri" pitchFamily="34" charset="0"/>
                <a:ea typeface="Calibri" pitchFamily="34" charset="-122"/>
                <a:cs typeface="Calibri" pitchFamily="34" charset="-120"/>
              </a:rPr>
              <a:t>ILLUSTRATIVE DEMO DATA</a:t>
            </a:r>
            <a:endParaRPr lang="en-US" sz="850" dirty="0"/>
          </a:p>
        </p:txBody>
      </p:sp>
      <p:sp>
        <p:nvSpPr>
          <p:cNvPr id="7" name="Shape 4"/>
          <p:cNvSpPr/>
          <p:nvPr/>
        </p:nvSpPr>
        <p:spPr>
          <a:xfrm>
            <a:off x="502920" y="1508760"/>
            <a:ext cx="6035040" cy="4617720"/>
          </a:xfrm>
          <a:prstGeom prst="roundRect">
            <a:avLst>
              <a:gd name="adj" fmla="val 1584"/>
            </a:avLst>
          </a:prstGeom>
          <a:solidFill>
            <a:srgbClr val="0C1322"/>
          </a:solidFill>
          <a:ln w="12700">
            <a:solidFill>
              <a:srgbClr val="26314A"/>
            </a:solidFill>
            <a:prstDash val="solid"/>
          </a:ln>
        </p:spPr>
      </p:sp>
      <p:sp>
        <p:nvSpPr>
          <p:cNvPr id="8" name="Shape 5"/>
          <p:cNvSpPr/>
          <p:nvPr/>
        </p:nvSpPr>
        <p:spPr>
          <a:xfrm>
            <a:off x="2560320" y="1783080"/>
            <a:ext cx="1920240" cy="502920"/>
          </a:xfrm>
          <a:prstGeom prst="roundRect">
            <a:avLst>
              <a:gd name="adj" fmla="val 50909"/>
            </a:avLst>
          </a:prstGeom>
          <a:solidFill>
            <a:srgbClr val="111A2E"/>
          </a:solidFill>
          <a:ln w="19050">
            <a:solidFill>
              <a:srgbClr val="4DD9EC"/>
            </a:solidFill>
            <a:prstDash val="solid"/>
          </a:ln>
        </p:spPr>
      </p:sp>
      <p:sp>
        <p:nvSpPr>
          <p:cNvPr id="9" name="Text 6"/>
          <p:cNvSpPr/>
          <p:nvPr/>
        </p:nvSpPr>
        <p:spPr>
          <a:xfrm>
            <a:off x="2560320" y="1783080"/>
            <a:ext cx="1920240" cy="502920"/>
          </a:xfrm>
          <a:prstGeom prst="rect">
            <a:avLst/>
          </a:prstGeom>
          <a:noFill/>
          <a:ln/>
        </p:spPr>
        <p:txBody>
          <a:bodyPr wrap="square" lIns="0" tIns="0" rIns="0" bIns="0" rtlCol="0" anchor="ctr"/>
          <a:lstStyle/>
          <a:p>
            <a:pPr algn="ctr" indent="0" marL="0">
              <a:buNone/>
            </a:pPr>
            <a:r>
              <a:rPr lang="en-US" sz="1250" b="1" dirty="0">
                <a:solidFill>
                  <a:srgbClr val="F1F5FB"/>
                </a:solidFill>
                <a:latin typeface="Calibri" pitchFamily="34" charset="0"/>
                <a:ea typeface="Calibri" pitchFamily="34" charset="-122"/>
                <a:cs typeface="Calibri" pitchFamily="34" charset="-120"/>
              </a:rPr>
              <a:t>CURRENT ORBIT</a:t>
            </a:r>
            <a:endParaRPr lang="en-US" sz="1250" dirty="0"/>
          </a:p>
        </p:txBody>
      </p:sp>
      <p:sp>
        <p:nvSpPr>
          <p:cNvPr id="10" name="Shape 7"/>
          <p:cNvSpPr/>
          <p:nvPr/>
        </p:nvSpPr>
        <p:spPr>
          <a:xfrm>
            <a:off x="3520440" y="2286000"/>
            <a:ext cx="0" cy="228600"/>
          </a:xfrm>
          <a:prstGeom prst="line">
            <a:avLst/>
          </a:prstGeom>
          <a:noFill/>
          <a:ln w="19050">
            <a:solidFill>
              <a:srgbClr val="4DD9EC"/>
            </a:solidFill>
            <a:prstDash val="solid"/>
          </a:ln>
        </p:spPr>
      </p:sp>
      <p:sp>
        <p:nvSpPr>
          <p:cNvPr id="11" name="Shape 8"/>
          <p:cNvSpPr/>
          <p:nvPr/>
        </p:nvSpPr>
        <p:spPr>
          <a:xfrm>
            <a:off x="1714500" y="2514600"/>
            <a:ext cx="3611880" cy="0"/>
          </a:xfrm>
          <a:prstGeom prst="line">
            <a:avLst/>
          </a:prstGeom>
          <a:noFill/>
          <a:ln w="19050">
            <a:solidFill>
              <a:srgbClr val="4DD9EC"/>
            </a:solidFill>
            <a:prstDash val="solid"/>
          </a:ln>
        </p:spPr>
      </p:sp>
      <p:sp>
        <p:nvSpPr>
          <p:cNvPr id="12" name="Shape 9"/>
          <p:cNvSpPr/>
          <p:nvPr/>
        </p:nvSpPr>
        <p:spPr>
          <a:xfrm>
            <a:off x="1714500" y="2514600"/>
            <a:ext cx="0" cy="201168"/>
          </a:xfrm>
          <a:prstGeom prst="line">
            <a:avLst/>
          </a:prstGeom>
          <a:noFill/>
          <a:ln w="19050">
            <a:solidFill>
              <a:srgbClr val="4DD9EC"/>
            </a:solidFill>
            <a:prstDash val="solid"/>
          </a:ln>
        </p:spPr>
      </p:sp>
      <p:sp>
        <p:nvSpPr>
          <p:cNvPr id="13" name="Shape 10"/>
          <p:cNvSpPr/>
          <p:nvPr/>
        </p:nvSpPr>
        <p:spPr>
          <a:xfrm>
            <a:off x="3520440" y="2514600"/>
            <a:ext cx="0" cy="201168"/>
          </a:xfrm>
          <a:prstGeom prst="line">
            <a:avLst/>
          </a:prstGeom>
          <a:noFill/>
          <a:ln w="19050">
            <a:solidFill>
              <a:srgbClr val="4DD9EC"/>
            </a:solidFill>
            <a:prstDash val="solid"/>
          </a:ln>
        </p:spPr>
      </p:sp>
      <p:sp>
        <p:nvSpPr>
          <p:cNvPr id="14" name="Shape 11"/>
          <p:cNvSpPr/>
          <p:nvPr/>
        </p:nvSpPr>
        <p:spPr>
          <a:xfrm>
            <a:off x="5326380" y="2514600"/>
            <a:ext cx="0" cy="201168"/>
          </a:xfrm>
          <a:prstGeom prst="line">
            <a:avLst/>
          </a:prstGeom>
          <a:noFill/>
          <a:ln w="19050">
            <a:solidFill>
              <a:srgbClr val="4DD9EC"/>
            </a:solidFill>
            <a:prstDash val="solid"/>
          </a:ln>
        </p:spPr>
      </p:sp>
      <p:sp>
        <p:nvSpPr>
          <p:cNvPr id="15" name="Shape 12"/>
          <p:cNvSpPr/>
          <p:nvPr/>
        </p:nvSpPr>
        <p:spPr>
          <a:xfrm>
            <a:off x="868680" y="2715768"/>
            <a:ext cx="1691640" cy="1371600"/>
          </a:xfrm>
          <a:prstGeom prst="roundRect">
            <a:avLst>
              <a:gd name="adj" fmla="val 4667"/>
            </a:avLst>
          </a:prstGeom>
          <a:solidFill>
            <a:srgbClr val="0B1220"/>
          </a:solidFill>
          <a:ln w="19050">
            <a:solidFill>
              <a:srgbClr val="5E6A82"/>
            </a:solidFill>
            <a:prstDash val="solid"/>
          </a:ln>
        </p:spPr>
      </p:sp>
      <p:sp>
        <p:nvSpPr>
          <p:cNvPr id="16" name="Text 13"/>
          <p:cNvSpPr/>
          <p:nvPr/>
        </p:nvSpPr>
        <p:spPr>
          <a:xfrm>
            <a:off x="960120" y="2825496"/>
            <a:ext cx="1508760" cy="365760"/>
          </a:xfrm>
          <a:prstGeom prst="rect">
            <a:avLst/>
          </a:prstGeom>
          <a:noFill/>
          <a:ln/>
        </p:spPr>
        <p:txBody>
          <a:bodyPr wrap="square" lIns="0" tIns="0" rIns="0" bIns="0" rtlCol="0" anchor="ctr"/>
          <a:lstStyle/>
          <a:p>
            <a:pPr algn="ctr" indent="0" marL="0">
              <a:buNone/>
            </a:pPr>
            <a:r>
              <a:rPr lang="en-US" sz="1100" b="1" dirty="0">
                <a:solidFill>
                  <a:srgbClr val="F1F5FB"/>
                </a:solidFill>
                <a:latin typeface="Calibri" pitchFamily="34" charset="0"/>
                <a:ea typeface="Calibri" pitchFamily="34" charset="-122"/>
                <a:cs typeface="Calibri" pitchFamily="34" charset="-120"/>
              </a:rPr>
              <a:t>NO ACTION</a:t>
            </a:r>
            <a:endParaRPr lang="en-US" sz="1100" dirty="0"/>
          </a:p>
        </p:txBody>
      </p:sp>
      <p:sp>
        <p:nvSpPr>
          <p:cNvPr id="17" name="Text 14"/>
          <p:cNvSpPr/>
          <p:nvPr/>
        </p:nvSpPr>
        <p:spPr>
          <a:xfrm>
            <a:off x="960120" y="3154680"/>
            <a:ext cx="1508760" cy="502920"/>
          </a:xfrm>
          <a:prstGeom prst="rect">
            <a:avLst/>
          </a:prstGeom>
          <a:noFill/>
          <a:ln/>
        </p:spPr>
        <p:txBody>
          <a:bodyPr wrap="square" lIns="0" tIns="0" rIns="0" bIns="0" rtlCol="0" anchor="ctr"/>
          <a:lstStyle/>
          <a:p>
            <a:pPr algn="ctr" indent="0" marL="0">
              <a:buNone/>
            </a:pPr>
            <a:r>
              <a:rPr lang="en-US" sz="2400" b="1" dirty="0">
                <a:solidFill>
                  <a:srgbClr val="5E6A82"/>
                </a:solidFill>
                <a:latin typeface="Arial" pitchFamily="34" charset="0"/>
                <a:ea typeface="Arial" pitchFamily="34" charset="-122"/>
                <a:cs typeface="Arial" pitchFamily="34" charset="-120"/>
              </a:rPr>
              <a:t>78</a:t>
            </a:r>
            <a:endParaRPr lang="en-US" sz="2400" dirty="0"/>
          </a:p>
        </p:txBody>
      </p:sp>
      <p:sp>
        <p:nvSpPr>
          <p:cNvPr id="18" name="Text 15"/>
          <p:cNvSpPr/>
          <p:nvPr/>
        </p:nvSpPr>
        <p:spPr>
          <a:xfrm>
            <a:off x="960120" y="3648456"/>
            <a:ext cx="1508760" cy="182880"/>
          </a:xfrm>
          <a:prstGeom prst="rect">
            <a:avLst/>
          </a:prstGeom>
          <a:noFill/>
          <a:ln/>
        </p:spPr>
        <p:txBody>
          <a:bodyPr wrap="square" lIns="0" tIns="0" rIns="0" bIns="0" rtlCol="0" anchor="ctr"/>
          <a:lstStyle/>
          <a:p>
            <a:pPr algn="ctr" indent="0" marL="0">
              <a:buNone/>
            </a:pPr>
            <a:r>
              <a:rPr lang="en-US" sz="750" dirty="0">
                <a:solidFill>
                  <a:srgbClr val="5E6A82"/>
                </a:solidFill>
                <a:latin typeface="Calibri" pitchFamily="34" charset="0"/>
                <a:ea typeface="Calibri" pitchFamily="34" charset="-122"/>
                <a:cs typeface="Calibri" pitchFamily="34" charset="-120"/>
              </a:rPr>
              <a:t>Future Exposure</a:t>
            </a:r>
            <a:endParaRPr lang="en-US" sz="750" dirty="0"/>
          </a:p>
        </p:txBody>
      </p:sp>
      <p:sp>
        <p:nvSpPr>
          <p:cNvPr id="19" name="Text 16"/>
          <p:cNvSpPr/>
          <p:nvPr/>
        </p:nvSpPr>
        <p:spPr>
          <a:xfrm>
            <a:off x="960120" y="3849624"/>
            <a:ext cx="1508760" cy="201168"/>
          </a:xfrm>
          <a:prstGeom prst="rect">
            <a:avLst/>
          </a:prstGeom>
          <a:noFill/>
          <a:ln/>
        </p:spPr>
        <p:txBody>
          <a:bodyPr wrap="square" lIns="0" tIns="0" rIns="0" bIns="0" rtlCol="0" anchor="ctr"/>
          <a:lstStyle/>
          <a:p>
            <a:pPr algn="ctr" indent="0" marL="0">
              <a:buNone/>
            </a:pPr>
            <a:r>
              <a:rPr lang="en-US" sz="900" dirty="0">
                <a:solidFill>
                  <a:srgbClr val="A6B0C3"/>
                </a:solidFill>
                <a:latin typeface="Calibri" pitchFamily="34" charset="0"/>
                <a:ea typeface="Calibri" pitchFamily="34" charset="-122"/>
                <a:cs typeface="Calibri" pitchFamily="34" charset="-120"/>
              </a:rPr>
              <a:t>A ↑ B → C →</a:t>
            </a:r>
            <a:endParaRPr lang="en-US" sz="900" dirty="0"/>
          </a:p>
        </p:txBody>
      </p:sp>
      <p:sp>
        <p:nvSpPr>
          <p:cNvPr id="20" name="Shape 17"/>
          <p:cNvSpPr/>
          <p:nvPr/>
        </p:nvSpPr>
        <p:spPr>
          <a:xfrm>
            <a:off x="2674620" y="2715768"/>
            <a:ext cx="1691640" cy="1371600"/>
          </a:xfrm>
          <a:prstGeom prst="roundRect">
            <a:avLst>
              <a:gd name="adj" fmla="val 4667"/>
            </a:avLst>
          </a:prstGeom>
          <a:solidFill>
            <a:srgbClr val="0B1220"/>
          </a:solidFill>
          <a:ln w="19050">
            <a:solidFill>
              <a:srgbClr val="4DD9EC"/>
            </a:solidFill>
            <a:prstDash val="solid"/>
          </a:ln>
        </p:spPr>
      </p:sp>
      <p:sp>
        <p:nvSpPr>
          <p:cNvPr id="21" name="Text 18"/>
          <p:cNvSpPr/>
          <p:nvPr/>
        </p:nvSpPr>
        <p:spPr>
          <a:xfrm>
            <a:off x="2766060" y="2825496"/>
            <a:ext cx="1508760" cy="365760"/>
          </a:xfrm>
          <a:prstGeom prst="rect">
            <a:avLst/>
          </a:prstGeom>
          <a:noFill/>
          <a:ln/>
        </p:spPr>
        <p:txBody>
          <a:bodyPr wrap="square" lIns="0" tIns="0" rIns="0" bIns="0" rtlCol="0" anchor="ctr"/>
          <a:lstStyle/>
          <a:p>
            <a:pPr algn="ctr" indent="0" marL="0">
              <a:buNone/>
            </a:pPr>
            <a:r>
              <a:rPr lang="en-US" sz="1100" b="1" dirty="0">
                <a:solidFill>
                  <a:srgbClr val="F1F5FB"/>
                </a:solidFill>
                <a:latin typeface="Calibri" pitchFamily="34" charset="0"/>
                <a:ea typeface="Calibri" pitchFamily="34" charset="-122"/>
                <a:cs typeface="Calibri" pitchFamily="34" charset="-120"/>
              </a:rPr>
              <a:t>MANEUVER A</a:t>
            </a:r>
            <a:endParaRPr lang="en-US" sz="1100" dirty="0"/>
          </a:p>
        </p:txBody>
      </p:sp>
      <p:sp>
        <p:nvSpPr>
          <p:cNvPr id="22" name="Text 19"/>
          <p:cNvSpPr/>
          <p:nvPr/>
        </p:nvSpPr>
        <p:spPr>
          <a:xfrm>
            <a:off x="2766060" y="3154680"/>
            <a:ext cx="1508760" cy="502920"/>
          </a:xfrm>
          <a:prstGeom prst="rect">
            <a:avLst/>
          </a:prstGeom>
          <a:noFill/>
          <a:ln/>
        </p:spPr>
        <p:txBody>
          <a:bodyPr wrap="square" lIns="0" tIns="0" rIns="0" bIns="0" rtlCol="0" anchor="ctr"/>
          <a:lstStyle/>
          <a:p>
            <a:pPr algn="ctr" indent="0" marL="0">
              <a:buNone/>
            </a:pPr>
            <a:r>
              <a:rPr lang="en-US" sz="2400" b="1" dirty="0">
                <a:solidFill>
                  <a:srgbClr val="4DD9EC"/>
                </a:solidFill>
                <a:latin typeface="Arial" pitchFamily="34" charset="0"/>
                <a:ea typeface="Arial" pitchFamily="34" charset="-122"/>
                <a:cs typeface="Arial" pitchFamily="34" charset="-120"/>
              </a:rPr>
              <a:t>51</a:t>
            </a:r>
            <a:endParaRPr lang="en-US" sz="2400" dirty="0"/>
          </a:p>
        </p:txBody>
      </p:sp>
      <p:sp>
        <p:nvSpPr>
          <p:cNvPr id="23" name="Text 20"/>
          <p:cNvSpPr/>
          <p:nvPr/>
        </p:nvSpPr>
        <p:spPr>
          <a:xfrm>
            <a:off x="2766060" y="3648456"/>
            <a:ext cx="1508760" cy="182880"/>
          </a:xfrm>
          <a:prstGeom prst="rect">
            <a:avLst/>
          </a:prstGeom>
          <a:noFill/>
          <a:ln/>
        </p:spPr>
        <p:txBody>
          <a:bodyPr wrap="square" lIns="0" tIns="0" rIns="0" bIns="0" rtlCol="0" anchor="ctr"/>
          <a:lstStyle/>
          <a:p>
            <a:pPr algn="ctr" indent="0" marL="0">
              <a:buNone/>
            </a:pPr>
            <a:r>
              <a:rPr lang="en-US" sz="750" dirty="0">
                <a:solidFill>
                  <a:srgbClr val="5E6A82"/>
                </a:solidFill>
                <a:latin typeface="Calibri" pitchFamily="34" charset="0"/>
                <a:ea typeface="Calibri" pitchFamily="34" charset="-122"/>
                <a:cs typeface="Calibri" pitchFamily="34" charset="-120"/>
              </a:rPr>
              <a:t>Future Exposure</a:t>
            </a:r>
            <a:endParaRPr lang="en-US" sz="750" dirty="0"/>
          </a:p>
        </p:txBody>
      </p:sp>
      <p:sp>
        <p:nvSpPr>
          <p:cNvPr id="24" name="Text 21"/>
          <p:cNvSpPr/>
          <p:nvPr/>
        </p:nvSpPr>
        <p:spPr>
          <a:xfrm>
            <a:off x="2766060" y="3849624"/>
            <a:ext cx="1508760" cy="201168"/>
          </a:xfrm>
          <a:prstGeom prst="rect">
            <a:avLst/>
          </a:prstGeom>
          <a:noFill/>
          <a:ln/>
        </p:spPr>
        <p:txBody>
          <a:bodyPr wrap="square" lIns="0" tIns="0" rIns="0" bIns="0" rtlCol="0" anchor="ctr"/>
          <a:lstStyle/>
          <a:p>
            <a:pPr algn="ctr" indent="0" marL="0">
              <a:buNone/>
            </a:pPr>
            <a:r>
              <a:rPr lang="en-US" sz="900" dirty="0">
                <a:solidFill>
                  <a:srgbClr val="A6B0C3"/>
                </a:solidFill>
                <a:latin typeface="Calibri" pitchFamily="34" charset="0"/>
                <a:ea typeface="Calibri" pitchFamily="34" charset="-122"/>
                <a:cs typeface="Calibri" pitchFamily="34" charset="-120"/>
              </a:rPr>
              <a:t>A ↓ B → C ↑</a:t>
            </a:r>
            <a:endParaRPr lang="en-US" sz="900" dirty="0"/>
          </a:p>
        </p:txBody>
      </p:sp>
      <p:sp>
        <p:nvSpPr>
          <p:cNvPr id="25" name="Shape 22"/>
          <p:cNvSpPr/>
          <p:nvPr/>
        </p:nvSpPr>
        <p:spPr>
          <a:xfrm>
            <a:off x="4480560" y="2715768"/>
            <a:ext cx="1691640" cy="1371600"/>
          </a:xfrm>
          <a:prstGeom prst="roundRect">
            <a:avLst>
              <a:gd name="adj" fmla="val 4667"/>
            </a:avLst>
          </a:prstGeom>
          <a:solidFill>
            <a:srgbClr val="0B1220"/>
          </a:solidFill>
          <a:ln w="19050">
            <a:solidFill>
              <a:srgbClr val="F2AA3E"/>
            </a:solidFill>
            <a:prstDash val="solid"/>
          </a:ln>
        </p:spPr>
      </p:sp>
      <p:sp>
        <p:nvSpPr>
          <p:cNvPr id="26" name="Text 23"/>
          <p:cNvSpPr/>
          <p:nvPr/>
        </p:nvSpPr>
        <p:spPr>
          <a:xfrm>
            <a:off x="4572000" y="2825496"/>
            <a:ext cx="1508760" cy="365760"/>
          </a:xfrm>
          <a:prstGeom prst="rect">
            <a:avLst/>
          </a:prstGeom>
          <a:noFill/>
          <a:ln/>
        </p:spPr>
        <p:txBody>
          <a:bodyPr wrap="square" lIns="0" tIns="0" rIns="0" bIns="0" rtlCol="0" anchor="ctr"/>
          <a:lstStyle/>
          <a:p>
            <a:pPr algn="ctr" indent="0" marL="0">
              <a:buNone/>
            </a:pPr>
            <a:r>
              <a:rPr lang="en-US" sz="1100" b="1" dirty="0">
                <a:solidFill>
                  <a:srgbClr val="F1F5FB"/>
                </a:solidFill>
                <a:latin typeface="Calibri" pitchFamily="34" charset="0"/>
                <a:ea typeface="Calibri" pitchFamily="34" charset="-122"/>
                <a:cs typeface="Calibri" pitchFamily="34" charset="-120"/>
              </a:rPr>
              <a:t>MANEUVER B</a:t>
            </a:r>
            <a:endParaRPr lang="en-US" sz="1100" dirty="0"/>
          </a:p>
        </p:txBody>
      </p:sp>
      <p:sp>
        <p:nvSpPr>
          <p:cNvPr id="27" name="Text 24"/>
          <p:cNvSpPr/>
          <p:nvPr/>
        </p:nvSpPr>
        <p:spPr>
          <a:xfrm>
            <a:off x="4572000" y="3154680"/>
            <a:ext cx="1508760" cy="502920"/>
          </a:xfrm>
          <a:prstGeom prst="rect">
            <a:avLst/>
          </a:prstGeom>
          <a:noFill/>
          <a:ln/>
        </p:spPr>
        <p:txBody>
          <a:bodyPr wrap="square" lIns="0" tIns="0" rIns="0" bIns="0" rtlCol="0" anchor="ctr"/>
          <a:lstStyle/>
          <a:p>
            <a:pPr algn="ctr" indent="0" marL="0">
              <a:buNone/>
            </a:pPr>
            <a:r>
              <a:rPr lang="en-US" sz="2400" b="1" dirty="0">
                <a:solidFill>
                  <a:srgbClr val="F2AA3E"/>
                </a:solidFill>
                <a:latin typeface="Arial" pitchFamily="34" charset="0"/>
                <a:ea typeface="Arial" pitchFamily="34" charset="-122"/>
                <a:cs typeface="Arial" pitchFamily="34" charset="-120"/>
              </a:rPr>
              <a:t>37</a:t>
            </a:r>
            <a:endParaRPr lang="en-US" sz="2400" dirty="0"/>
          </a:p>
        </p:txBody>
      </p:sp>
      <p:sp>
        <p:nvSpPr>
          <p:cNvPr id="28" name="Text 25"/>
          <p:cNvSpPr/>
          <p:nvPr/>
        </p:nvSpPr>
        <p:spPr>
          <a:xfrm>
            <a:off x="4572000" y="3648456"/>
            <a:ext cx="1508760" cy="182880"/>
          </a:xfrm>
          <a:prstGeom prst="rect">
            <a:avLst/>
          </a:prstGeom>
          <a:noFill/>
          <a:ln/>
        </p:spPr>
        <p:txBody>
          <a:bodyPr wrap="square" lIns="0" tIns="0" rIns="0" bIns="0" rtlCol="0" anchor="ctr"/>
          <a:lstStyle/>
          <a:p>
            <a:pPr algn="ctr" indent="0" marL="0">
              <a:buNone/>
            </a:pPr>
            <a:r>
              <a:rPr lang="en-US" sz="750" dirty="0">
                <a:solidFill>
                  <a:srgbClr val="5E6A82"/>
                </a:solidFill>
                <a:latin typeface="Calibri" pitchFamily="34" charset="0"/>
                <a:ea typeface="Calibri" pitchFamily="34" charset="-122"/>
                <a:cs typeface="Calibri" pitchFamily="34" charset="-120"/>
              </a:rPr>
              <a:t>Future Exposure</a:t>
            </a:r>
            <a:endParaRPr lang="en-US" sz="750" dirty="0"/>
          </a:p>
        </p:txBody>
      </p:sp>
      <p:sp>
        <p:nvSpPr>
          <p:cNvPr id="29" name="Text 26"/>
          <p:cNvSpPr/>
          <p:nvPr/>
        </p:nvSpPr>
        <p:spPr>
          <a:xfrm>
            <a:off x="4572000" y="3849624"/>
            <a:ext cx="1508760" cy="201168"/>
          </a:xfrm>
          <a:prstGeom prst="rect">
            <a:avLst/>
          </a:prstGeom>
          <a:noFill/>
          <a:ln/>
        </p:spPr>
        <p:txBody>
          <a:bodyPr wrap="square" lIns="0" tIns="0" rIns="0" bIns="0" rtlCol="0" anchor="ctr"/>
          <a:lstStyle/>
          <a:p>
            <a:pPr algn="ctr" indent="0" marL="0">
              <a:buNone/>
            </a:pPr>
            <a:r>
              <a:rPr lang="en-US" sz="900" dirty="0">
                <a:solidFill>
                  <a:srgbClr val="A6B0C3"/>
                </a:solidFill>
                <a:latin typeface="Calibri" pitchFamily="34" charset="0"/>
                <a:ea typeface="Calibri" pitchFamily="34" charset="-122"/>
                <a:cs typeface="Calibri" pitchFamily="34" charset="-120"/>
              </a:rPr>
              <a:t>A ↓ B ↑ C →</a:t>
            </a:r>
            <a:endParaRPr lang="en-US" sz="900" dirty="0"/>
          </a:p>
        </p:txBody>
      </p:sp>
      <p:sp>
        <p:nvSpPr>
          <p:cNvPr id="30" name="Text 27"/>
          <p:cNvSpPr/>
          <p:nvPr/>
        </p:nvSpPr>
        <p:spPr>
          <a:xfrm>
            <a:off x="777240" y="4343400"/>
            <a:ext cx="5486400" cy="502920"/>
          </a:xfrm>
          <a:prstGeom prst="rect">
            <a:avLst/>
          </a:prstGeom>
          <a:noFill/>
          <a:ln/>
        </p:spPr>
        <p:txBody>
          <a:bodyPr wrap="square" lIns="0" tIns="0" rIns="0" bIns="0" rtlCol="0" anchor="ctr"/>
          <a:lstStyle/>
          <a:p>
            <a:pPr algn="ctr" indent="0" marL="0">
              <a:lnSpc>
                <a:spcPts val="1400"/>
              </a:lnSpc>
              <a:buNone/>
            </a:pPr>
            <a:r>
              <a:rPr lang="en-US" sz="1100" i="1" dirty="0">
                <a:solidFill>
                  <a:srgbClr val="A6B0C3"/>
                </a:solidFill>
                <a:latin typeface="Calibri" pitchFamily="34" charset="0"/>
                <a:ea typeface="Calibri" pitchFamily="34" charset="-122"/>
                <a:cs typeface="Calibri" pitchFamily="34" charset="-120"/>
              </a:rPr>
              <a:t>Each scenario is evaluated against Debris A · B · C independently.</a:t>
            </a:r>
            <a:endParaRPr lang="en-US" sz="1100" dirty="0"/>
          </a:p>
        </p:txBody>
      </p:sp>
      <p:sp>
        <p:nvSpPr>
          <p:cNvPr id="31" name="Shape 28"/>
          <p:cNvSpPr/>
          <p:nvPr/>
        </p:nvSpPr>
        <p:spPr>
          <a:xfrm>
            <a:off x="6766560" y="1508760"/>
            <a:ext cx="4919472" cy="4617720"/>
          </a:xfrm>
          <a:prstGeom prst="roundRect">
            <a:avLst>
              <a:gd name="adj" fmla="val 1584"/>
            </a:avLst>
          </a:prstGeom>
          <a:solidFill>
            <a:srgbClr val="111A2E"/>
          </a:solidFill>
          <a:ln w="12700">
            <a:solidFill>
              <a:srgbClr val="26314A"/>
            </a:solidFill>
            <a:prstDash val="solid"/>
          </a:ln>
        </p:spPr>
      </p:sp>
      <p:sp>
        <p:nvSpPr>
          <p:cNvPr id="32" name="Text 29"/>
          <p:cNvSpPr/>
          <p:nvPr/>
        </p:nvSpPr>
        <p:spPr>
          <a:xfrm>
            <a:off x="7040880" y="1737360"/>
            <a:ext cx="4370832" cy="320040"/>
          </a:xfrm>
          <a:prstGeom prst="rect">
            <a:avLst/>
          </a:prstGeom>
          <a:noFill/>
          <a:ln/>
        </p:spPr>
        <p:txBody>
          <a:bodyPr wrap="square" lIns="0" tIns="0" rIns="0" bIns="0" rtlCol="0" anchor="ctr"/>
          <a:lstStyle/>
          <a:p>
            <a:pPr indent="0" marL="0">
              <a:buNone/>
            </a:pPr>
            <a:r>
              <a:rPr lang="en-US" sz="1400" b="1" spc="100" kern="0" dirty="0">
                <a:solidFill>
                  <a:srgbClr val="F2AA3E"/>
                </a:solidFill>
                <a:latin typeface="Calibri" pitchFamily="34" charset="0"/>
                <a:ea typeface="Calibri" pitchFamily="34" charset="-122"/>
                <a:cs typeface="Calibri" pitchFamily="34" charset="-120"/>
              </a:rPr>
              <a:t>THREAT TRANSFER</a:t>
            </a:r>
            <a:endParaRPr lang="en-US" sz="1400" dirty="0"/>
          </a:p>
        </p:txBody>
      </p:sp>
      <p:sp>
        <p:nvSpPr>
          <p:cNvPr id="33" name="Shape 30"/>
          <p:cNvSpPr/>
          <p:nvPr/>
        </p:nvSpPr>
        <p:spPr>
          <a:xfrm>
            <a:off x="7040880" y="2286000"/>
            <a:ext cx="4370832" cy="1051560"/>
          </a:xfrm>
          <a:prstGeom prst="roundRect">
            <a:avLst>
              <a:gd name="adj" fmla="val 5217"/>
            </a:avLst>
          </a:prstGeom>
          <a:solidFill>
            <a:srgbClr val="0B1220"/>
          </a:solidFill>
          <a:ln w="12700">
            <a:solidFill>
              <a:srgbClr val="26314A"/>
            </a:solidFill>
            <a:prstDash val="solid"/>
          </a:ln>
        </p:spPr>
      </p:sp>
      <p:sp>
        <p:nvSpPr>
          <p:cNvPr id="34" name="Text 31"/>
          <p:cNvSpPr/>
          <p:nvPr/>
        </p:nvSpPr>
        <p:spPr>
          <a:xfrm>
            <a:off x="7223760" y="2377440"/>
            <a:ext cx="1371600" cy="228600"/>
          </a:xfrm>
          <a:prstGeom prst="rect">
            <a:avLst/>
          </a:prstGeom>
          <a:noFill/>
          <a:ln/>
        </p:spPr>
        <p:txBody>
          <a:bodyPr wrap="square" lIns="0" tIns="0" rIns="0" bIns="0" rtlCol="0" anchor="ctr"/>
          <a:lstStyle/>
          <a:p>
            <a:pPr indent="0" marL="0">
              <a:buNone/>
            </a:pPr>
            <a:r>
              <a:rPr lang="en-US" sz="950" dirty="0">
                <a:solidFill>
                  <a:srgbClr val="5E6A82"/>
                </a:solidFill>
                <a:latin typeface="Calibri" pitchFamily="34" charset="0"/>
                <a:ea typeface="Calibri" pitchFamily="34" charset="-122"/>
                <a:cs typeface="Calibri" pitchFamily="34" charset="-120"/>
              </a:rPr>
              <a:t>BEFORE</a:t>
            </a:r>
            <a:endParaRPr lang="en-US" sz="950" dirty="0"/>
          </a:p>
        </p:txBody>
      </p:sp>
      <p:sp>
        <p:nvSpPr>
          <p:cNvPr id="35" name="Text 32"/>
          <p:cNvSpPr/>
          <p:nvPr/>
        </p:nvSpPr>
        <p:spPr>
          <a:xfrm>
            <a:off x="7223760" y="2606040"/>
            <a:ext cx="4005072" cy="274320"/>
          </a:xfrm>
          <a:prstGeom prst="rect">
            <a:avLst/>
          </a:prstGeom>
          <a:noFill/>
          <a:ln/>
        </p:spPr>
        <p:txBody>
          <a:bodyPr wrap="square" lIns="0" tIns="0" rIns="0" bIns="0" rtlCol="0" anchor="ctr"/>
          <a:lstStyle/>
          <a:p>
            <a:pPr indent="0" marL="0">
              <a:buNone/>
            </a:pPr>
            <a:r>
              <a:rPr lang="en-US" sz="1300" b="1" dirty="0">
                <a:solidFill>
                  <a:srgbClr val="EC6459"/>
                </a:solidFill>
                <a:latin typeface="Calibri" pitchFamily="34" charset="0"/>
                <a:ea typeface="Calibri" pitchFamily="34" charset="-122"/>
                <a:cs typeface="Calibri" pitchFamily="34" charset="-120"/>
              </a:rPr>
              <a:t>Debris A → HIGH</a:t>
            </a:r>
            <a:endParaRPr lang="en-US" sz="1300" dirty="0"/>
          </a:p>
        </p:txBody>
      </p:sp>
      <p:sp>
        <p:nvSpPr>
          <p:cNvPr id="36" name="Text 33"/>
          <p:cNvSpPr/>
          <p:nvPr/>
        </p:nvSpPr>
        <p:spPr>
          <a:xfrm>
            <a:off x="7223760" y="2898648"/>
            <a:ext cx="4005072" cy="274320"/>
          </a:xfrm>
          <a:prstGeom prst="rect">
            <a:avLst/>
          </a:prstGeom>
          <a:noFill/>
          <a:ln/>
        </p:spPr>
        <p:txBody>
          <a:bodyPr wrap="square" lIns="0" tIns="0" rIns="0" bIns="0" rtlCol="0" anchor="ctr"/>
          <a:lstStyle/>
          <a:p>
            <a:pPr indent="0" marL="0">
              <a:buNone/>
            </a:pPr>
            <a:r>
              <a:rPr lang="en-US" sz="1300" b="1" dirty="0">
                <a:solidFill>
                  <a:srgbClr val="5FC98E"/>
                </a:solidFill>
                <a:latin typeface="Calibri" pitchFamily="34" charset="0"/>
                <a:ea typeface="Calibri" pitchFamily="34" charset="-122"/>
                <a:cs typeface="Calibri" pitchFamily="34" charset="-120"/>
              </a:rPr>
              <a:t>Debris B → LOW</a:t>
            </a:r>
            <a:endParaRPr lang="en-US" sz="1300" dirty="0"/>
          </a:p>
        </p:txBody>
      </p:sp>
      <p:sp>
        <p:nvSpPr>
          <p:cNvPr id="37" name="Text 34"/>
          <p:cNvSpPr/>
          <p:nvPr/>
        </p:nvSpPr>
        <p:spPr>
          <a:xfrm>
            <a:off x="9089136" y="3392424"/>
            <a:ext cx="274320" cy="274320"/>
          </a:xfrm>
          <a:prstGeom prst="rect">
            <a:avLst/>
          </a:prstGeom>
          <a:noFill/>
          <a:ln/>
        </p:spPr>
        <p:txBody>
          <a:bodyPr wrap="square" lIns="0" tIns="0" rIns="0" bIns="0" rtlCol="0" anchor="ctr"/>
          <a:lstStyle/>
          <a:p>
            <a:pPr algn="ctr" indent="0" marL="0">
              <a:buNone/>
            </a:pPr>
            <a:r>
              <a:rPr lang="en-US" sz="1400" dirty="0">
                <a:solidFill>
                  <a:srgbClr val="F2AA3E"/>
                </a:solidFill>
                <a:latin typeface="Calibri" pitchFamily="34" charset="0"/>
                <a:ea typeface="Calibri" pitchFamily="34" charset="-122"/>
                <a:cs typeface="Calibri" pitchFamily="34" charset="-120"/>
              </a:rPr>
              <a:t>▼</a:t>
            </a:r>
            <a:endParaRPr lang="en-US" sz="1400" dirty="0"/>
          </a:p>
        </p:txBody>
      </p:sp>
      <p:sp>
        <p:nvSpPr>
          <p:cNvPr id="38" name="Shape 35"/>
          <p:cNvSpPr/>
          <p:nvPr/>
        </p:nvSpPr>
        <p:spPr>
          <a:xfrm>
            <a:off x="7040880" y="3721608"/>
            <a:ext cx="4370832" cy="1051560"/>
          </a:xfrm>
          <a:prstGeom prst="roundRect">
            <a:avLst>
              <a:gd name="adj" fmla="val 5217"/>
            </a:avLst>
          </a:prstGeom>
          <a:solidFill>
            <a:srgbClr val="0B1220"/>
          </a:solidFill>
          <a:ln w="12700">
            <a:solidFill>
              <a:srgbClr val="26314A"/>
            </a:solidFill>
            <a:prstDash val="solid"/>
          </a:ln>
        </p:spPr>
      </p:sp>
      <p:sp>
        <p:nvSpPr>
          <p:cNvPr id="39" name="Text 36"/>
          <p:cNvSpPr/>
          <p:nvPr/>
        </p:nvSpPr>
        <p:spPr>
          <a:xfrm>
            <a:off x="7223760" y="3813048"/>
            <a:ext cx="2286000" cy="228600"/>
          </a:xfrm>
          <a:prstGeom prst="rect">
            <a:avLst/>
          </a:prstGeom>
          <a:noFill/>
          <a:ln/>
        </p:spPr>
        <p:txBody>
          <a:bodyPr wrap="square" lIns="0" tIns="0" rIns="0" bIns="0" rtlCol="0" anchor="ctr"/>
          <a:lstStyle/>
          <a:p>
            <a:pPr indent="0" marL="0">
              <a:buNone/>
            </a:pPr>
            <a:r>
              <a:rPr lang="en-US" sz="950" dirty="0">
                <a:solidFill>
                  <a:srgbClr val="5E6A82"/>
                </a:solidFill>
                <a:latin typeface="Calibri" pitchFamily="34" charset="0"/>
                <a:ea typeface="Calibri" pitchFamily="34" charset="-122"/>
                <a:cs typeface="Calibri" pitchFamily="34" charset="-120"/>
              </a:rPr>
              <a:t>AFTER MANEUVER</a:t>
            </a:r>
            <a:endParaRPr lang="en-US" sz="950" dirty="0"/>
          </a:p>
        </p:txBody>
      </p:sp>
      <p:sp>
        <p:nvSpPr>
          <p:cNvPr id="40" name="Text 37"/>
          <p:cNvSpPr/>
          <p:nvPr/>
        </p:nvSpPr>
        <p:spPr>
          <a:xfrm>
            <a:off x="7223760" y="4041648"/>
            <a:ext cx="4005072" cy="274320"/>
          </a:xfrm>
          <a:prstGeom prst="rect">
            <a:avLst/>
          </a:prstGeom>
          <a:noFill/>
          <a:ln/>
        </p:spPr>
        <p:txBody>
          <a:bodyPr wrap="square" lIns="0" tIns="0" rIns="0" bIns="0" rtlCol="0" anchor="ctr"/>
          <a:lstStyle/>
          <a:p>
            <a:pPr indent="0" marL="0">
              <a:buNone/>
            </a:pPr>
            <a:r>
              <a:rPr lang="en-US" sz="1300" b="1" dirty="0">
                <a:solidFill>
                  <a:srgbClr val="5FC98E"/>
                </a:solidFill>
                <a:latin typeface="Calibri" pitchFamily="34" charset="0"/>
                <a:ea typeface="Calibri" pitchFamily="34" charset="-122"/>
                <a:cs typeface="Calibri" pitchFamily="34" charset="-120"/>
              </a:rPr>
              <a:t>Debris A → LOWER</a:t>
            </a:r>
            <a:endParaRPr lang="en-US" sz="1300" dirty="0"/>
          </a:p>
        </p:txBody>
      </p:sp>
      <p:sp>
        <p:nvSpPr>
          <p:cNvPr id="41" name="Text 38"/>
          <p:cNvSpPr/>
          <p:nvPr/>
        </p:nvSpPr>
        <p:spPr>
          <a:xfrm>
            <a:off x="7223760" y="4334256"/>
            <a:ext cx="4005072" cy="274320"/>
          </a:xfrm>
          <a:prstGeom prst="rect">
            <a:avLst/>
          </a:prstGeom>
          <a:noFill/>
          <a:ln/>
        </p:spPr>
        <p:txBody>
          <a:bodyPr wrap="square" lIns="0" tIns="0" rIns="0" bIns="0" rtlCol="0" anchor="ctr"/>
          <a:lstStyle/>
          <a:p>
            <a:pPr indent="0" marL="0">
              <a:buNone/>
            </a:pPr>
            <a:r>
              <a:rPr lang="en-US" sz="1300" b="1" dirty="0">
                <a:solidFill>
                  <a:srgbClr val="EC6459"/>
                </a:solidFill>
                <a:latin typeface="Calibri" pitchFamily="34" charset="0"/>
                <a:ea typeface="Calibri" pitchFamily="34" charset="-122"/>
                <a:cs typeface="Calibri" pitchFamily="34" charset="-120"/>
              </a:rPr>
              <a:t>Debris B → HIGHER</a:t>
            </a:r>
            <a:endParaRPr lang="en-US" sz="1300" dirty="0"/>
          </a:p>
        </p:txBody>
      </p:sp>
      <p:sp>
        <p:nvSpPr>
          <p:cNvPr id="42" name="Text 39"/>
          <p:cNvSpPr/>
          <p:nvPr/>
        </p:nvSpPr>
        <p:spPr>
          <a:xfrm>
            <a:off x="7040880" y="5029200"/>
            <a:ext cx="4370832" cy="822960"/>
          </a:xfrm>
          <a:prstGeom prst="rect">
            <a:avLst/>
          </a:prstGeom>
          <a:noFill/>
          <a:ln/>
        </p:spPr>
        <p:txBody>
          <a:bodyPr wrap="square" lIns="0" tIns="0" rIns="0" bIns="0" rtlCol="0" anchor="ctr"/>
          <a:lstStyle/>
          <a:p>
            <a:pPr indent="0" marL="0">
              <a:lnSpc>
                <a:spcPts val="1500"/>
              </a:lnSpc>
              <a:buNone/>
            </a:pPr>
            <a:r>
              <a:rPr lang="en-US" sz="1150" i="1" dirty="0">
                <a:solidFill>
                  <a:srgbClr val="F1F5FB"/>
                </a:solidFill>
                <a:latin typeface="Calibri" pitchFamily="34" charset="0"/>
                <a:ea typeface="Calibri" pitchFamily="34" charset="-122"/>
                <a:cs typeface="Calibri" pitchFamily="34" charset="-120"/>
              </a:rPr>
              <a:t>A maneuver that reduces one modeled threat can increase another.</a:t>
            </a:r>
            <a:endParaRPr lang="en-US" sz="1150" dirty="0"/>
          </a:p>
        </p:txBody>
      </p:sp>
      <p:sp>
        <p:nvSpPr>
          <p:cNvPr id="43" name="Text 40"/>
          <p:cNvSpPr/>
          <p:nvPr/>
        </p:nvSpPr>
        <p:spPr>
          <a:xfrm>
            <a:off x="502920" y="6565392"/>
            <a:ext cx="6400800" cy="228600"/>
          </a:xfrm>
          <a:prstGeom prst="rect">
            <a:avLst/>
          </a:prstGeom>
          <a:noFill/>
          <a:ln/>
        </p:spPr>
        <p:txBody>
          <a:bodyPr wrap="square" lIns="0" tIns="0" rIns="0" bIns="0" rtlCol="0" anchor="ctr"/>
          <a:lstStyle/>
          <a:p>
            <a:pPr indent="0" marL="0">
              <a:buNone/>
            </a:pPr>
            <a:r>
              <a:rPr lang="en-US" sz="850" dirty="0">
                <a:solidFill>
                  <a:srgbClr val="5E6A82"/>
                </a:solidFill>
                <a:latin typeface="Calibri" pitchFamily="34" charset="0"/>
                <a:ea typeface="Calibri" pitchFamily="34" charset="-122"/>
                <a:cs typeface="Calibri" pitchFamily="34" charset="-120"/>
              </a:rPr>
              <a:t>ORBITAL FUTURE DECISION ENGINE  ·  FANTASTIC 4</a:t>
            </a:r>
            <a:endParaRPr lang="en-US" sz="850" dirty="0"/>
          </a:p>
        </p:txBody>
      </p:sp>
      <p:sp>
        <p:nvSpPr>
          <p:cNvPr id="44" name="Text 41"/>
          <p:cNvSpPr/>
          <p:nvPr/>
        </p:nvSpPr>
        <p:spPr>
          <a:xfrm>
            <a:off x="8686800" y="6565392"/>
            <a:ext cx="3017520" cy="228600"/>
          </a:xfrm>
          <a:prstGeom prst="rect">
            <a:avLst/>
          </a:prstGeom>
          <a:noFill/>
          <a:ln/>
        </p:spPr>
        <p:txBody>
          <a:bodyPr wrap="square" lIns="0" tIns="0" rIns="0" bIns="0" rtlCol="0" anchor="ctr"/>
          <a:lstStyle/>
          <a:p>
            <a:pPr algn="r" indent="0" marL="0">
              <a:buNone/>
            </a:pPr>
            <a:r>
              <a:rPr lang="en-US" sz="850" spc="100" kern="0" dirty="0">
                <a:solidFill>
                  <a:srgbClr val="185C68"/>
                </a:solidFill>
                <a:latin typeface="Calibri" pitchFamily="34" charset="0"/>
                <a:ea typeface="Calibri" pitchFamily="34" charset="-122"/>
                <a:cs typeface="Calibri" pitchFamily="34" charset="-120"/>
              </a:rPr>
              <a:t>MISSION: OFDE-01</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60911"/>
        </a:solidFill>
      </p:bgPr>
    </p:bg>
    <p:spTree>
      <p:nvGrpSpPr>
        <p:cNvPr id="1" name=""/>
        <p:cNvGrpSpPr/>
        <p:nvPr/>
      </p:nvGrpSpPr>
      <p:grpSpPr>
        <a:xfrm>
          <a:off x="0" y="0"/>
          <a:ext cx="0" cy="0"/>
          <a:chOff x="0" y="0"/>
          <a:chExt cx="0" cy="0"/>
        </a:xfrm>
      </p:grpSpPr>
      <p:pic>
        <p:nvPicPr>
          <p:cNvPr id="2" name="Image 0" descr="/home/claude/assets/erospace_rgba.png">    </p:cNvPr>
          <p:cNvPicPr>
            <a:picLocks noChangeAspect="1"/>
          </p:cNvPicPr>
          <p:nvPr/>
        </p:nvPicPr>
        <p:blipFill>
          <a:blip r:embed="rId1">
            <a:alphaModFix amt="75000"/>
          </a:blip>
          <a:stretch>
            <a:fillRect/>
          </a:stretch>
        </p:blipFill>
        <p:spPr>
          <a:xfrm>
            <a:off x="10561320" y="292608"/>
            <a:ext cx="1325880" cy="459943"/>
          </a:xfrm>
          <a:prstGeom prst="rect">
            <a:avLst/>
          </a:prstGeom>
        </p:spPr>
      </p:pic>
      <p:sp>
        <p:nvSpPr>
          <p:cNvPr id="3" name="Text 0"/>
          <p:cNvSpPr/>
          <p:nvPr/>
        </p:nvSpPr>
        <p:spPr>
          <a:xfrm>
            <a:off x="502920" y="365760"/>
            <a:ext cx="8229600" cy="292608"/>
          </a:xfrm>
          <a:prstGeom prst="rect">
            <a:avLst/>
          </a:prstGeom>
          <a:noFill/>
          <a:ln/>
        </p:spPr>
        <p:txBody>
          <a:bodyPr wrap="square" lIns="0" tIns="0" rIns="0" bIns="0" rtlCol="0" anchor="ctr"/>
          <a:lstStyle/>
          <a:p>
            <a:pPr indent="0" marL="0">
              <a:buNone/>
            </a:pPr>
            <a:r>
              <a:rPr lang="en-US" sz="1300" b="1" spc="200" kern="0" dirty="0">
                <a:solidFill>
                  <a:srgbClr val="4DD9EC"/>
                </a:solidFill>
                <a:latin typeface="Calibri" pitchFamily="34" charset="0"/>
                <a:ea typeface="Calibri" pitchFamily="34" charset="-122"/>
                <a:cs typeface="Calibri" pitchFamily="34" charset="-120"/>
              </a:rPr>
              <a:t>DECISION METRICS</a:t>
            </a:r>
            <a:endParaRPr lang="en-US" sz="1300" dirty="0"/>
          </a:p>
        </p:txBody>
      </p:sp>
      <p:sp>
        <p:nvSpPr>
          <p:cNvPr id="4" name="Text 1"/>
          <p:cNvSpPr/>
          <p:nvPr/>
        </p:nvSpPr>
        <p:spPr>
          <a:xfrm>
            <a:off x="502920" y="658368"/>
            <a:ext cx="10972800" cy="685800"/>
          </a:xfrm>
          <a:prstGeom prst="rect">
            <a:avLst/>
          </a:prstGeom>
          <a:noFill/>
          <a:ln/>
        </p:spPr>
        <p:txBody>
          <a:bodyPr wrap="square" lIns="0" tIns="0" rIns="0" bIns="0" rtlCol="0" anchor="ctr"/>
          <a:lstStyle/>
          <a:p>
            <a:pPr indent="0" marL="0">
              <a:buNone/>
            </a:pPr>
            <a:r>
              <a:rPr lang="en-US" sz="3000" b="1" dirty="0">
                <a:solidFill>
                  <a:srgbClr val="F1F5FB"/>
                </a:solidFill>
                <a:latin typeface="Arial" pitchFamily="34" charset="0"/>
                <a:ea typeface="Arial" pitchFamily="34" charset="-122"/>
                <a:cs typeface="Arial" pitchFamily="34" charset="-120"/>
              </a:rPr>
              <a:t>Exposure &amp; Sensitivity</a:t>
            </a:r>
            <a:endParaRPr lang="en-US" sz="3000" dirty="0"/>
          </a:p>
        </p:txBody>
      </p:sp>
      <p:sp>
        <p:nvSpPr>
          <p:cNvPr id="5" name="Shape 2"/>
          <p:cNvSpPr/>
          <p:nvPr/>
        </p:nvSpPr>
        <p:spPr>
          <a:xfrm>
            <a:off x="7040880" y="786384"/>
            <a:ext cx="2404872" cy="292608"/>
          </a:xfrm>
          <a:prstGeom prst="roundRect">
            <a:avLst>
              <a:gd name="adj" fmla="val 50000"/>
            </a:avLst>
          </a:prstGeom>
          <a:solidFill>
            <a:srgbClr val="2A2410"/>
          </a:solidFill>
          <a:ln w="12700">
            <a:solidFill>
              <a:srgbClr val="F2AA3E"/>
            </a:solidFill>
            <a:prstDash val="solid"/>
          </a:ln>
        </p:spPr>
      </p:sp>
      <p:sp>
        <p:nvSpPr>
          <p:cNvPr id="6" name="Text 3"/>
          <p:cNvSpPr/>
          <p:nvPr/>
        </p:nvSpPr>
        <p:spPr>
          <a:xfrm>
            <a:off x="7040880" y="786384"/>
            <a:ext cx="2404872" cy="292608"/>
          </a:xfrm>
          <a:prstGeom prst="rect">
            <a:avLst/>
          </a:prstGeom>
          <a:noFill/>
          <a:ln/>
        </p:spPr>
        <p:txBody>
          <a:bodyPr wrap="square" lIns="0" tIns="0" rIns="0" bIns="0" rtlCol="0" anchor="ctr"/>
          <a:lstStyle/>
          <a:p>
            <a:pPr algn="ctr" indent="0" marL="0">
              <a:buNone/>
            </a:pPr>
            <a:r>
              <a:rPr lang="en-US" sz="800" b="1" spc="30" kern="0" dirty="0">
                <a:solidFill>
                  <a:srgbClr val="F2AA3E"/>
                </a:solidFill>
                <a:latin typeface="Calibri" pitchFamily="34" charset="0"/>
                <a:ea typeface="Calibri" pitchFamily="34" charset="-122"/>
                <a:cs typeface="Calibri" pitchFamily="34" charset="-120"/>
              </a:rPr>
              <a:t>ILLUSTRATIVE PROTOTYPE METRIC</a:t>
            </a:r>
            <a:endParaRPr lang="en-US" sz="800" dirty="0"/>
          </a:p>
        </p:txBody>
      </p:sp>
      <p:sp>
        <p:nvSpPr>
          <p:cNvPr id="7" name="Shape 4"/>
          <p:cNvSpPr/>
          <p:nvPr/>
        </p:nvSpPr>
        <p:spPr>
          <a:xfrm>
            <a:off x="502920" y="1508760"/>
            <a:ext cx="5486400" cy="4617720"/>
          </a:xfrm>
          <a:prstGeom prst="roundRect">
            <a:avLst>
              <a:gd name="adj" fmla="val 1584"/>
            </a:avLst>
          </a:prstGeom>
          <a:solidFill>
            <a:srgbClr val="111A2E"/>
          </a:solidFill>
          <a:ln w="12700">
            <a:solidFill>
              <a:srgbClr val="26314A"/>
            </a:solidFill>
            <a:prstDash val="solid"/>
          </a:ln>
        </p:spPr>
      </p:sp>
      <p:sp>
        <p:nvSpPr>
          <p:cNvPr id="8" name="Text 5"/>
          <p:cNvSpPr/>
          <p:nvPr/>
        </p:nvSpPr>
        <p:spPr>
          <a:xfrm>
            <a:off x="777240" y="1737360"/>
            <a:ext cx="4937760" cy="320040"/>
          </a:xfrm>
          <a:prstGeom prst="rect">
            <a:avLst/>
          </a:prstGeom>
          <a:noFill/>
          <a:ln/>
        </p:spPr>
        <p:txBody>
          <a:bodyPr wrap="square" lIns="0" tIns="0" rIns="0" bIns="0" rtlCol="0" anchor="ctr"/>
          <a:lstStyle/>
          <a:p>
            <a:pPr indent="0" marL="0">
              <a:buNone/>
            </a:pPr>
            <a:r>
              <a:rPr lang="en-US" sz="1400" b="1" spc="50" kern="0" dirty="0">
                <a:solidFill>
                  <a:srgbClr val="4DD9EC"/>
                </a:solidFill>
                <a:latin typeface="Calibri" pitchFamily="34" charset="0"/>
                <a:ea typeface="Calibri" pitchFamily="34" charset="-122"/>
                <a:cs typeface="Calibri" pitchFamily="34" charset="-120"/>
              </a:rPr>
              <a:t>FUTURE EXPOSURE INDEX (FEI)</a:t>
            </a:r>
            <a:endParaRPr lang="en-US" sz="1400" dirty="0"/>
          </a:p>
        </p:txBody>
      </p:sp>
      <p:sp>
        <p:nvSpPr>
          <p:cNvPr id="9" name="Shape 6"/>
          <p:cNvSpPr/>
          <p:nvPr/>
        </p:nvSpPr>
        <p:spPr>
          <a:xfrm>
            <a:off x="777240" y="2286000"/>
            <a:ext cx="1493520" cy="1554480"/>
          </a:xfrm>
          <a:prstGeom prst="roundRect">
            <a:avLst>
              <a:gd name="adj" fmla="val 4286"/>
            </a:avLst>
          </a:prstGeom>
          <a:solidFill>
            <a:srgbClr val="0B1220"/>
          </a:solidFill>
          <a:ln w="19050">
            <a:solidFill>
              <a:srgbClr val="5E6A82"/>
            </a:solidFill>
            <a:prstDash val="solid"/>
          </a:ln>
        </p:spPr>
      </p:sp>
      <p:sp>
        <p:nvSpPr>
          <p:cNvPr id="10" name="Text 7"/>
          <p:cNvSpPr/>
          <p:nvPr/>
        </p:nvSpPr>
        <p:spPr>
          <a:xfrm>
            <a:off x="777240" y="2450592"/>
            <a:ext cx="1493520" cy="822960"/>
          </a:xfrm>
          <a:prstGeom prst="rect">
            <a:avLst/>
          </a:prstGeom>
          <a:noFill/>
          <a:ln/>
        </p:spPr>
        <p:txBody>
          <a:bodyPr wrap="square" lIns="0" tIns="0" rIns="0" bIns="0" rtlCol="0" anchor="ctr"/>
          <a:lstStyle/>
          <a:p>
            <a:pPr algn="ctr" indent="0" marL="0">
              <a:buNone/>
            </a:pPr>
            <a:r>
              <a:rPr lang="en-US" sz="3800" b="1" dirty="0">
                <a:solidFill>
                  <a:srgbClr val="5E6A82"/>
                </a:solidFill>
                <a:latin typeface="Arial" pitchFamily="34" charset="0"/>
                <a:ea typeface="Arial" pitchFamily="34" charset="-122"/>
                <a:cs typeface="Arial" pitchFamily="34" charset="-120"/>
              </a:rPr>
              <a:t>78</a:t>
            </a:r>
            <a:endParaRPr lang="en-US" sz="3800" dirty="0"/>
          </a:p>
        </p:txBody>
      </p:sp>
      <p:sp>
        <p:nvSpPr>
          <p:cNvPr id="11" name="Text 8"/>
          <p:cNvSpPr/>
          <p:nvPr/>
        </p:nvSpPr>
        <p:spPr>
          <a:xfrm>
            <a:off x="777240" y="3429000"/>
            <a:ext cx="1493520" cy="320040"/>
          </a:xfrm>
          <a:prstGeom prst="rect">
            <a:avLst/>
          </a:prstGeom>
          <a:noFill/>
          <a:ln/>
        </p:spPr>
        <p:txBody>
          <a:bodyPr wrap="square" lIns="0" tIns="0" rIns="0" bIns="0" rtlCol="0" anchor="ctr"/>
          <a:lstStyle/>
          <a:p>
            <a:pPr algn="ctr" indent="0" marL="0">
              <a:lnSpc>
                <a:spcPts val="1100"/>
              </a:lnSpc>
              <a:buNone/>
            </a:pPr>
            <a:r>
              <a:rPr lang="en-US" sz="950" b="1" dirty="0">
                <a:solidFill>
                  <a:srgbClr val="F1F5FB"/>
                </a:solidFill>
                <a:latin typeface="Calibri" pitchFamily="34" charset="0"/>
                <a:ea typeface="Calibri" pitchFamily="34" charset="-122"/>
                <a:cs typeface="Calibri" pitchFamily="34" charset="-120"/>
              </a:rPr>
              <a:t>NO ACTION</a:t>
            </a:r>
            <a:endParaRPr lang="en-US" sz="950" dirty="0"/>
          </a:p>
        </p:txBody>
      </p:sp>
      <p:sp>
        <p:nvSpPr>
          <p:cNvPr id="12" name="Shape 9"/>
          <p:cNvSpPr/>
          <p:nvPr/>
        </p:nvSpPr>
        <p:spPr>
          <a:xfrm>
            <a:off x="2499360" y="2286000"/>
            <a:ext cx="1493520" cy="1554480"/>
          </a:xfrm>
          <a:prstGeom prst="roundRect">
            <a:avLst>
              <a:gd name="adj" fmla="val 4286"/>
            </a:avLst>
          </a:prstGeom>
          <a:solidFill>
            <a:srgbClr val="0B1220"/>
          </a:solidFill>
          <a:ln w="19050">
            <a:solidFill>
              <a:srgbClr val="4DD9EC"/>
            </a:solidFill>
            <a:prstDash val="solid"/>
          </a:ln>
        </p:spPr>
      </p:sp>
      <p:sp>
        <p:nvSpPr>
          <p:cNvPr id="13" name="Text 10"/>
          <p:cNvSpPr/>
          <p:nvPr/>
        </p:nvSpPr>
        <p:spPr>
          <a:xfrm>
            <a:off x="2499360" y="2450592"/>
            <a:ext cx="1493520" cy="822960"/>
          </a:xfrm>
          <a:prstGeom prst="rect">
            <a:avLst/>
          </a:prstGeom>
          <a:noFill/>
          <a:ln/>
        </p:spPr>
        <p:txBody>
          <a:bodyPr wrap="square" lIns="0" tIns="0" rIns="0" bIns="0" rtlCol="0" anchor="ctr"/>
          <a:lstStyle/>
          <a:p>
            <a:pPr algn="ctr" indent="0" marL="0">
              <a:buNone/>
            </a:pPr>
            <a:r>
              <a:rPr lang="en-US" sz="3800" b="1" dirty="0">
                <a:solidFill>
                  <a:srgbClr val="4DD9EC"/>
                </a:solidFill>
                <a:latin typeface="Arial" pitchFamily="34" charset="0"/>
                <a:ea typeface="Arial" pitchFamily="34" charset="-122"/>
                <a:cs typeface="Arial" pitchFamily="34" charset="-120"/>
              </a:rPr>
              <a:t>51</a:t>
            </a:r>
            <a:endParaRPr lang="en-US" sz="3800" dirty="0"/>
          </a:p>
        </p:txBody>
      </p:sp>
      <p:sp>
        <p:nvSpPr>
          <p:cNvPr id="14" name="Text 11"/>
          <p:cNvSpPr/>
          <p:nvPr/>
        </p:nvSpPr>
        <p:spPr>
          <a:xfrm>
            <a:off x="2499360" y="3429000"/>
            <a:ext cx="1493520" cy="320040"/>
          </a:xfrm>
          <a:prstGeom prst="rect">
            <a:avLst/>
          </a:prstGeom>
          <a:noFill/>
          <a:ln/>
        </p:spPr>
        <p:txBody>
          <a:bodyPr wrap="square" lIns="0" tIns="0" rIns="0" bIns="0" rtlCol="0" anchor="ctr"/>
          <a:lstStyle/>
          <a:p>
            <a:pPr algn="ctr" indent="0" marL="0">
              <a:lnSpc>
                <a:spcPts val="1100"/>
              </a:lnSpc>
              <a:buNone/>
            </a:pPr>
            <a:r>
              <a:rPr lang="en-US" sz="950" b="1" dirty="0">
                <a:solidFill>
                  <a:srgbClr val="F1F5FB"/>
                </a:solidFill>
                <a:latin typeface="Calibri" pitchFamily="34" charset="0"/>
                <a:ea typeface="Calibri" pitchFamily="34" charset="-122"/>
                <a:cs typeface="Calibri" pitchFamily="34" charset="-120"/>
              </a:rPr>
              <a:t>MANEUVER A</a:t>
            </a:r>
            <a:endParaRPr lang="en-US" sz="950" dirty="0"/>
          </a:p>
        </p:txBody>
      </p:sp>
      <p:sp>
        <p:nvSpPr>
          <p:cNvPr id="15" name="Shape 12"/>
          <p:cNvSpPr/>
          <p:nvPr/>
        </p:nvSpPr>
        <p:spPr>
          <a:xfrm>
            <a:off x="4221480" y="2286000"/>
            <a:ext cx="1493520" cy="1554480"/>
          </a:xfrm>
          <a:prstGeom prst="roundRect">
            <a:avLst>
              <a:gd name="adj" fmla="val 4286"/>
            </a:avLst>
          </a:prstGeom>
          <a:solidFill>
            <a:srgbClr val="0B1220"/>
          </a:solidFill>
          <a:ln w="19050">
            <a:solidFill>
              <a:srgbClr val="F2AA3E"/>
            </a:solidFill>
            <a:prstDash val="solid"/>
          </a:ln>
        </p:spPr>
      </p:sp>
      <p:sp>
        <p:nvSpPr>
          <p:cNvPr id="16" name="Text 13"/>
          <p:cNvSpPr/>
          <p:nvPr/>
        </p:nvSpPr>
        <p:spPr>
          <a:xfrm>
            <a:off x="4221480" y="2450592"/>
            <a:ext cx="1493520" cy="822960"/>
          </a:xfrm>
          <a:prstGeom prst="rect">
            <a:avLst/>
          </a:prstGeom>
          <a:noFill/>
          <a:ln/>
        </p:spPr>
        <p:txBody>
          <a:bodyPr wrap="square" lIns="0" tIns="0" rIns="0" bIns="0" rtlCol="0" anchor="ctr"/>
          <a:lstStyle/>
          <a:p>
            <a:pPr algn="ctr" indent="0" marL="0">
              <a:buNone/>
            </a:pPr>
            <a:r>
              <a:rPr lang="en-US" sz="3800" b="1" dirty="0">
                <a:solidFill>
                  <a:srgbClr val="F2AA3E"/>
                </a:solidFill>
                <a:latin typeface="Arial" pitchFamily="34" charset="0"/>
                <a:ea typeface="Arial" pitchFamily="34" charset="-122"/>
                <a:cs typeface="Arial" pitchFamily="34" charset="-120"/>
              </a:rPr>
              <a:t>37</a:t>
            </a:r>
            <a:endParaRPr lang="en-US" sz="3800" dirty="0"/>
          </a:p>
        </p:txBody>
      </p:sp>
      <p:sp>
        <p:nvSpPr>
          <p:cNvPr id="17" name="Text 14"/>
          <p:cNvSpPr/>
          <p:nvPr/>
        </p:nvSpPr>
        <p:spPr>
          <a:xfrm>
            <a:off x="4221480" y="3429000"/>
            <a:ext cx="1493520" cy="320040"/>
          </a:xfrm>
          <a:prstGeom prst="rect">
            <a:avLst/>
          </a:prstGeom>
          <a:noFill/>
          <a:ln/>
        </p:spPr>
        <p:txBody>
          <a:bodyPr wrap="square" lIns="0" tIns="0" rIns="0" bIns="0" rtlCol="0" anchor="ctr"/>
          <a:lstStyle/>
          <a:p>
            <a:pPr algn="ctr" indent="0" marL="0">
              <a:lnSpc>
                <a:spcPts val="1100"/>
              </a:lnSpc>
              <a:buNone/>
            </a:pPr>
            <a:r>
              <a:rPr lang="en-US" sz="950" b="1" dirty="0">
                <a:solidFill>
                  <a:srgbClr val="F1F5FB"/>
                </a:solidFill>
                <a:latin typeface="Calibri" pitchFamily="34" charset="0"/>
                <a:ea typeface="Calibri" pitchFamily="34" charset="-122"/>
                <a:cs typeface="Calibri" pitchFamily="34" charset="-120"/>
              </a:rPr>
              <a:t>MANEUVER B</a:t>
            </a:r>
            <a:endParaRPr lang="en-US" sz="950" dirty="0"/>
          </a:p>
        </p:txBody>
      </p:sp>
      <p:sp>
        <p:nvSpPr>
          <p:cNvPr id="18" name="Text 15"/>
          <p:cNvSpPr/>
          <p:nvPr/>
        </p:nvSpPr>
        <p:spPr>
          <a:xfrm>
            <a:off x="777240" y="4114800"/>
            <a:ext cx="4937760" cy="320040"/>
          </a:xfrm>
          <a:prstGeom prst="rect">
            <a:avLst/>
          </a:prstGeom>
          <a:noFill/>
          <a:ln/>
        </p:spPr>
        <p:txBody>
          <a:bodyPr wrap="square" lIns="0" tIns="0" rIns="0" bIns="0" rtlCol="0" anchor="ctr"/>
          <a:lstStyle/>
          <a:p>
            <a:pPr algn="ctr" indent="0" marL="0">
              <a:buNone/>
            </a:pPr>
            <a:r>
              <a:rPr lang="en-US" sz="1200" dirty="0">
                <a:solidFill>
                  <a:srgbClr val="A6B0C3"/>
                </a:solidFill>
                <a:latin typeface="Calibri" pitchFamily="34" charset="0"/>
                <a:ea typeface="Calibri" pitchFamily="34" charset="-122"/>
                <a:cs typeface="Calibri" pitchFamily="34" charset="-120"/>
              </a:rPr>
              <a:t>24H + 7D + 30D   ·   Multiple Objects</a:t>
            </a:r>
            <a:endParaRPr lang="en-US" sz="1200" dirty="0"/>
          </a:p>
        </p:txBody>
      </p:sp>
      <p:sp>
        <p:nvSpPr>
          <p:cNvPr id="19" name="Shape 16"/>
          <p:cNvSpPr/>
          <p:nvPr/>
        </p:nvSpPr>
        <p:spPr>
          <a:xfrm>
            <a:off x="960120" y="4572000"/>
            <a:ext cx="4572000" cy="0"/>
          </a:xfrm>
          <a:prstGeom prst="line">
            <a:avLst/>
          </a:prstGeom>
          <a:noFill/>
          <a:ln w="12700">
            <a:solidFill>
              <a:srgbClr val="26314A"/>
            </a:solidFill>
            <a:prstDash val="solid"/>
          </a:ln>
        </p:spPr>
      </p:sp>
      <p:sp>
        <p:nvSpPr>
          <p:cNvPr id="20" name="Text 17"/>
          <p:cNvSpPr/>
          <p:nvPr/>
        </p:nvSpPr>
        <p:spPr>
          <a:xfrm>
            <a:off x="777240" y="4709160"/>
            <a:ext cx="4937760" cy="822960"/>
          </a:xfrm>
          <a:prstGeom prst="rect">
            <a:avLst/>
          </a:prstGeom>
          <a:noFill/>
          <a:ln/>
        </p:spPr>
        <p:txBody>
          <a:bodyPr wrap="square" lIns="0" tIns="0" rIns="0" bIns="0" rtlCol="0" anchor="ctr"/>
          <a:lstStyle/>
          <a:p>
            <a:pPr algn="ctr" indent="0" marL="0">
              <a:lnSpc>
                <a:spcPts val="1500"/>
              </a:lnSpc>
              <a:buNone/>
            </a:pPr>
            <a:r>
              <a:rPr lang="en-US" sz="1150" i="1" dirty="0">
                <a:solidFill>
                  <a:srgbClr val="F2AA3E"/>
                </a:solidFill>
                <a:latin typeface="Calibri" pitchFamily="34" charset="0"/>
                <a:ea typeface="Calibri" pitchFamily="34" charset="-122"/>
                <a:cs typeface="Calibri" pitchFamily="34" charset="-120"/>
              </a:rPr>
              <a:t>Illustrative prototype metric — not an industry standard.</a:t>
            </a:r>
            <a:endParaRPr lang="en-US" sz="1150" dirty="0"/>
          </a:p>
        </p:txBody>
      </p:sp>
      <p:sp>
        <p:nvSpPr>
          <p:cNvPr id="21" name="Shape 18"/>
          <p:cNvSpPr/>
          <p:nvPr/>
        </p:nvSpPr>
        <p:spPr>
          <a:xfrm>
            <a:off x="6309360" y="1508760"/>
            <a:ext cx="5376672" cy="4617720"/>
          </a:xfrm>
          <a:prstGeom prst="roundRect">
            <a:avLst>
              <a:gd name="adj" fmla="val 1584"/>
            </a:avLst>
          </a:prstGeom>
          <a:solidFill>
            <a:srgbClr val="111A2E"/>
          </a:solidFill>
          <a:ln w="12700">
            <a:solidFill>
              <a:srgbClr val="26314A"/>
            </a:solidFill>
            <a:prstDash val="solid"/>
          </a:ln>
        </p:spPr>
      </p:sp>
      <p:sp>
        <p:nvSpPr>
          <p:cNvPr id="22" name="Text 19"/>
          <p:cNvSpPr/>
          <p:nvPr/>
        </p:nvSpPr>
        <p:spPr>
          <a:xfrm>
            <a:off x="6583680" y="1737360"/>
            <a:ext cx="4828032" cy="320040"/>
          </a:xfrm>
          <a:prstGeom prst="rect">
            <a:avLst/>
          </a:prstGeom>
          <a:noFill/>
          <a:ln/>
        </p:spPr>
        <p:txBody>
          <a:bodyPr wrap="square" lIns="0" tIns="0" rIns="0" bIns="0" rtlCol="0" anchor="ctr"/>
          <a:lstStyle/>
          <a:p>
            <a:pPr indent="0" marL="0">
              <a:buNone/>
            </a:pPr>
            <a:r>
              <a:rPr lang="en-US" sz="1400" b="1" spc="50" kern="0" dirty="0">
                <a:solidFill>
                  <a:srgbClr val="4DD9EC"/>
                </a:solidFill>
                <a:latin typeface="Calibri" pitchFamily="34" charset="0"/>
                <a:ea typeface="Calibri" pitchFamily="34" charset="-122"/>
                <a:cs typeface="Calibri" pitchFamily="34" charset="-120"/>
              </a:rPr>
              <a:t>DECISION SENSITIVITY</a:t>
            </a:r>
            <a:endParaRPr lang="en-US" sz="1400" dirty="0"/>
          </a:p>
        </p:txBody>
      </p:sp>
      <p:sp>
        <p:nvSpPr>
          <p:cNvPr id="23" name="Text 20"/>
          <p:cNvSpPr/>
          <p:nvPr/>
        </p:nvSpPr>
        <p:spPr>
          <a:xfrm>
            <a:off x="6583680" y="2377440"/>
            <a:ext cx="1737360" cy="384048"/>
          </a:xfrm>
          <a:prstGeom prst="rect">
            <a:avLst/>
          </a:prstGeom>
          <a:noFill/>
          <a:ln/>
        </p:spPr>
        <p:txBody>
          <a:bodyPr wrap="square" lIns="0" tIns="0" rIns="0" bIns="0" rtlCol="0" anchor="ctr"/>
          <a:lstStyle/>
          <a:p>
            <a:pPr indent="0" marL="0">
              <a:buNone/>
            </a:pPr>
            <a:r>
              <a:rPr lang="en-US" sz="1300" b="1" dirty="0">
                <a:solidFill>
                  <a:srgbClr val="F1F5FB"/>
                </a:solidFill>
                <a:latin typeface="Calibri" pitchFamily="34" charset="0"/>
                <a:ea typeface="Calibri" pitchFamily="34" charset="-122"/>
                <a:cs typeface="Calibri" pitchFamily="34" charset="-120"/>
              </a:rPr>
              <a:t>MANEUVER A</a:t>
            </a:r>
            <a:endParaRPr lang="en-US" sz="1300" dirty="0"/>
          </a:p>
        </p:txBody>
      </p:sp>
      <p:sp>
        <p:nvSpPr>
          <p:cNvPr id="24" name="Shape 21"/>
          <p:cNvSpPr/>
          <p:nvPr/>
        </p:nvSpPr>
        <p:spPr>
          <a:xfrm>
            <a:off x="8321040" y="2450592"/>
            <a:ext cx="2542032" cy="292608"/>
          </a:xfrm>
          <a:prstGeom prst="roundRect">
            <a:avLst>
              <a:gd name="adj" fmla="val 18750"/>
            </a:avLst>
          </a:prstGeom>
          <a:solidFill>
            <a:srgbClr val="1B2338"/>
          </a:solidFill>
          <a:ln/>
        </p:spPr>
      </p:sp>
      <p:sp>
        <p:nvSpPr>
          <p:cNvPr id="25" name="Shape 22"/>
          <p:cNvSpPr/>
          <p:nvPr/>
        </p:nvSpPr>
        <p:spPr>
          <a:xfrm>
            <a:off x="8321040" y="2450592"/>
            <a:ext cx="1576060" cy="292608"/>
          </a:xfrm>
          <a:prstGeom prst="roundRect">
            <a:avLst>
              <a:gd name="adj" fmla="val 18750"/>
            </a:avLst>
          </a:prstGeom>
          <a:solidFill>
            <a:srgbClr val="4DD9EC"/>
          </a:solidFill>
          <a:ln/>
        </p:spPr>
      </p:sp>
      <p:sp>
        <p:nvSpPr>
          <p:cNvPr id="26" name="Text 23"/>
          <p:cNvSpPr/>
          <p:nvPr/>
        </p:nvSpPr>
        <p:spPr>
          <a:xfrm>
            <a:off x="10954512" y="2377440"/>
            <a:ext cx="548640" cy="384048"/>
          </a:xfrm>
          <a:prstGeom prst="rect">
            <a:avLst/>
          </a:prstGeom>
          <a:noFill/>
          <a:ln/>
        </p:spPr>
        <p:txBody>
          <a:bodyPr wrap="square" lIns="0" tIns="0" rIns="0" bIns="0" rtlCol="0" anchor="ctr"/>
          <a:lstStyle/>
          <a:p>
            <a:pPr indent="0" marL="0">
              <a:buNone/>
            </a:pPr>
            <a:r>
              <a:rPr lang="en-US" sz="1400" b="1" dirty="0">
                <a:solidFill>
                  <a:srgbClr val="4DD9EC"/>
                </a:solidFill>
                <a:latin typeface="Arial" pitchFamily="34" charset="0"/>
                <a:ea typeface="Arial" pitchFamily="34" charset="-122"/>
                <a:cs typeface="Arial" pitchFamily="34" charset="-120"/>
              </a:rPr>
              <a:t>62%</a:t>
            </a:r>
            <a:endParaRPr lang="en-US" sz="1400" dirty="0"/>
          </a:p>
        </p:txBody>
      </p:sp>
      <p:sp>
        <p:nvSpPr>
          <p:cNvPr id="27" name="Text 24"/>
          <p:cNvSpPr/>
          <p:nvPr/>
        </p:nvSpPr>
        <p:spPr>
          <a:xfrm>
            <a:off x="6583680" y="2944368"/>
            <a:ext cx="1737360" cy="384048"/>
          </a:xfrm>
          <a:prstGeom prst="rect">
            <a:avLst/>
          </a:prstGeom>
          <a:noFill/>
          <a:ln/>
        </p:spPr>
        <p:txBody>
          <a:bodyPr wrap="square" lIns="0" tIns="0" rIns="0" bIns="0" rtlCol="0" anchor="ctr"/>
          <a:lstStyle/>
          <a:p>
            <a:pPr indent="0" marL="0">
              <a:buNone/>
            </a:pPr>
            <a:r>
              <a:rPr lang="en-US" sz="1300" b="1" dirty="0">
                <a:solidFill>
                  <a:srgbClr val="F1F5FB"/>
                </a:solidFill>
                <a:latin typeface="Calibri" pitchFamily="34" charset="0"/>
                <a:ea typeface="Calibri" pitchFamily="34" charset="-122"/>
                <a:cs typeface="Calibri" pitchFamily="34" charset="-120"/>
              </a:rPr>
              <a:t>MANEUVER B</a:t>
            </a:r>
            <a:endParaRPr lang="en-US" sz="1300" dirty="0"/>
          </a:p>
        </p:txBody>
      </p:sp>
      <p:sp>
        <p:nvSpPr>
          <p:cNvPr id="28" name="Shape 25"/>
          <p:cNvSpPr/>
          <p:nvPr/>
        </p:nvSpPr>
        <p:spPr>
          <a:xfrm>
            <a:off x="8321040" y="3017520"/>
            <a:ext cx="2542032" cy="292608"/>
          </a:xfrm>
          <a:prstGeom prst="roundRect">
            <a:avLst>
              <a:gd name="adj" fmla="val 18750"/>
            </a:avLst>
          </a:prstGeom>
          <a:solidFill>
            <a:srgbClr val="1B2338"/>
          </a:solidFill>
          <a:ln/>
        </p:spPr>
      </p:sp>
      <p:sp>
        <p:nvSpPr>
          <p:cNvPr id="29" name="Shape 26"/>
          <p:cNvSpPr/>
          <p:nvPr/>
        </p:nvSpPr>
        <p:spPr>
          <a:xfrm>
            <a:off x="8321040" y="3017520"/>
            <a:ext cx="711769" cy="292608"/>
          </a:xfrm>
          <a:prstGeom prst="roundRect">
            <a:avLst>
              <a:gd name="adj" fmla="val 18750"/>
            </a:avLst>
          </a:prstGeom>
          <a:solidFill>
            <a:srgbClr val="F2AA3E"/>
          </a:solidFill>
          <a:ln/>
        </p:spPr>
      </p:sp>
      <p:sp>
        <p:nvSpPr>
          <p:cNvPr id="30" name="Text 27"/>
          <p:cNvSpPr/>
          <p:nvPr/>
        </p:nvSpPr>
        <p:spPr>
          <a:xfrm>
            <a:off x="10954512" y="2944368"/>
            <a:ext cx="548640" cy="384048"/>
          </a:xfrm>
          <a:prstGeom prst="rect">
            <a:avLst/>
          </a:prstGeom>
          <a:noFill/>
          <a:ln/>
        </p:spPr>
        <p:txBody>
          <a:bodyPr wrap="square" lIns="0" tIns="0" rIns="0" bIns="0" rtlCol="0" anchor="ctr"/>
          <a:lstStyle/>
          <a:p>
            <a:pPr indent="0" marL="0">
              <a:buNone/>
            </a:pPr>
            <a:r>
              <a:rPr lang="en-US" sz="1400" b="1" dirty="0">
                <a:solidFill>
                  <a:srgbClr val="F2AA3E"/>
                </a:solidFill>
                <a:latin typeface="Arial" pitchFamily="34" charset="0"/>
                <a:ea typeface="Arial" pitchFamily="34" charset="-122"/>
                <a:cs typeface="Arial" pitchFamily="34" charset="-120"/>
              </a:rPr>
              <a:t>28%</a:t>
            </a:r>
            <a:endParaRPr lang="en-US" sz="1400" dirty="0"/>
          </a:p>
        </p:txBody>
      </p:sp>
      <p:sp>
        <p:nvSpPr>
          <p:cNvPr id="31" name="Text 28"/>
          <p:cNvSpPr/>
          <p:nvPr/>
        </p:nvSpPr>
        <p:spPr>
          <a:xfrm>
            <a:off x="6583680" y="3511296"/>
            <a:ext cx="1737360" cy="384048"/>
          </a:xfrm>
          <a:prstGeom prst="rect">
            <a:avLst/>
          </a:prstGeom>
          <a:noFill/>
          <a:ln/>
        </p:spPr>
        <p:txBody>
          <a:bodyPr wrap="square" lIns="0" tIns="0" rIns="0" bIns="0" rtlCol="0" anchor="ctr"/>
          <a:lstStyle/>
          <a:p>
            <a:pPr indent="0" marL="0">
              <a:buNone/>
            </a:pPr>
            <a:r>
              <a:rPr lang="en-US" sz="1300" b="1" dirty="0">
                <a:solidFill>
                  <a:srgbClr val="F1F5FB"/>
                </a:solidFill>
                <a:latin typeface="Calibri" pitchFamily="34" charset="0"/>
                <a:ea typeface="Calibri" pitchFamily="34" charset="-122"/>
                <a:cs typeface="Calibri" pitchFamily="34" charset="-120"/>
              </a:rPr>
              <a:t>NO ACTION</a:t>
            </a:r>
            <a:endParaRPr lang="en-US" sz="1300" dirty="0"/>
          </a:p>
        </p:txBody>
      </p:sp>
      <p:sp>
        <p:nvSpPr>
          <p:cNvPr id="32" name="Shape 29"/>
          <p:cNvSpPr/>
          <p:nvPr/>
        </p:nvSpPr>
        <p:spPr>
          <a:xfrm>
            <a:off x="8321040" y="3584448"/>
            <a:ext cx="2542032" cy="292608"/>
          </a:xfrm>
          <a:prstGeom prst="roundRect">
            <a:avLst>
              <a:gd name="adj" fmla="val 18750"/>
            </a:avLst>
          </a:prstGeom>
          <a:solidFill>
            <a:srgbClr val="1B2338"/>
          </a:solidFill>
          <a:ln/>
        </p:spPr>
      </p:sp>
      <p:sp>
        <p:nvSpPr>
          <p:cNvPr id="33" name="Shape 30"/>
          <p:cNvSpPr/>
          <p:nvPr/>
        </p:nvSpPr>
        <p:spPr>
          <a:xfrm>
            <a:off x="8321040" y="3584448"/>
            <a:ext cx="254203" cy="292608"/>
          </a:xfrm>
          <a:prstGeom prst="roundRect">
            <a:avLst>
              <a:gd name="adj" fmla="val 21583"/>
            </a:avLst>
          </a:prstGeom>
          <a:solidFill>
            <a:srgbClr val="5E6A82"/>
          </a:solidFill>
          <a:ln/>
        </p:spPr>
      </p:sp>
      <p:sp>
        <p:nvSpPr>
          <p:cNvPr id="34" name="Text 31"/>
          <p:cNvSpPr/>
          <p:nvPr/>
        </p:nvSpPr>
        <p:spPr>
          <a:xfrm>
            <a:off x="10954512" y="3511296"/>
            <a:ext cx="548640" cy="384048"/>
          </a:xfrm>
          <a:prstGeom prst="rect">
            <a:avLst/>
          </a:prstGeom>
          <a:noFill/>
          <a:ln/>
        </p:spPr>
        <p:txBody>
          <a:bodyPr wrap="square" lIns="0" tIns="0" rIns="0" bIns="0" rtlCol="0" anchor="ctr"/>
          <a:lstStyle/>
          <a:p>
            <a:pPr indent="0" marL="0">
              <a:buNone/>
            </a:pPr>
            <a:r>
              <a:rPr lang="en-US" sz="1400" b="1" dirty="0">
                <a:solidFill>
                  <a:srgbClr val="5E6A82"/>
                </a:solidFill>
                <a:latin typeface="Arial" pitchFamily="34" charset="0"/>
                <a:ea typeface="Arial" pitchFamily="34" charset="-122"/>
                <a:cs typeface="Arial" pitchFamily="34" charset="-120"/>
              </a:rPr>
              <a:t>10%</a:t>
            </a:r>
            <a:endParaRPr lang="en-US" sz="1400" dirty="0"/>
          </a:p>
        </p:txBody>
      </p:sp>
      <p:sp>
        <p:nvSpPr>
          <p:cNvPr id="35" name="Shape 32"/>
          <p:cNvSpPr/>
          <p:nvPr/>
        </p:nvSpPr>
        <p:spPr>
          <a:xfrm>
            <a:off x="6583680" y="4123944"/>
            <a:ext cx="4828032" cy="0"/>
          </a:xfrm>
          <a:prstGeom prst="line">
            <a:avLst/>
          </a:prstGeom>
          <a:noFill/>
          <a:ln w="12700">
            <a:solidFill>
              <a:srgbClr val="26314A"/>
            </a:solidFill>
            <a:prstDash val="solid"/>
          </a:ln>
        </p:spPr>
      </p:sp>
      <p:sp>
        <p:nvSpPr>
          <p:cNvPr id="36" name="Text 33"/>
          <p:cNvSpPr/>
          <p:nvPr/>
        </p:nvSpPr>
        <p:spPr>
          <a:xfrm>
            <a:off x="6583680" y="4261104"/>
            <a:ext cx="4828032" cy="365760"/>
          </a:xfrm>
          <a:prstGeom prst="rect">
            <a:avLst/>
          </a:prstGeom>
          <a:noFill/>
          <a:ln/>
        </p:spPr>
        <p:txBody>
          <a:bodyPr wrap="square" lIns="0" tIns="0" rIns="0" bIns="0" rtlCol="0" anchor="ctr"/>
          <a:lstStyle/>
          <a:p>
            <a:pPr indent="0" marL="0">
              <a:buNone/>
            </a:pPr>
            <a:r>
              <a:rPr lang="en-US" sz="1500" b="1" dirty="0">
                <a:solidFill>
                  <a:srgbClr val="F1F5FB"/>
                </a:solidFill>
                <a:latin typeface="Calibri" pitchFamily="34" charset="0"/>
                <a:ea typeface="Calibri" pitchFamily="34" charset="-122"/>
                <a:cs typeface="Calibri" pitchFamily="34" charset="-120"/>
              </a:rPr>
              <a:t>Decision Sensitivity: 38%</a:t>
            </a:r>
            <a:endParaRPr lang="en-US" sz="1500" dirty="0"/>
          </a:p>
        </p:txBody>
      </p:sp>
      <p:sp>
        <p:nvSpPr>
          <p:cNvPr id="37" name="Text 34"/>
          <p:cNvSpPr/>
          <p:nvPr/>
        </p:nvSpPr>
        <p:spPr>
          <a:xfrm>
            <a:off x="6583680" y="4672584"/>
            <a:ext cx="4828032" cy="320040"/>
          </a:xfrm>
          <a:prstGeom prst="rect">
            <a:avLst/>
          </a:prstGeom>
          <a:noFill/>
          <a:ln/>
        </p:spPr>
        <p:txBody>
          <a:bodyPr wrap="square" lIns="0" tIns="0" rIns="0" bIns="0" rtlCol="0" anchor="ctr"/>
          <a:lstStyle/>
          <a:p>
            <a:pPr indent="0" marL="0">
              <a:buNone/>
            </a:pPr>
            <a:r>
              <a:rPr lang="en-US" sz="1100" dirty="0">
                <a:solidFill>
                  <a:srgbClr val="A6B0C3"/>
                </a:solidFill>
                <a:latin typeface="Calibri" pitchFamily="34" charset="0"/>
                <a:ea typeface="Calibri" pitchFamily="34" charset="-122"/>
                <a:cs typeface="Calibri" pitchFamily="34" charset="-120"/>
              </a:rPr>
              <a:t>How stable is the decision when uncertainty changes?</a:t>
            </a:r>
            <a:endParaRPr lang="en-US" sz="1100" dirty="0"/>
          </a:p>
        </p:txBody>
      </p:sp>
      <p:sp>
        <p:nvSpPr>
          <p:cNvPr id="38" name="Shape 35"/>
          <p:cNvSpPr/>
          <p:nvPr/>
        </p:nvSpPr>
        <p:spPr>
          <a:xfrm>
            <a:off x="6583680" y="5084064"/>
            <a:ext cx="4828032" cy="594360"/>
          </a:xfrm>
          <a:prstGeom prst="roundRect">
            <a:avLst>
              <a:gd name="adj" fmla="val 10769"/>
            </a:avLst>
          </a:prstGeom>
          <a:solidFill>
            <a:srgbClr val="2A1414"/>
          </a:solidFill>
          <a:ln w="12700">
            <a:solidFill>
              <a:srgbClr val="EC6459"/>
            </a:solidFill>
            <a:prstDash val="solid"/>
          </a:ln>
        </p:spPr>
      </p:sp>
      <p:sp>
        <p:nvSpPr>
          <p:cNvPr id="39" name="Text 36"/>
          <p:cNvSpPr/>
          <p:nvPr/>
        </p:nvSpPr>
        <p:spPr>
          <a:xfrm>
            <a:off x="6766560" y="5084064"/>
            <a:ext cx="4462272" cy="594360"/>
          </a:xfrm>
          <a:prstGeom prst="rect">
            <a:avLst/>
          </a:prstGeom>
          <a:noFill/>
          <a:ln/>
        </p:spPr>
        <p:txBody>
          <a:bodyPr wrap="square" lIns="0" tIns="0" rIns="0" bIns="0" rtlCol="0" anchor="ctr"/>
          <a:lstStyle/>
          <a:p>
            <a:pPr indent="0" marL="0">
              <a:lnSpc>
                <a:spcPts val="1300"/>
              </a:lnSpc>
              <a:buNone/>
            </a:pPr>
            <a:r>
              <a:rPr lang="en-US" sz="1050" b="1" dirty="0">
                <a:solidFill>
                  <a:srgbClr val="EC6459"/>
                </a:solidFill>
                <a:latin typeface="Calibri" pitchFamily="34" charset="0"/>
                <a:ea typeface="Calibri" pitchFamily="34" charset="-122"/>
                <a:cs typeface="Calibri" pitchFamily="34" charset="-120"/>
              </a:rPr>
              <a:t>Illustrative simulation ensemble — not real spacecraft probabilities.</a:t>
            </a:r>
            <a:endParaRPr lang="en-US" sz="1050" dirty="0"/>
          </a:p>
        </p:txBody>
      </p:sp>
      <p:sp>
        <p:nvSpPr>
          <p:cNvPr id="40" name="Text 37"/>
          <p:cNvSpPr/>
          <p:nvPr/>
        </p:nvSpPr>
        <p:spPr>
          <a:xfrm>
            <a:off x="502920" y="6565392"/>
            <a:ext cx="6400800" cy="228600"/>
          </a:xfrm>
          <a:prstGeom prst="rect">
            <a:avLst/>
          </a:prstGeom>
          <a:noFill/>
          <a:ln/>
        </p:spPr>
        <p:txBody>
          <a:bodyPr wrap="square" lIns="0" tIns="0" rIns="0" bIns="0" rtlCol="0" anchor="ctr"/>
          <a:lstStyle/>
          <a:p>
            <a:pPr indent="0" marL="0">
              <a:buNone/>
            </a:pPr>
            <a:r>
              <a:rPr lang="en-US" sz="850" dirty="0">
                <a:solidFill>
                  <a:srgbClr val="5E6A82"/>
                </a:solidFill>
                <a:latin typeface="Calibri" pitchFamily="34" charset="0"/>
                <a:ea typeface="Calibri" pitchFamily="34" charset="-122"/>
                <a:cs typeface="Calibri" pitchFamily="34" charset="-120"/>
              </a:rPr>
              <a:t>ORBITAL FUTURE DECISION ENGINE  ·  FANTASTIC 4</a:t>
            </a:r>
            <a:endParaRPr lang="en-US" sz="850" dirty="0"/>
          </a:p>
        </p:txBody>
      </p:sp>
      <p:sp>
        <p:nvSpPr>
          <p:cNvPr id="41" name="Text 38"/>
          <p:cNvSpPr/>
          <p:nvPr/>
        </p:nvSpPr>
        <p:spPr>
          <a:xfrm>
            <a:off x="8686800" y="6565392"/>
            <a:ext cx="3017520" cy="228600"/>
          </a:xfrm>
          <a:prstGeom prst="rect">
            <a:avLst/>
          </a:prstGeom>
          <a:noFill/>
          <a:ln/>
        </p:spPr>
        <p:txBody>
          <a:bodyPr wrap="square" lIns="0" tIns="0" rIns="0" bIns="0" rtlCol="0" anchor="ctr"/>
          <a:lstStyle/>
          <a:p>
            <a:pPr algn="r" indent="0" marL="0">
              <a:buNone/>
            </a:pPr>
            <a:r>
              <a:rPr lang="en-US" sz="850" spc="100" kern="0" dirty="0">
                <a:solidFill>
                  <a:srgbClr val="185C68"/>
                </a:solidFill>
                <a:latin typeface="Calibri" pitchFamily="34" charset="0"/>
                <a:ea typeface="Calibri" pitchFamily="34" charset="-122"/>
                <a:cs typeface="Calibri" pitchFamily="34" charset="-120"/>
              </a:rPr>
              <a:t>MISSION: OFDE-01</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60911"/>
        </a:solidFill>
      </p:bgPr>
    </p:bg>
    <p:spTree>
      <p:nvGrpSpPr>
        <p:cNvPr id="1" name=""/>
        <p:cNvGrpSpPr/>
        <p:nvPr/>
      </p:nvGrpSpPr>
      <p:grpSpPr>
        <a:xfrm>
          <a:off x="0" y="0"/>
          <a:ext cx="0" cy="0"/>
          <a:chOff x="0" y="0"/>
          <a:chExt cx="0" cy="0"/>
        </a:xfrm>
      </p:grpSpPr>
      <p:pic>
        <p:nvPicPr>
          <p:cNvPr id="2" name="Image 0" descr="/home/claude/assets/erospace_rgba.png">    </p:cNvPr>
          <p:cNvPicPr>
            <a:picLocks noChangeAspect="1"/>
          </p:cNvPicPr>
          <p:nvPr/>
        </p:nvPicPr>
        <p:blipFill>
          <a:blip r:embed="rId1">
            <a:alphaModFix amt="75000"/>
          </a:blip>
          <a:stretch>
            <a:fillRect/>
          </a:stretch>
        </p:blipFill>
        <p:spPr>
          <a:xfrm>
            <a:off x="10561320" y="292608"/>
            <a:ext cx="1325880" cy="459943"/>
          </a:xfrm>
          <a:prstGeom prst="rect">
            <a:avLst/>
          </a:prstGeom>
        </p:spPr>
      </p:pic>
      <p:sp>
        <p:nvSpPr>
          <p:cNvPr id="3" name="Text 0"/>
          <p:cNvSpPr/>
          <p:nvPr/>
        </p:nvSpPr>
        <p:spPr>
          <a:xfrm>
            <a:off x="502920" y="365760"/>
            <a:ext cx="8229600" cy="292608"/>
          </a:xfrm>
          <a:prstGeom prst="rect">
            <a:avLst/>
          </a:prstGeom>
          <a:noFill/>
          <a:ln/>
        </p:spPr>
        <p:txBody>
          <a:bodyPr wrap="square" lIns="0" tIns="0" rIns="0" bIns="0" rtlCol="0" anchor="ctr"/>
          <a:lstStyle/>
          <a:p>
            <a:pPr indent="0" marL="0">
              <a:buNone/>
            </a:pPr>
            <a:r>
              <a:rPr lang="en-US" sz="1300" b="1" spc="200" kern="0" dirty="0">
                <a:solidFill>
                  <a:srgbClr val="4DD9EC"/>
                </a:solidFill>
                <a:latin typeface="Calibri" pitchFamily="34" charset="0"/>
                <a:ea typeface="Calibri" pitchFamily="34" charset="-122"/>
                <a:cs typeface="Calibri" pitchFamily="34" charset="-120"/>
              </a:rPr>
              <a:t>ENGINEERING HONESTY</a:t>
            </a:r>
            <a:endParaRPr lang="en-US" sz="1300" dirty="0"/>
          </a:p>
        </p:txBody>
      </p:sp>
      <p:sp>
        <p:nvSpPr>
          <p:cNvPr id="4" name="Text 1"/>
          <p:cNvSpPr/>
          <p:nvPr/>
        </p:nvSpPr>
        <p:spPr>
          <a:xfrm>
            <a:off x="502920" y="658368"/>
            <a:ext cx="10972800" cy="685800"/>
          </a:xfrm>
          <a:prstGeom prst="rect">
            <a:avLst/>
          </a:prstGeom>
          <a:noFill/>
          <a:ln/>
        </p:spPr>
        <p:txBody>
          <a:bodyPr wrap="square" lIns="0" tIns="0" rIns="0" bIns="0" rtlCol="0" anchor="ctr"/>
          <a:lstStyle/>
          <a:p>
            <a:pPr indent="0" marL="0">
              <a:buNone/>
            </a:pPr>
            <a:r>
              <a:rPr lang="en-US" sz="3000" b="1" dirty="0">
                <a:solidFill>
                  <a:srgbClr val="F1F5FB"/>
                </a:solidFill>
                <a:latin typeface="Arial" pitchFamily="34" charset="0"/>
                <a:ea typeface="Arial" pitchFamily="34" charset="-122"/>
                <a:cs typeface="Arial" pitchFamily="34" charset="-120"/>
              </a:rPr>
              <a:t>Limitations &amp; Next Steps</a:t>
            </a:r>
            <a:endParaRPr lang="en-US" sz="3000" dirty="0"/>
          </a:p>
        </p:txBody>
      </p:sp>
      <p:sp>
        <p:nvSpPr>
          <p:cNvPr id="5" name="Shape 2"/>
          <p:cNvSpPr/>
          <p:nvPr/>
        </p:nvSpPr>
        <p:spPr>
          <a:xfrm>
            <a:off x="502920" y="1691640"/>
            <a:ext cx="5454396" cy="1691640"/>
          </a:xfrm>
          <a:prstGeom prst="roundRect">
            <a:avLst>
              <a:gd name="adj" fmla="val 4324"/>
            </a:avLst>
          </a:prstGeom>
          <a:solidFill>
            <a:srgbClr val="111A2E"/>
          </a:solidFill>
          <a:ln w="12700">
            <a:solidFill>
              <a:srgbClr val="26314A"/>
            </a:solidFill>
            <a:prstDash val="solid"/>
          </a:ln>
        </p:spPr>
      </p:sp>
      <p:sp>
        <p:nvSpPr>
          <p:cNvPr id="6" name="Shape 3"/>
          <p:cNvSpPr/>
          <p:nvPr/>
        </p:nvSpPr>
        <p:spPr>
          <a:xfrm>
            <a:off x="777240" y="1984248"/>
            <a:ext cx="164592" cy="164592"/>
          </a:xfrm>
          <a:prstGeom prst="ellipse">
            <a:avLst/>
          </a:prstGeom>
          <a:solidFill>
            <a:srgbClr val="F2AA3E"/>
          </a:solidFill>
          <a:ln/>
        </p:spPr>
      </p:sp>
      <p:sp>
        <p:nvSpPr>
          <p:cNvPr id="7" name="Text 4"/>
          <p:cNvSpPr/>
          <p:nvPr/>
        </p:nvSpPr>
        <p:spPr>
          <a:xfrm>
            <a:off x="1097280" y="1892808"/>
            <a:ext cx="4631436" cy="365760"/>
          </a:xfrm>
          <a:prstGeom prst="rect">
            <a:avLst/>
          </a:prstGeom>
          <a:noFill/>
          <a:ln/>
        </p:spPr>
        <p:txBody>
          <a:bodyPr wrap="square" lIns="0" tIns="0" rIns="0" bIns="0" rtlCol="0" anchor="ctr"/>
          <a:lstStyle/>
          <a:p>
            <a:pPr indent="0" marL="0">
              <a:buNone/>
            </a:pPr>
            <a:r>
              <a:rPr lang="en-US" sz="1700" b="1" spc="50" kern="0" dirty="0">
                <a:solidFill>
                  <a:srgbClr val="F2AA3E"/>
                </a:solidFill>
                <a:latin typeface="Calibri" pitchFamily="34" charset="0"/>
                <a:ea typeface="Calibri" pitchFamily="34" charset="-122"/>
                <a:cs typeface="Calibri" pitchFamily="34" charset="-120"/>
              </a:rPr>
              <a:t>DATA QUALITY</a:t>
            </a:r>
            <a:endParaRPr lang="en-US" sz="1700" dirty="0"/>
          </a:p>
        </p:txBody>
      </p:sp>
      <p:sp>
        <p:nvSpPr>
          <p:cNvPr id="8" name="Text 5"/>
          <p:cNvSpPr/>
          <p:nvPr/>
        </p:nvSpPr>
        <p:spPr>
          <a:xfrm>
            <a:off x="822960" y="2468880"/>
            <a:ext cx="4814316" cy="777240"/>
          </a:xfrm>
          <a:prstGeom prst="rect">
            <a:avLst/>
          </a:prstGeom>
          <a:noFill/>
          <a:ln/>
        </p:spPr>
        <p:txBody>
          <a:bodyPr wrap="square" lIns="0" tIns="0" rIns="0" bIns="0" rtlCol="0" anchor="ctr"/>
          <a:lstStyle/>
          <a:p>
            <a:pPr indent="0" marL="0">
              <a:lnSpc>
                <a:spcPts val="1900"/>
              </a:lnSpc>
              <a:buNone/>
            </a:pPr>
            <a:r>
              <a:rPr lang="en-US" sz="1450" dirty="0">
                <a:solidFill>
                  <a:srgbClr val="F1F5FB"/>
                </a:solidFill>
                <a:latin typeface="Calibri" pitchFamily="34" charset="0"/>
                <a:ea typeface="Calibri" pitchFamily="34" charset="-122"/>
                <a:cs typeface="Calibri" pitchFamily="34" charset="-120"/>
              </a:rPr>
              <a:t>Freshness + uncertainty affect results</a:t>
            </a:r>
            <a:endParaRPr lang="en-US" sz="1450" dirty="0"/>
          </a:p>
        </p:txBody>
      </p:sp>
      <p:sp>
        <p:nvSpPr>
          <p:cNvPr id="9" name="Shape 6"/>
          <p:cNvSpPr/>
          <p:nvPr/>
        </p:nvSpPr>
        <p:spPr>
          <a:xfrm>
            <a:off x="6231636" y="1691640"/>
            <a:ext cx="5454396" cy="1691640"/>
          </a:xfrm>
          <a:prstGeom prst="roundRect">
            <a:avLst>
              <a:gd name="adj" fmla="val 4324"/>
            </a:avLst>
          </a:prstGeom>
          <a:solidFill>
            <a:srgbClr val="111A2E"/>
          </a:solidFill>
          <a:ln w="12700">
            <a:solidFill>
              <a:srgbClr val="26314A"/>
            </a:solidFill>
            <a:prstDash val="solid"/>
          </a:ln>
        </p:spPr>
      </p:sp>
      <p:sp>
        <p:nvSpPr>
          <p:cNvPr id="10" name="Shape 7"/>
          <p:cNvSpPr/>
          <p:nvPr/>
        </p:nvSpPr>
        <p:spPr>
          <a:xfrm>
            <a:off x="6505956" y="1984248"/>
            <a:ext cx="164592" cy="164592"/>
          </a:xfrm>
          <a:prstGeom prst="ellipse">
            <a:avLst/>
          </a:prstGeom>
          <a:solidFill>
            <a:srgbClr val="F2AA3E"/>
          </a:solidFill>
          <a:ln/>
        </p:spPr>
      </p:sp>
      <p:sp>
        <p:nvSpPr>
          <p:cNvPr id="11" name="Text 8"/>
          <p:cNvSpPr/>
          <p:nvPr/>
        </p:nvSpPr>
        <p:spPr>
          <a:xfrm>
            <a:off x="6825996" y="1892808"/>
            <a:ext cx="4631436" cy="365760"/>
          </a:xfrm>
          <a:prstGeom prst="rect">
            <a:avLst/>
          </a:prstGeom>
          <a:noFill/>
          <a:ln/>
        </p:spPr>
        <p:txBody>
          <a:bodyPr wrap="square" lIns="0" tIns="0" rIns="0" bIns="0" rtlCol="0" anchor="ctr"/>
          <a:lstStyle/>
          <a:p>
            <a:pPr indent="0" marL="0">
              <a:buNone/>
            </a:pPr>
            <a:r>
              <a:rPr lang="en-US" sz="1700" b="1" spc="50" kern="0" dirty="0">
                <a:solidFill>
                  <a:srgbClr val="F2AA3E"/>
                </a:solidFill>
                <a:latin typeface="Calibri" pitchFamily="34" charset="0"/>
                <a:ea typeface="Calibri" pitchFamily="34" charset="-122"/>
                <a:cs typeface="Calibri" pitchFamily="34" charset="-120"/>
              </a:rPr>
              <a:t>MODEL ASSUMPTIONS</a:t>
            </a:r>
            <a:endParaRPr lang="en-US" sz="1700" dirty="0"/>
          </a:p>
        </p:txBody>
      </p:sp>
      <p:sp>
        <p:nvSpPr>
          <p:cNvPr id="12" name="Text 9"/>
          <p:cNvSpPr/>
          <p:nvPr/>
        </p:nvSpPr>
        <p:spPr>
          <a:xfrm>
            <a:off x="6551676" y="2468880"/>
            <a:ext cx="4814316" cy="777240"/>
          </a:xfrm>
          <a:prstGeom prst="rect">
            <a:avLst/>
          </a:prstGeom>
          <a:noFill/>
          <a:ln/>
        </p:spPr>
        <p:txBody>
          <a:bodyPr wrap="square" lIns="0" tIns="0" rIns="0" bIns="0" rtlCol="0" anchor="ctr"/>
          <a:lstStyle/>
          <a:p>
            <a:pPr indent="0" marL="0">
              <a:lnSpc>
                <a:spcPts val="1900"/>
              </a:lnSpc>
              <a:buNone/>
            </a:pPr>
            <a:r>
              <a:rPr lang="en-US" sz="1450" dirty="0">
                <a:solidFill>
                  <a:srgbClr val="F1F5FB"/>
                </a:solidFill>
                <a:latin typeface="Calibri" pitchFamily="34" charset="0"/>
                <a:ea typeface="Calibri" pitchFamily="34" charset="-122"/>
                <a:cs typeface="Calibri" pitchFamily="34" charset="-120"/>
              </a:rPr>
              <a:t>Prototype metrics require validation</a:t>
            </a:r>
            <a:endParaRPr lang="en-US" sz="1450" dirty="0"/>
          </a:p>
        </p:txBody>
      </p:sp>
      <p:sp>
        <p:nvSpPr>
          <p:cNvPr id="13" name="Shape 10"/>
          <p:cNvSpPr/>
          <p:nvPr/>
        </p:nvSpPr>
        <p:spPr>
          <a:xfrm>
            <a:off x="502920" y="3657600"/>
            <a:ext cx="5454396" cy="1691640"/>
          </a:xfrm>
          <a:prstGeom prst="roundRect">
            <a:avLst>
              <a:gd name="adj" fmla="val 4324"/>
            </a:avLst>
          </a:prstGeom>
          <a:solidFill>
            <a:srgbClr val="111A2E"/>
          </a:solidFill>
          <a:ln w="12700">
            <a:solidFill>
              <a:srgbClr val="26314A"/>
            </a:solidFill>
            <a:prstDash val="solid"/>
          </a:ln>
        </p:spPr>
      </p:sp>
      <p:sp>
        <p:nvSpPr>
          <p:cNvPr id="14" name="Shape 11"/>
          <p:cNvSpPr/>
          <p:nvPr/>
        </p:nvSpPr>
        <p:spPr>
          <a:xfrm>
            <a:off x="777240" y="3950208"/>
            <a:ext cx="164592" cy="164592"/>
          </a:xfrm>
          <a:prstGeom prst="ellipse">
            <a:avLst/>
          </a:prstGeom>
          <a:solidFill>
            <a:srgbClr val="F2AA3E"/>
          </a:solidFill>
          <a:ln/>
        </p:spPr>
      </p:sp>
      <p:sp>
        <p:nvSpPr>
          <p:cNvPr id="15" name="Text 12"/>
          <p:cNvSpPr/>
          <p:nvPr/>
        </p:nvSpPr>
        <p:spPr>
          <a:xfrm>
            <a:off x="1097280" y="3858768"/>
            <a:ext cx="4631436" cy="365760"/>
          </a:xfrm>
          <a:prstGeom prst="rect">
            <a:avLst/>
          </a:prstGeom>
          <a:noFill/>
          <a:ln/>
        </p:spPr>
        <p:txBody>
          <a:bodyPr wrap="square" lIns="0" tIns="0" rIns="0" bIns="0" rtlCol="0" anchor="ctr"/>
          <a:lstStyle/>
          <a:p>
            <a:pPr indent="0" marL="0">
              <a:buNone/>
            </a:pPr>
            <a:r>
              <a:rPr lang="en-US" sz="1700" b="1" spc="50" kern="0" dirty="0">
                <a:solidFill>
                  <a:srgbClr val="F2AA3E"/>
                </a:solidFill>
                <a:latin typeface="Calibri" pitchFamily="34" charset="0"/>
                <a:ea typeface="Calibri" pitchFamily="34" charset="-122"/>
                <a:cs typeface="Calibri" pitchFamily="34" charset="-120"/>
              </a:rPr>
              <a:t>SIMPLIFIED MANEUVERS</a:t>
            </a:r>
            <a:endParaRPr lang="en-US" sz="1700" dirty="0"/>
          </a:p>
        </p:txBody>
      </p:sp>
      <p:sp>
        <p:nvSpPr>
          <p:cNvPr id="16" name="Text 13"/>
          <p:cNvSpPr/>
          <p:nvPr/>
        </p:nvSpPr>
        <p:spPr>
          <a:xfrm>
            <a:off x="822960" y="4434840"/>
            <a:ext cx="4814316" cy="777240"/>
          </a:xfrm>
          <a:prstGeom prst="rect">
            <a:avLst/>
          </a:prstGeom>
          <a:noFill/>
          <a:ln/>
        </p:spPr>
        <p:txBody>
          <a:bodyPr wrap="square" lIns="0" tIns="0" rIns="0" bIns="0" rtlCol="0" anchor="ctr"/>
          <a:lstStyle/>
          <a:p>
            <a:pPr indent="0" marL="0">
              <a:lnSpc>
                <a:spcPts val="1900"/>
              </a:lnSpc>
              <a:buNone/>
            </a:pPr>
            <a:r>
              <a:rPr lang="en-US" sz="1450" dirty="0">
                <a:solidFill>
                  <a:srgbClr val="F1F5FB"/>
                </a:solidFill>
                <a:latin typeface="Calibri" pitchFamily="34" charset="0"/>
                <a:ea typeface="Calibri" pitchFamily="34" charset="-122"/>
                <a:cs typeface="Calibri" pitchFamily="34" charset="-120"/>
              </a:rPr>
              <a:t>Conceptual Δv — not flight-qualified</a:t>
            </a:r>
            <a:endParaRPr lang="en-US" sz="1450" dirty="0"/>
          </a:p>
        </p:txBody>
      </p:sp>
      <p:sp>
        <p:nvSpPr>
          <p:cNvPr id="17" name="Shape 14"/>
          <p:cNvSpPr/>
          <p:nvPr/>
        </p:nvSpPr>
        <p:spPr>
          <a:xfrm>
            <a:off x="6231636" y="3657600"/>
            <a:ext cx="5454396" cy="1691640"/>
          </a:xfrm>
          <a:prstGeom prst="roundRect">
            <a:avLst>
              <a:gd name="adj" fmla="val 4324"/>
            </a:avLst>
          </a:prstGeom>
          <a:solidFill>
            <a:srgbClr val="111A2E"/>
          </a:solidFill>
          <a:ln w="12700">
            <a:solidFill>
              <a:srgbClr val="26314A"/>
            </a:solidFill>
            <a:prstDash val="solid"/>
          </a:ln>
        </p:spPr>
      </p:sp>
      <p:sp>
        <p:nvSpPr>
          <p:cNvPr id="18" name="Shape 15"/>
          <p:cNvSpPr/>
          <p:nvPr/>
        </p:nvSpPr>
        <p:spPr>
          <a:xfrm>
            <a:off x="6505956" y="3950208"/>
            <a:ext cx="164592" cy="164592"/>
          </a:xfrm>
          <a:prstGeom prst="ellipse">
            <a:avLst/>
          </a:prstGeom>
          <a:solidFill>
            <a:srgbClr val="F2AA3E"/>
          </a:solidFill>
          <a:ln/>
        </p:spPr>
      </p:sp>
      <p:sp>
        <p:nvSpPr>
          <p:cNvPr id="19" name="Text 16"/>
          <p:cNvSpPr/>
          <p:nvPr/>
        </p:nvSpPr>
        <p:spPr>
          <a:xfrm>
            <a:off x="6825996" y="3858768"/>
            <a:ext cx="4631436" cy="365760"/>
          </a:xfrm>
          <a:prstGeom prst="rect">
            <a:avLst/>
          </a:prstGeom>
          <a:noFill/>
          <a:ln/>
        </p:spPr>
        <p:txBody>
          <a:bodyPr wrap="square" lIns="0" tIns="0" rIns="0" bIns="0" rtlCol="0" anchor="ctr"/>
          <a:lstStyle/>
          <a:p>
            <a:pPr indent="0" marL="0">
              <a:buNone/>
            </a:pPr>
            <a:r>
              <a:rPr lang="en-US" sz="1700" b="1" spc="50" kern="0" dirty="0">
                <a:solidFill>
                  <a:srgbClr val="F2AA3E"/>
                </a:solidFill>
                <a:latin typeface="Calibri" pitchFamily="34" charset="0"/>
                <a:ea typeface="Calibri" pitchFamily="34" charset="-122"/>
                <a:cs typeface="Calibri" pitchFamily="34" charset="-120"/>
              </a:rPr>
              <a:t>COMPUTATIONAL SCALE</a:t>
            </a:r>
            <a:endParaRPr lang="en-US" sz="1700" dirty="0"/>
          </a:p>
        </p:txBody>
      </p:sp>
      <p:sp>
        <p:nvSpPr>
          <p:cNvPr id="20" name="Text 17"/>
          <p:cNvSpPr/>
          <p:nvPr/>
        </p:nvSpPr>
        <p:spPr>
          <a:xfrm>
            <a:off x="6551676" y="4434840"/>
            <a:ext cx="4814316" cy="777240"/>
          </a:xfrm>
          <a:prstGeom prst="rect">
            <a:avLst/>
          </a:prstGeom>
          <a:noFill/>
          <a:ln/>
        </p:spPr>
        <p:txBody>
          <a:bodyPr wrap="square" lIns="0" tIns="0" rIns="0" bIns="0" rtlCol="0" anchor="ctr"/>
          <a:lstStyle/>
          <a:p>
            <a:pPr indent="0" marL="0">
              <a:lnSpc>
                <a:spcPts val="1900"/>
              </a:lnSpc>
              <a:buNone/>
            </a:pPr>
            <a:r>
              <a:rPr lang="en-US" sz="1450" dirty="0">
                <a:solidFill>
                  <a:srgbClr val="F1F5FB"/>
                </a:solidFill>
                <a:latin typeface="Calibri" pitchFamily="34" charset="0"/>
                <a:ea typeface="Calibri" pitchFamily="34" charset="-122"/>
                <a:cs typeface="Calibri" pitchFamily="34" charset="-120"/>
              </a:rPr>
              <a:t>Needs optimization at catalog scale</a:t>
            </a:r>
            <a:endParaRPr lang="en-US" sz="1450" dirty="0"/>
          </a:p>
        </p:txBody>
      </p:sp>
      <p:sp>
        <p:nvSpPr>
          <p:cNvPr id="21" name="Shape 18"/>
          <p:cNvSpPr/>
          <p:nvPr/>
        </p:nvSpPr>
        <p:spPr>
          <a:xfrm>
            <a:off x="502920" y="5641848"/>
            <a:ext cx="11183112" cy="594360"/>
          </a:xfrm>
          <a:prstGeom prst="roundRect">
            <a:avLst>
              <a:gd name="adj" fmla="val 12308"/>
            </a:avLst>
          </a:prstGeom>
          <a:solidFill>
            <a:srgbClr val="0F2733"/>
          </a:solidFill>
          <a:ln w="12700">
            <a:solidFill>
              <a:srgbClr val="4DD9EC"/>
            </a:solidFill>
            <a:prstDash val="solid"/>
          </a:ln>
        </p:spPr>
      </p:sp>
      <p:sp>
        <p:nvSpPr>
          <p:cNvPr id="22" name="Text 19"/>
          <p:cNvSpPr/>
          <p:nvPr/>
        </p:nvSpPr>
        <p:spPr>
          <a:xfrm>
            <a:off x="502920" y="5641848"/>
            <a:ext cx="11183112" cy="594360"/>
          </a:xfrm>
          <a:prstGeom prst="rect">
            <a:avLst/>
          </a:prstGeom>
          <a:noFill/>
          <a:ln/>
        </p:spPr>
        <p:txBody>
          <a:bodyPr wrap="square" lIns="0" tIns="0" rIns="0" bIns="0" rtlCol="0" anchor="ctr"/>
          <a:lstStyle/>
          <a:p>
            <a:pPr algn="ctr" indent="0" marL="0">
              <a:buNone/>
            </a:pPr>
            <a:r>
              <a:rPr lang="en-US" sz="1600" b="1" i="1" dirty="0">
                <a:solidFill>
                  <a:srgbClr val="4DD9EC"/>
                </a:solidFill>
                <a:latin typeface="Calibri" pitchFamily="34" charset="0"/>
                <a:ea typeface="Calibri" pitchFamily="34" charset="-122"/>
                <a:cs typeface="Calibri" pitchFamily="34" charset="-120"/>
              </a:rPr>
              <a:t>Decision support — not autonomous spacecraft control.</a:t>
            </a:r>
            <a:endParaRPr lang="en-US" sz="1600" dirty="0"/>
          </a:p>
        </p:txBody>
      </p:sp>
      <p:sp>
        <p:nvSpPr>
          <p:cNvPr id="23" name="Text 20"/>
          <p:cNvSpPr/>
          <p:nvPr/>
        </p:nvSpPr>
        <p:spPr>
          <a:xfrm>
            <a:off x="502920" y="6565392"/>
            <a:ext cx="6400800" cy="228600"/>
          </a:xfrm>
          <a:prstGeom prst="rect">
            <a:avLst/>
          </a:prstGeom>
          <a:noFill/>
          <a:ln/>
        </p:spPr>
        <p:txBody>
          <a:bodyPr wrap="square" lIns="0" tIns="0" rIns="0" bIns="0" rtlCol="0" anchor="ctr"/>
          <a:lstStyle/>
          <a:p>
            <a:pPr indent="0" marL="0">
              <a:buNone/>
            </a:pPr>
            <a:r>
              <a:rPr lang="en-US" sz="850" dirty="0">
                <a:solidFill>
                  <a:srgbClr val="5E6A82"/>
                </a:solidFill>
                <a:latin typeface="Calibri" pitchFamily="34" charset="0"/>
                <a:ea typeface="Calibri" pitchFamily="34" charset="-122"/>
                <a:cs typeface="Calibri" pitchFamily="34" charset="-120"/>
              </a:rPr>
              <a:t>ORBITAL FUTURE DECISION ENGINE  ·  FANTASTIC 4</a:t>
            </a:r>
            <a:endParaRPr lang="en-US" sz="850" dirty="0"/>
          </a:p>
        </p:txBody>
      </p:sp>
      <p:sp>
        <p:nvSpPr>
          <p:cNvPr id="24" name="Text 21"/>
          <p:cNvSpPr/>
          <p:nvPr/>
        </p:nvSpPr>
        <p:spPr>
          <a:xfrm>
            <a:off x="8686800" y="6565392"/>
            <a:ext cx="3017520" cy="228600"/>
          </a:xfrm>
          <a:prstGeom prst="rect">
            <a:avLst/>
          </a:prstGeom>
          <a:noFill/>
          <a:ln/>
        </p:spPr>
        <p:txBody>
          <a:bodyPr wrap="square" lIns="0" tIns="0" rIns="0" bIns="0" rtlCol="0" anchor="ctr"/>
          <a:lstStyle/>
          <a:p>
            <a:pPr algn="r" indent="0" marL="0">
              <a:buNone/>
            </a:pPr>
            <a:r>
              <a:rPr lang="en-US" sz="850" spc="100" kern="0" dirty="0">
                <a:solidFill>
                  <a:srgbClr val="185C68"/>
                </a:solidFill>
                <a:latin typeface="Calibri" pitchFamily="34" charset="0"/>
                <a:ea typeface="Calibri" pitchFamily="34" charset="-122"/>
                <a:cs typeface="Calibri" pitchFamily="34" charset="-120"/>
              </a:rPr>
              <a:t>MISSION: OFDE-01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60911"/>
        </a:solidFill>
      </p:bgPr>
    </p:bg>
    <p:spTree>
      <p:nvGrpSpPr>
        <p:cNvPr id="1" name=""/>
        <p:cNvGrpSpPr/>
        <p:nvPr/>
      </p:nvGrpSpPr>
      <p:grpSpPr>
        <a:xfrm>
          <a:off x="0" y="0"/>
          <a:ext cx="0" cy="0"/>
          <a:chOff x="0" y="0"/>
          <a:chExt cx="0" cy="0"/>
        </a:xfrm>
      </p:grpSpPr>
      <p:pic>
        <p:nvPicPr>
          <p:cNvPr id="2" name="Image 0" descr="/home/claude/assets/erospace_rgba.png">    </p:cNvPr>
          <p:cNvPicPr>
            <a:picLocks noChangeAspect="1"/>
          </p:cNvPicPr>
          <p:nvPr/>
        </p:nvPicPr>
        <p:blipFill>
          <a:blip r:embed="rId1">
            <a:alphaModFix amt="75000"/>
          </a:blip>
          <a:stretch>
            <a:fillRect/>
          </a:stretch>
        </p:blipFill>
        <p:spPr>
          <a:xfrm>
            <a:off x="10561320" y="292608"/>
            <a:ext cx="1325880" cy="459943"/>
          </a:xfrm>
          <a:prstGeom prst="rect">
            <a:avLst/>
          </a:prstGeom>
        </p:spPr>
      </p:pic>
      <p:sp>
        <p:nvSpPr>
          <p:cNvPr id="3" name="Text 0"/>
          <p:cNvSpPr/>
          <p:nvPr/>
        </p:nvSpPr>
        <p:spPr>
          <a:xfrm>
            <a:off x="502920" y="365760"/>
            <a:ext cx="8229600" cy="292608"/>
          </a:xfrm>
          <a:prstGeom prst="rect">
            <a:avLst/>
          </a:prstGeom>
          <a:noFill/>
          <a:ln/>
        </p:spPr>
        <p:txBody>
          <a:bodyPr wrap="square" lIns="0" tIns="0" rIns="0" bIns="0" rtlCol="0" anchor="ctr"/>
          <a:lstStyle/>
          <a:p>
            <a:pPr indent="0" marL="0">
              <a:buNone/>
            </a:pPr>
            <a:r>
              <a:rPr lang="en-US" sz="1300" b="1" spc="200" kern="0" dirty="0">
                <a:solidFill>
                  <a:srgbClr val="4DD9EC"/>
                </a:solidFill>
                <a:latin typeface="Calibri" pitchFamily="34" charset="0"/>
                <a:ea typeface="Calibri" pitchFamily="34" charset="-122"/>
                <a:cs typeface="Calibri" pitchFamily="34" charset="-120"/>
              </a:rPr>
              <a:t>THE TEAM</a:t>
            </a:r>
            <a:endParaRPr lang="en-US" sz="1300" dirty="0"/>
          </a:p>
        </p:txBody>
      </p:sp>
      <p:sp>
        <p:nvSpPr>
          <p:cNvPr id="4" name="Text 1"/>
          <p:cNvSpPr/>
          <p:nvPr/>
        </p:nvSpPr>
        <p:spPr>
          <a:xfrm>
            <a:off x="502920" y="658368"/>
            <a:ext cx="10972800" cy="685800"/>
          </a:xfrm>
          <a:prstGeom prst="rect">
            <a:avLst/>
          </a:prstGeom>
          <a:noFill/>
          <a:ln/>
        </p:spPr>
        <p:txBody>
          <a:bodyPr wrap="square" lIns="0" tIns="0" rIns="0" bIns="0" rtlCol="0" anchor="ctr"/>
          <a:lstStyle/>
          <a:p>
            <a:pPr indent="0" marL="0">
              <a:buNone/>
            </a:pPr>
            <a:r>
              <a:rPr lang="en-US" sz="3200" b="1" dirty="0">
                <a:solidFill>
                  <a:srgbClr val="F1F5FB"/>
                </a:solidFill>
                <a:latin typeface="Arial" pitchFamily="34" charset="0"/>
                <a:ea typeface="Arial" pitchFamily="34" charset="-122"/>
                <a:cs typeface="Arial" pitchFamily="34" charset="-120"/>
              </a:rPr>
              <a:t>Fantastic 4</a:t>
            </a:r>
            <a:endParaRPr lang="en-US" sz="3200" dirty="0"/>
          </a:p>
        </p:txBody>
      </p:sp>
      <p:sp>
        <p:nvSpPr>
          <p:cNvPr id="5" name="Shape 2"/>
          <p:cNvSpPr/>
          <p:nvPr/>
        </p:nvSpPr>
        <p:spPr>
          <a:xfrm>
            <a:off x="502920" y="1645920"/>
            <a:ext cx="2590038" cy="3931920"/>
          </a:xfrm>
          <a:prstGeom prst="roundRect">
            <a:avLst>
              <a:gd name="adj" fmla="val 2824"/>
            </a:avLst>
          </a:prstGeom>
          <a:solidFill>
            <a:srgbClr val="0F2733"/>
          </a:solidFill>
          <a:ln w="22225">
            <a:solidFill>
              <a:srgbClr val="4DD9EC"/>
            </a:solidFill>
            <a:prstDash val="solid"/>
          </a:ln>
        </p:spPr>
      </p:sp>
      <p:sp>
        <p:nvSpPr>
          <p:cNvPr id="6" name="Shape 3"/>
          <p:cNvSpPr/>
          <p:nvPr/>
        </p:nvSpPr>
        <p:spPr>
          <a:xfrm>
            <a:off x="1112139" y="2240280"/>
            <a:ext cx="1371600" cy="822960"/>
          </a:xfrm>
          <a:prstGeom prst="ellipse">
            <a:avLst/>
          </a:prstGeom>
          <a:ln w="12700">
            <a:solidFill>
              <a:srgbClr val="4DD9EC"/>
            </a:solidFill>
            <a:prstDash val="sysDot"/>
          </a:ln>
        </p:spPr>
      </p:sp>
      <p:sp>
        <p:nvSpPr>
          <p:cNvPr id="7" name="Shape 4"/>
          <p:cNvSpPr/>
          <p:nvPr/>
        </p:nvSpPr>
        <p:spPr>
          <a:xfrm>
            <a:off x="1295019" y="2148840"/>
            <a:ext cx="1005840" cy="1005840"/>
          </a:xfrm>
          <a:prstGeom prst="ellipse">
            <a:avLst/>
          </a:prstGeom>
          <a:solidFill>
            <a:srgbClr val="4DD9EC"/>
          </a:solidFill>
          <a:ln/>
        </p:spPr>
      </p:sp>
      <p:sp>
        <p:nvSpPr>
          <p:cNvPr id="8" name="Text 5"/>
          <p:cNvSpPr/>
          <p:nvPr/>
        </p:nvSpPr>
        <p:spPr>
          <a:xfrm>
            <a:off x="1295019" y="2148840"/>
            <a:ext cx="1005840" cy="1005840"/>
          </a:xfrm>
          <a:prstGeom prst="rect">
            <a:avLst/>
          </a:prstGeom>
          <a:noFill/>
          <a:ln/>
        </p:spPr>
        <p:txBody>
          <a:bodyPr wrap="square" lIns="0" tIns="0" rIns="0" bIns="0" rtlCol="0" anchor="ctr"/>
          <a:lstStyle/>
          <a:p>
            <a:pPr algn="ctr" indent="0" marL="0">
              <a:buNone/>
            </a:pPr>
            <a:r>
              <a:rPr lang="en-US" sz="3000" b="1" dirty="0">
                <a:solidFill>
                  <a:srgbClr val="060911"/>
                </a:solidFill>
                <a:latin typeface="Arial" pitchFamily="34" charset="0"/>
                <a:ea typeface="Arial" pitchFamily="34" charset="-122"/>
                <a:cs typeface="Arial" pitchFamily="34" charset="-120"/>
              </a:rPr>
              <a:t>AS</a:t>
            </a:r>
            <a:endParaRPr lang="en-US" sz="3000" dirty="0"/>
          </a:p>
        </p:txBody>
      </p:sp>
      <p:sp>
        <p:nvSpPr>
          <p:cNvPr id="9" name="Text 6"/>
          <p:cNvSpPr/>
          <p:nvPr/>
        </p:nvSpPr>
        <p:spPr>
          <a:xfrm>
            <a:off x="640080" y="3520440"/>
            <a:ext cx="2315718" cy="594360"/>
          </a:xfrm>
          <a:prstGeom prst="rect">
            <a:avLst/>
          </a:prstGeom>
          <a:noFill/>
          <a:ln/>
        </p:spPr>
        <p:txBody>
          <a:bodyPr wrap="square" lIns="0" tIns="0" rIns="0" bIns="0" rtlCol="0" anchor="ctr"/>
          <a:lstStyle/>
          <a:p>
            <a:pPr algn="ctr" indent="0" marL="0">
              <a:lnSpc>
                <a:spcPts val="1900"/>
              </a:lnSpc>
              <a:buNone/>
            </a:pPr>
            <a:r>
              <a:rPr lang="en-US" sz="1700" b="1" dirty="0">
                <a:solidFill>
                  <a:srgbClr val="F1F5FB"/>
                </a:solidFill>
                <a:latin typeface="Calibri" pitchFamily="34" charset="0"/>
                <a:ea typeface="Calibri" pitchFamily="34" charset="-122"/>
                <a:cs typeface="Calibri" pitchFamily="34" charset="-120"/>
              </a:rPr>
              <a:t>Anuj Singh</a:t>
            </a:r>
            <a:endParaRPr lang="en-US" sz="1700" dirty="0"/>
          </a:p>
        </p:txBody>
      </p:sp>
      <p:sp>
        <p:nvSpPr>
          <p:cNvPr id="10" name="Text 7"/>
          <p:cNvSpPr/>
          <p:nvPr/>
        </p:nvSpPr>
        <p:spPr>
          <a:xfrm>
            <a:off x="640080" y="4096512"/>
            <a:ext cx="2315718" cy="365760"/>
          </a:xfrm>
          <a:prstGeom prst="rect">
            <a:avLst/>
          </a:prstGeom>
          <a:noFill/>
          <a:ln/>
        </p:spPr>
        <p:txBody>
          <a:bodyPr wrap="square" lIns="0" tIns="0" rIns="0" bIns="0" rtlCol="0" anchor="ctr"/>
          <a:lstStyle/>
          <a:p>
            <a:pPr algn="ctr" indent="0" marL="0">
              <a:buNone/>
            </a:pPr>
            <a:r>
              <a:rPr lang="en-US" sz="1250" dirty="0">
                <a:solidFill>
                  <a:srgbClr val="4DD9EC"/>
                </a:solidFill>
                <a:latin typeface="Calibri" pitchFamily="34" charset="0"/>
                <a:ea typeface="Calibri" pitchFamily="34" charset="-122"/>
                <a:cs typeface="Calibri" pitchFamily="34" charset="-120"/>
              </a:rPr>
              <a:t>Team Leader</a:t>
            </a:r>
            <a:endParaRPr lang="en-US" sz="1250" dirty="0"/>
          </a:p>
        </p:txBody>
      </p:sp>
      <p:sp>
        <p:nvSpPr>
          <p:cNvPr id="11" name="Shape 8"/>
          <p:cNvSpPr/>
          <p:nvPr/>
        </p:nvSpPr>
        <p:spPr>
          <a:xfrm>
            <a:off x="868680" y="4754880"/>
            <a:ext cx="1858518" cy="0"/>
          </a:xfrm>
          <a:prstGeom prst="line">
            <a:avLst/>
          </a:prstGeom>
          <a:noFill/>
          <a:ln w="12700">
            <a:solidFill>
              <a:srgbClr val="26314A"/>
            </a:solidFill>
            <a:prstDash val="solid"/>
          </a:ln>
        </p:spPr>
      </p:sp>
      <p:sp>
        <p:nvSpPr>
          <p:cNvPr id="12" name="Text 9"/>
          <p:cNvSpPr/>
          <p:nvPr/>
        </p:nvSpPr>
        <p:spPr>
          <a:xfrm>
            <a:off x="640080" y="4892040"/>
            <a:ext cx="2315718" cy="365760"/>
          </a:xfrm>
          <a:prstGeom prst="rect">
            <a:avLst/>
          </a:prstGeom>
          <a:noFill/>
          <a:ln/>
        </p:spPr>
        <p:txBody>
          <a:bodyPr wrap="square" lIns="0" tIns="0" rIns="0" bIns="0" rtlCol="0" anchor="ctr"/>
          <a:lstStyle/>
          <a:p>
            <a:pPr algn="ctr" indent="0" marL="0">
              <a:buNone/>
            </a:pPr>
            <a:r>
              <a:rPr lang="en-US" sz="1050" dirty="0">
                <a:solidFill>
                  <a:srgbClr val="5E6A82"/>
                </a:solidFill>
                <a:latin typeface="Calibri" pitchFamily="34" charset="0"/>
                <a:ea typeface="Calibri" pitchFamily="34" charset="-122"/>
                <a:cs typeface="Calibri" pitchFamily="34" charset="-120"/>
              </a:rPr>
              <a:t>Contact: ______</a:t>
            </a:r>
            <a:endParaRPr lang="en-US" sz="1050" dirty="0"/>
          </a:p>
        </p:txBody>
      </p:sp>
      <p:sp>
        <p:nvSpPr>
          <p:cNvPr id="13" name="Shape 10"/>
          <p:cNvSpPr/>
          <p:nvPr/>
        </p:nvSpPr>
        <p:spPr>
          <a:xfrm>
            <a:off x="3367278" y="1645920"/>
            <a:ext cx="2590038" cy="3931920"/>
          </a:xfrm>
          <a:prstGeom prst="roundRect">
            <a:avLst>
              <a:gd name="adj" fmla="val 2824"/>
            </a:avLst>
          </a:prstGeom>
          <a:solidFill>
            <a:srgbClr val="111A2E"/>
          </a:solidFill>
          <a:ln w="12700">
            <a:solidFill>
              <a:srgbClr val="26314A"/>
            </a:solidFill>
            <a:prstDash val="solid"/>
          </a:ln>
        </p:spPr>
      </p:sp>
      <p:sp>
        <p:nvSpPr>
          <p:cNvPr id="14" name="Shape 11"/>
          <p:cNvSpPr/>
          <p:nvPr/>
        </p:nvSpPr>
        <p:spPr>
          <a:xfrm>
            <a:off x="3976497" y="2240280"/>
            <a:ext cx="1371600" cy="822960"/>
          </a:xfrm>
          <a:prstGeom prst="ellipse">
            <a:avLst/>
          </a:prstGeom>
          <a:ln w="12700">
            <a:solidFill>
              <a:srgbClr val="26314A"/>
            </a:solidFill>
            <a:prstDash val="sysDot"/>
          </a:ln>
        </p:spPr>
      </p:sp>
      <p:sp>
        <p:nvSpPr>
          <p:cNvPr id="15" name="Shape 12"/>
          <p:cNvSpPr/>
          <p:nvPr/>
        </p:nvSpPr>
        <p:spPr>
          <a:xfrm>
            <a:off x="4159377" y="2148840"/>
            <a:ext cx="1005840" cy="1005840"/>
          </a:xfrm>
          <a:prstGeom prst="ellipse">
            <a:avLst/>
          </a:prstGeom>
          <a:solidFill>
            <a:srgbClr val="24304A"/>
          </a:solidFill>
          <a:ln/>
        </p:spPr>
      </p:sp>
      <p:sp>
        <p:nvSpPr>
          <p:cNvPr id="16" name="Text 13"/>
          <p:cNvSpPr/>
          <p:nvPr/>
        </p:nvSpPr>
        <p:spPr>
          <a:xfrm>
            <a:off x="4159377" y="2148840"/>
            <a:ext cx="1005840" cy="1005840"/>
          </a:xfrm>
          <a:prstGeom prst="rect">
            <a:avLst/>
          </a:prstGeom>
          <a:noFill/>
          <a:ln/>
        </p:spPr>
        <p:txBody>
          <a:bodyPr wrap="square" lIns="0" tIns="0" rIns="0" bIns="0" rtlCol="0" anchor="ctr"/>
          <a:lstStyle/>
          <a:p>
            <a:pPr algn="ctr" indent="0" marL="0">
              <a:buNone/>
            </a:pPr>
            <a:r>
              <a:rPr lang="en-US" sz="3000" b="1" dirty="0">
                <a:solidFill>
                  <a:srgbClr val="F1F5FB"/>
                </a:solidFill>
                <a:latin typeface="Arial" pitchFamily="34" charset="0"/>
                <a:ea typeface="Arial" pitchFamily="34" charset="-122"/>
                <a:cs typeface="Arial" pitchFamily="34" charset="-120"/>
              </a:rPr>
              <a:t>SG</a:t>
            </a:r>
            <a:endParaRPr lang="en-US" sz="3000" dirty="0"/>
          </a:p>
        </p:txBody>
      </p:sp>
      <p:sp>
        <p:nvSpPr>
          <p:cNvPr id="17" name="Text 14"/>
          <p:cNvSpPr/>
          <p:nvPr/>
        </p:nvSpPr>
        <p:spPr>
          <a:xfrm>
            <a:off x="3504438" y="3520440"/>
            <a:ext cx="2315718" cy="594360"/>
          </a:xfrm>
          <a:prstGeom prst="rect">
            <a:avLst/>
          </a:prstGeom>
          <a:noFill/>
          <a:ln/>
        </p:spPr>
        <p:txBody>
          <a:bodyPr wrap="square" lIns="0" tIns="0" rIns="0" bIns="0" rtlCol="0" anchor="ctr"/>
          <a:lstStyle/>
          <a:p>
            <a:pPr algn="ctr" indent="0" marL="0">
              <a:lnSpc>
                <a:spcPts val="1900"/>
              </a:lnSpc>
              <a:buNone/>
            </a:pPr>
            <a:r>
              <a:rPr lang="en-US" sz="1700" b="1" dirty="0">
                <a:solidFill>
                  <a:srgbClr val="F1F5FB"/>
                </a:solidFill>
                <a:latin typeface="Calibri" pitchFamily="34" charset="0"/>
                <a:ea typeface="Calibri" pitchFamily="34" charset="-122"/>
                <a:cs typeface="Calibri" pitchFamily="34" charset="-120"/>
              </a:rPr>
              <a:t>Sarthak Gavnekar</a:t>
            </a:r>
            <a:endParaRPr lang="en-US" sz="1700" dirty="0"/>
          </a:p>
        </p:txBody>
      </p:sp>
      <p:sp>
        <p:nvSpPr>
          <p:cNvPr id="18" name="Text 15"/>
          <p:cNvSpPr/>
          <p:nvPr/>
        </p:nvSpPr>
        <p:spPr>
          <a:xfrm>
            <a:off x="3504438" y="4096512"/>
            <a:ext cx="2315718" cy="365760"/>
          </a:xfrm>
          <a:prstGeom prst="rect">
            <a:avLst/>
          </a:prstGeom>
          <a:noFill/>
          <a:ln/>
        </p:spPr>
        <p:txBody>
          <a:bodyPr wrap="square" lIns="0" tIns="0" rIns="0" bIns="0" rtlCol="0" anchor="ctr"/>
          <a:lstStyle/>
          <a:p>
            <a:pPr algn="ctr" indent="0" marL="0">
              <a:buNone/>
            </a:pPr>
            <a:r>
              <a:rPr lang="en-US" sz="1250" dirty="0">
                <a:solidFill>
                  <a:srgbClr val="A6B0C3"/>
                </a:solidFill>
                <a:latin typeface="Calibri" pitchFamily="34" charset="0"/>
                <a:ea typeface="Calibri" pitchFamily="34" charset="-122"/>
                <a:cs typeface="Calibri" pitchFamily="34" charset="-120"/>
              </a:rPr>
              <a:t>Team Member</a:t>
            </a:r>
            <a:endParaRPr lang="en-US" sz="1250" dirty="0"/>
          </a:p>
        </p:txBody>
      </p:sp>
      <p:sp>
        <p:nvSpPr>
          <p:cNvPr id="19" name="Shape 16"/>
          <p:cNvSpPr/>
          <p:nvPr/>
        </p:nvSpPr>
        <p:spPr>
          <a:xfrm>
            <a:off x="3733038" y="4754880"/>
            <a:ext cx="1858518" cy="0"/>
          </a:xfrm>
          <a:prstGeom prst="line">
            <a:avLst/>
          </a:prstGeom>
          <a:noFill/>
          <a:ln w="12700">
            <a:solidFill>
              <a:srgbClr val="26314A"/>
            </a:solidFill>
            <a:prstDash val="solid"/>
          </a:ln>
        </p:spPr>
      </p:sp>
      <p:sp>
        <p:nvSpPr>
          <p:cNvPr id="20" name="Text 17"/>
          <p:cNvSpPr/>
          <p:nvPr/>
        </p:nvSpPr>
        <p:spPr>
          <a:xfrm>
            <a:off x="3504438" y="4892040"/>
            <a:ext cx="2315718" cy="365760"/>
          </a:xfrm>
          <a:prstGeom prst="rect">
            <a:avLst/>
          </a:prstGeom>
          <a:noFill/>
          <a:ln/>
        </p:spPr>
        <p:txBody>
          <a:bodyPr wrap="square" lIns="0" tIns="0" rIns="0" bIns="0" rtlCol="0" anchor="ctr"/>
          <a:lstStyle/>
          <a:p>
            <a:pPr algn="ctr" indent="0" marL="0">
              <a:buNone/>
            </a:pPr>
            <a:r>
              <a:rPr lang="en-US" sz="1050" dirty="0">
                <a:solidFill>
                  <a:srgbClr val="5E6A82"/>
                </a:solidFill>
                <a:latin typeface="Calibri" pitchFamily="34" charset="0"/>
                <a:ea typeface="Calibri" pitchFamily="34" charset="-122"/>
                <a:cs typeface="Calibri" pitchFamily="34" charset="-120"/>
              </a:rPr>
              <a:t>Contact: ______</a:t>
            </a:r>
            <a:endParaRPr lang="en-US" sz="1050" dirty="0"/>
          </a:p>
        </p:txBody>
      </p:sp>
      <p:sp>
        <p:nvSpPr>
          <p:cNvPr id="21" name="Shape 18"/>
          <p:cNvSpPr/>
          <p:nvPr/>
        </p:nvSpPr>
        <p:spPr>
          <a:xfrm>
            <a:off x="6231636" y="1645920"/>
            <a:ext cx="2590038" cy="3931920"/>
          </a:xfrm>
          <a:prstGeom prst="roundRect">
            <a:avLst>
              <a:gd name="adj" fmla="val 2824"/>
            </a:avLst>
          </a:prstGeom>
          <a:solidFill>
            <a:srgbClr val="111A2E"/>
          </a:solidFill>
          <a:ln w="12700">
            <a:solidFill>
              <a:srgbClr val="26314A"/>
            </a:solidFill>
            <a:prstDash val="solid"/>
          </a:ln>
        </p:spPr>
      </p:sp>
      <p:sp>
        <p:nvSpPr>
          <p:cNvPr id="22" name="Shape 19"/>
          <p:cNvSpPr/>
          <p:nvPr/>
        </p:nvSpPr>
        <p:spPr>
          <a:xfrm>
            <a:off x="6840855" y="2240280"/>
            <a:ext cx="1371600" cy="822960"/>
          </a:xfrm>
          <a:prstGeom prst="ellipse">
            <a:avLst/>
          </a:prstGeom>
          <a:ln w="12700">
            <a:solidFill>
              <a:srgbClr val="26314A"/>
            </a:solidFill>
            <a:prstDash val="sysDot"/>
          </a:ln>
        </p:spPr>
      </p:sp>
      <p:sp>
        <p:nvSpPr>
          <p:cNvPr id="23" name="Shape 20"/>
          <p:cNvSpPr/>
          <p:nvPr/>
        </p:nvSpPr>
        <p:spPr>
          <a:xfrm>
            <a:off x="7023735" y="2148840"/>
            <a:ext cx="1005840" cy="1005840"/>
          </a:xfrm>
          <a:prstGeom prst="ellipse">
            <a:avLst/>
          </a:prstGeom>
          <a:solidFill>
            <a:srgbClr val="24304A"/>
          </a:solidFill>
          <a:ln/>
        </p:spPr>
      </p:sp>
      <p:sp>
        <p:nvSpPr>
          <p:cNvPr id="24" name="Text 21"/>
          <p:cNvSpPr/>
          <p:nvPr/>
        </p:nvSpPr>
        <p:spPr>
          <a:xfrm>
            <a:off x="7023735" y="2148840"/>
            <a:ext cx="1005840" cy="1005840"/>
          </a:xfrm>
          <a:prstGeom prst="rect">
            <a:avLst/>
          </a:prstGeom>
          <a:noFill/>
          <a:ln/>
        </p:spPr>
        <p:txBody>
          <a:bodyPr wrap="square" lIns="0" tIns="0" rIns="0" bIns="0" rtlCol="0" anchor="ctr"/>
          <a:lstStyle/>
          <a:p>
            <a:pPr algn="ctr" indent="0" marL="0">
              <a:buNone/>
            </a:pPr>
            <a:r>
              <a:rPr lang="en-US" sz="3000" b="1" dirty="0">
                <a:solidFill>
                  <a:srgbClr val="F1F5FB"/>
                </a:solidFill>
                <a:latin typeface="Arial" pitchFamily="34" charset="0"/>
                <a:ea typeface="Arial" pitchFamily="34" charset="-122"/>
                <a:cs typeface="Arial" pitchFamily="34" charset="-120"/>
              </a:rPr>
              <a:t>NC</a:t>
            </a:r>
            <a:endParaRPr lang="en-US" sz="3000" dirty="0"/>
          </a:p>
        </p:txBody>
      </p:sp>
      <p:sp>
        <p:nvSpPr>
          <p:cNvPr id="25" name="Text 22"/>
          <p:cNvSpPr/>
          <p:nvPr/>
        </p:nvSpPr>
        <p:spPr>
          <a:xfrm>
            <a:off x="6368796" y="3520440"/>
            <a:ext cx="2315718" cy="594360"/>
          </a:xfrm>
          <a:prstGeom prst="rect">
            <a:avLst/>
          </a:prstGeom>
          <a:noFill/>
          <a:ln/>
        </p:spPr>
        <p:txBody>
          <a:bodyPr wrap="square" lIns="0" tIns="0" rIns="0" bIns="0" rtlCol="0" anchor="ctr"/>
          <a:lstStyle/>
          <a:p>
            <a:pPr algn="ctr" indent="0" marL="0">
              <a:lnSpc>
                <a:spcPts val="1900"/>
              </a:lnSpc>
              <a:buNone/>
            </a:pPr>
            <a:r>
              <a:rPr lang="en-US" sz="1700" b="1" dirty="0">
                <a:solidFill>
                  <a:srgbClr val="F1F5FB"/>
                </a:solidFill>
                <a:latin typeface="Calibri" pitchFamily="34" charset="0"/>
                <a:ea typeface="Calibri" pitchFamily="34" charset="-122"/>
                <a:cs typeface="Calibri" pitchFamily="34" charset="-120"/>
              </a:rPr>
              <a:t>Nitin Chherke</a:t>
            </a:r>
            <a:endParaRPr lang="en-US" sz="1700" dirty="0"/>
          </a:p>
        </p:txBody>
      </p:sp>
      <p:sp>
        <p:nvSpPr>
          <p:cNvPr id="26" name="Text 23"/>
          <p:cNvSpPr/>
          <p:nvPr/>
        </p:nvSpPr>
        <p:spPr>
          <a:xfrm>
            <a:off x="6368796" y="4096512"/>
            <a:ext cx="2315718" cy="365760"/>
          </a:xfrm>
          <a:prstGeom prst="rect">
            <a:avLst/>
          </a:prstGeom>
          <a:noFill/>
          <a:ln/>
        </p:spPr>
        <p:txBody>
          <a:bodyPr wrap="square" lIns="0" tIns="0" rIns="0" bIns="0" rtlCol="0" anchor="ctr"/>
          <a:lstStyle/>
          <a:p>
            <a:pPr algn="ctr" indent="0" marL="0">
              <a:buNone/>
            </a:pPr>
            <a:r>
              <a:rPr lang="en-US" sz="1250" dirty="0">
                <a:solidFill>
                  <a:srgbClr val="A6B0C3"/>
                </a:solidFill>
                <a:latin typeface="Calibri" pitchFamily="34" charset="0"/>
                <a:ea typeface="Calibri" pitchFamily="34" charset="-122"/>
                <a:cs typeface="Calibri" pitchFamily="34" charset="-120"/>
              </a:rPr>
              <a:t>Team Member</a:t>
            </a:r>
            <a:endParaRPr lang="en-US" sz="1250" dirty="0"/>
          </a:p>
        </p:txBody>
      </p:sp>
      <p:sp>
        <p:nvSpPr>
          <p:cNvPr id="27" name="Shape 24"/>
          <p:cNvSpPr/>
          <p:nvPr/>
        </p:nvSpPr>
        <p:spPr>
          <a:xfrm>
            <a:off x="6597396" y="4754880"/>
            <a:ext cx="1858518" cy="0"/>
          </a:xfrm>
          <a:prstGeom prst="line">
            <a:avLst/>
          </a:prstGeom>
          <a:noFill/>
          <a:ln w="12700">
            <a:solidFill>
              <a:srgbClr val="26314A"/>
            </a:solidFill>
            <a:prstDash val="solid"/>
          </a:ln>
        </p:spPr>
      </p:sp>
      <p:sp>
        <p:nvSpPr>
          <p:cNvPr id="28" name="Text 25"/>
          <p:cNvSpPr/>
          <p:nvPr/>
        </p:nvSpPr>
        <p:spPr>
          <a:xfrm>
            <a:off x="6368796" y="4892040"/>
            <a:ext cx="2315718" cy="365760"/>
          </a:xfrm>
          <a:prstGeom prst="rect">
            <a:avLst/>
          </a:prstGeom>
          <a:noFill/>
          <a:ln/>
        </p:spPr>
        <p:txBody>
          <a:bodyPr wrap="square" lIns="0" tIns="0" rIns="0" bIns="0" rtlCol="0" anchor="ctr"/>
          <a:lstStyle/>
          <a:p>
            <a:pPr algn="ctr" indent="0" marL="0">
              <a:buNone/>
            </a:pPr>
            <a:r>
              <a:rPr lang="en-US" sz="1050" dirty="0">
                <a:solidFill>
                  <a:srgbClr val="5E6A82"/>
                </a:solidFill>
                <a:latin typeface="Calibri" pitchFamily="34" charset="0"/>
                <a:ea typeface="Calibri" pitchFamily="34" charset="-122"/>
                <a:cs typeface="Calibri" pitchFamily="34" charset="-120"/>
              </a:rPr>
              <a:t>Contact: ______</a:t>
            </a:r>
            <a:endParaRPr lang="en-US" sz="1050" dirty="0"/>
          </a:p>
        </p:txBody>
      </p:sp>
      <p:sp>
        <p:nvSpPr>
          <p:cNvPr id="29" name="Shape 26"/>
          <p:cNvSpPr/>
          <p:nvPr/>
        </p:nvSpPr>
        <p:spPr>
          <a:xfrm>
            <a:off x="9095994" y="1645920"/>
            <a:ext cx="2590038" cy="3931920"/>
          </a:xfrm>
          <a:prstGeom prst="roundRect">
            <a:avLst>
              <a:gd name="adj" fmla="val 2824"/>
            </a:avLst>
          </a:prstGeom>
          <a:solidFill>
            <a:srgbClr val="111A2E"/>
          </a:solidFill>
          <a:ln w="12700">
            <a:solidFill>
              <a:srgbClr val="26314A"/>
            </a:solidFill>
            <a:prstDash val="solid"/>
          </a:ln>
        </p:spPr>
      </p:sp>
      <p:sp>
        <p:nvSpPr>
          <p:cNvPr id="30" name="Shape 27"/>
          <p:cNvSpPr/>
          <p:nvPr/>
        </p:nvSpPr>
        <p:spPr>
          <a:xfrm>
            <a:off x="9705213" y="2240280"/>
            <a:ext cx="1371600" cy="822960"/>
          </a:xfrm>
          <a:prstGeom prst="ellipse">
            <a:avLst/>
          </a:prstGeom>
          <a:ln w="12700">
            <a:solidFill>
              <a:srgbClr val="26314A"/>
            </a:solidFill>
            <a:prstDash val="sysDot"/>
          </a:ln>
        </p:spPr>
      </p:sp>
      <p:sp>
        <p:nvSpPr>
          <p:cNvPr id="31" name="Shape 28"/>
          <p:cNvSpPr/>
          <p:nvPr/>
        </p:nvSpPr>
        <p:spPr>
          <a:xfrm>
            <a:off x="9888093" y="2148840"/>
            <a:ext cx="1005840" cy="1005840"/>
          </a:xfrm>
          <a:prstGeom prst="ellipse">
            <a:avLst/>
          </a:prstGeom>
          <a:solidFill>
            <a:srgbClr val="24304A"/>
          </a:solidFill>
          <a:ln/>
        </p:spPr>
      </p:sp>
      <p:sp>
        <p:nvSpPr>
          <p:cNvPr id="32" name="Text 29"/>
          <p:cNvSpPr/>
          <p:nvPr/>
        </p:nvSpPr>
        <p:spPr>
          <a:xfrm>
            <a:off x="9888093" y="2148840"/>
            <a:ext cx="1005840" cy="1005840"/>
          </a:xfrm>
          <a:prstGeom prst="rect">
            <a:avLst/>
          </a:prstGeom>
          <a:noFill/>
          <a:ln/>
        </p:spPr>
        <p:txBody>
          <a:bodyPr wrap="square" lIns="0" tIns="0" rIns="0" bIns="0" rtlCol="0" anchor="ctr"/>
          <a:lstStyle/>
          <a:p>
            <a:pPr algn="ctr" indent="0" marL="0">
              <a:buNone/>
            </a:pPr>
            <a:r>
              <a:rPr lang="en-US" sz="3000" b="1" dirty="0">
                <a:solidFill>
                  <a:srgbClr val="F1F5FB"/>
                </a:solidFill>
                <a:latin typeface="Arial" pitchFamily="34" charset="0"/>
                <a:ea typeface="Arial" pitchFamily="34" charset="-122"/>
                <a:cs typeface="Arial" pitchFamily="34" charset="-120"/>
              </a:rPr>
              <a:t>D</a:t>
            </a:r>
            <a:endParaRPr lang="en-US" sz="3000" dirty="0"/>
          </a:p>
        </p:txBody>
      </p:sp>
      <p:sp>
        <p:nvSpPr>
          <p:cNvPr id="33" name="Text 30"/>
          <p:cNvSpPr/>
          <p:nvPr/>
        </p:nvSpPr>
        <p:spPr>
          <a:xfrm>
            <a:off x="9233154" y="3520440"/>
            <a:ext cx="2315718" cy="594360"/>
          </a:xfrm>
          <a:prstGeom prst="rect">
            <a:avLst/>
          </a:prstGeom>
          <a:noFill/>
          <a:ln/>
        </p:spPr>
        <p:txBody>
          <a:bodyPr wrap="square" lIns="0" tIns="0" rIns="0" bIns="0" rtlCol="0" anchor="ctr"/>
          <a:lstStyle/>
          <a:p>
            <a:pPr algn="ctr" indent="0" marL="0">
              <a:lnSpc>
                <a:spcPts val="1900"/>
              </a:lnSpc>
              <a:buNone/>
            </a:pPr>
            <a:r>
              <a:rPr lang="en-US" sz="1700" b="1" dirty="0">
                <a:solidFill>
                  <a:srgbClr val="F1F5FB"/>
                </a:solidFill>
                <a:latin typeface="Calibri" pitchFamily="34" charset="0"/>
                <a:ea typeface="Calibri" pitchFamily="34" charset="-122"/>
                <a:cs typeface="Calibri" pitchFamily="34" charset="-120"/>
              </a:rPr>
              <a:t>Dinesh</a:t>
            </a:r>
            <a:endParaRPr lang="en-US" sz="1700" dirty="0"/>
          </a:p>
        </p:txBody>
      </p:sp>
      <p:sp>
        <p:nvSpPr>
          <p:cNvPr id="34" name="Text 31"/>
          <p:cNvSpPr/>
          <p:nvPr/>
        </p:nvSpPr>
        <p:spPr>
          <a:xfrm>
            <a:off x="9233154" y="4096512"/>
            <a:ext cx="2315718" cy="365760"/>
          </a:xfrm>
          <a:prstGeom prst="rect">
            <a:avLst/>
          </a:prstGeom>
          <a:noFill/>
          <a:ln/>
        </p:spPr>
        <p:txBody>
          <a:bodyPr wrap="square" lIns="0" tIns="0" rIns="0" bIns="0" rtlCol="0" anchor="ctr"/>
          <a:lstStyle/>
          <a:p>
            <a:pPr algn="ctr" indent="0" marL="0">
              <a:buNone/>
            </a:pPr>
            <a:r>
              <a:rPr lang="en-US" sz="1250" dirty="0">
                <a:solidFill>
                  <a:srgbClr val="A6B0C3"/>
                </a:solidFill>
                <a:latin typeface="Calibri" pitchFamily="34" charset="0"/>
                <a:ea typeface="Calibri" pitchFamily="34" charset="-122"/>
                <a:cs typeface="Calibri" pitchFamily="34" charset="-120"/>
              </a:rPr>
              <a:t>Team Member</a:t>
            </a:r>
            <a:endParaRPr lang="en-US" sz="1250" dirty="0"/>
          </a:p>
        </p:txBody>
      </p:sp>
      <p:sp>
        <p:nvSpPr>
          <p:cNvPr id="35" name="Shape 32"/>
          <p:cNvSpPr/>
          <p:nvPr/>
        </p:nvSpPr>
        <p:spPr>
          <a:xfrm>
            <a:off x="9461754" y="4754880"/>
            <a:ext cx="1858518" cy="0"/>
          </a:xfrm>
          <a:prstGeom prst="line">
            <a:avLst/>
          </a:prstGeom>
          <a:noFill/>
          <a:ln w="12700">
            <a:solidFill>
              <a:srgbClr val="26314A"/>
            </a:solidFill>
            <a:prstDash val="solid"/>
          </a:ln>
        </p:spPr>
      </p:sp>
      <p:sp>
        <p:nvSpPr>
          <p:cNvPr id="36" name="Text 33"/>
          <p:cNvSpPr/>
          <p:nvPr/>
        </p:nvSpPr>
        <p:spPr>
          <a:xfrm>
            <a:off x="9233154" y="4892040"/>
            <a:ext cx="2315718" cy="365760"/>
          </a:xfrm>
          <a:prstGeom prst="rect">
            <a:avLst/>
          </a:prstGeom>
          <a:noFill/>
          <a:ln/>
        </p:spPr>
        <p:txBody>
          <a:bodyPr wrap="square" lIns="0" tIns="0" rIns="0" bIns="0" rtlCol="0" anchor="ctr"/>
          <a:lstStyle/>
          <a:p>
            <a:pPr algn="ctr" indent="0" marL="0">
              <a:buNone/>
            </a:pPr>
            <a:r>
              <a:rPr lang="en-US" sz="1050" dirty="0">
                <a:solidFill>
                  <a:srgbClr val="5E6A82"/>
                </a:solidFill>
                <a:latin typeface="Calibri" pitchFamily="34" charset="0"/>
                <a:ea typeface="Calibri" pitchFamily="34" charset="-122"/>
                <a:cs typeface="Calibri" pitchFamily="34" charset="-120"/>
              </a:rPr>
              <a:t>Contact: ______</a:t>
            </a:r>
            <a:endParaRPr lang="en-US" sz="1050" dirty="0"/>
          </a:p>
        </p:txBody>
      </p:sp>
      <p:sp>
        <p:nvSpPr>
          <p:cNvPr id="37" name="Text 34"/>
          <p:cNvSpPr/>
          <p:nvPr/>
        </p:nvSpPr>
        <p:spPr>
          <a:xfrm>
            <a:off x="502920" y="6565392"/>
            <a:ext cx="6400800" cy="228600"/>
          </a:xfrm>
          <a:prstGeom prst="rect">
            <a:avLst/>
          </a:prstGeom>
          <a:noFill/>
          <a:ln/>
        </p:spPr>
        <p:txBody>
          <a:bodyPr wrap="square" lIns="0" tIns="0" rIns="0" bIns="0" rtlCol="0" anchor="ctr"/>
          <a:lstStyle/>
          <a:p>
            <a:pPr indent="0" marL="0">
              <a:buNone/>
            </a:pPr>
            <a:r>
              <a:rPr lang="en-US" sz="850" dirty="0">
                <a:solidFill>
                  <a:srgbClr val="5E6A82"/>
                </a:solidFill>
                <a:latin typeface="Calibri" pitchFamily="34" charset="0"/>
                <a:ea typeface="Calibri" pitchFamily="34" charset="-122"/>
                <a:cs typeface="Calibri" pitchFamily="34" charset="-120"/>
              </a:rPr>
              <a:t>ORBITAL FUTURE DECISION ENGINE  ·  FANTASTIC 4</a:t>
            </a:r>
            <a:endParaRPr lang="en-US" sz="850" dirty="0"/>
          </a:p>
        </p:txBody>
      </p:sp>
      <p:sp>
        <p:nvSpPr>
          <p:cNvPr id="38" name="Text 35"/>
          <p:cNvSpPr/>
          <p:nvPr/>
        </p:nvSpPr>
        <p:spPr>
          <a:xfrm>
            <a:off x="8686800" y="6565392"/>
            <a:ext cx="3017520" cy="228600"/>
          </a:xfrm>
          <a:prstGeom prst="rect">
            <a:avLst/>
          </a:prstGeom>
          <a:noFill/>
          <a:ln/>
        </p:spPr>
        <p:txBody>
          <a:bodyPr wrap="square" lIns="0" tIns="0" rIns="0" bIns="0" rtlCol="0" anchor="ctr"/>
          <a:lstStyle/>
          <a:p>
            <a:pPr algn="r" indent="0" marL="0">
              <a:buNone/>
            </a:pPr>
            <a:r>
              <a:rPr lang="en-US" sz="850" spc="100" kern="0" dirty="0">
                <a:solidFill>
                  <a:srgbClr val="185C68"/>
                </a:solidFill>
                <a:latin typeface="Calibri" pitchFamily="34" charset="0"/>
                <a:ea typeface="Calibri" pitchFamily="34" charset="-122"/>
                <a:cs typeface="Calibri" pitchFamily="34" charset="-120"/>
              </a:rPr>
              <a:t>MISSION: OFDE-01</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60911"/>
        </a:solidFill>
      </p:bgPr>
    </p:bg>
    <p:spTree>
      <p:nvGrpSpPr>
        <p:cNvPr id="1" name=""/>
        <p:cNvGrpSpPr/>
        <p:nvPr/>
      </p:nvGrpSpPr>
      <p:grpSpPr>
        <a:xfrm>
          <a:off x="0" y="0"/>
          <a:ext cx="0" cy="0"/>
          <a:chOff x="0" y="0"/>
          <a:chExt cx="0" cy="0"/>
        </a:xfrm>
      </p:grpSpPr>
      <p:sp>
        <p:nvSpPr>
          <p:cNvPr id="2" name="Shape 0"/>
          <p:cNvSpPr/>
          <p:nvPr/>
        </p:nvSpPr>
        <p:spPr>
          <a:xfrm>
            <a:off x="-182880" y="2560320"/>
            <a:ext cx="12435840" cy="12435840"/>
          </a:xfrm>
          <a:prstGeom prst="ellipse">
            <a:avLst/>
          </a:prstGeom>
          <a:solidFill>
            <a:srgbClr val="0C2A3E"/>
          </a:solidFill>
          <a:ln/>
        </p:spPr>
      </p:sp>
      <p:sp>
        <p:nvSpPr>
          <p:cNvPr id="3" name="Shape 1"/>
          <p:cNvSpPr/>
          <p:nvPr/>
        </p:nvSpPr>
        <p:spPr>
          <a:xfrm>
            <a:off x="-182880" y="2560320"/>
            <a:ext cx="12435840" cy="12435840"/>
          </a:xfrm>
          <a:prstGeom prst="ellipse">
            <a:avLst/>
          </a:prstGeom>
          <a:ln w="12700">
            <a:solidFill>
              <a:srgbClr val="185C68"/>
            </a:solidFill>
            <a:prstDash val="solid"/>
          </a:ln>
        </p:spPr>
      </p:sp>
      <p:sp>
        <p:nvSpPr>
          <p:cNvPr id="4" name="Shape 2"/>
          <p:cNvSpPr/>
          <p:nvPr/>
        </p:nvSpPr>
        <p:spPr>
          <a:xfrm>
            <a:off x="1682496" y="3493008"/>
            <a:ext cx="9326880" cy="11814048"/>
          </a:xfrm>
          <a:prstGeom prst="ellipse">
            <a:avLst/>
          </a:prstGeom>
          <a:solidFill>
            <a:srgbClr val="081D2C"/>
          </a:solidFill>
          <a:ln/>
        </p:spPr>
      </p:sp>
      <p:sp>
        <p:nvSpPr>
          <p:cNvPr id="5" name="Shape 3"/>
          <p:cNvSpPr/>
          <p:nvPr/>
        </p:nvSpPr>
        <p:spPr>
          <a:xfrm>
            <a:off x="2103120" y="-1097280"/>
            <a:ext cx="8046720" cy="2926080"/>
          </a:xfrm>
          <a:prstGeom prst="ellipse">
            <a:avLst/>
          </a:prstGeom>
          <a:ln w="12700">
            <a:solidFill>
              <a:srgbClr val="185C68"/>
            </a:solidFill>
            <a:prstDash val="sysDot"/>
          </a:ln>
        </p:spPr>
      </p:sp>
      <p:sp>
        <p:nvSpPr>
          <p:cNvPr id="6" name="Shape 4"/>
          <p:cNvSpPr/>
          <p:nvPr/>
        </p:nvSpPr>
        <p:spPr>
          <a:xfrm>
            <a:off x="548640" y="457200"/>
            <a:ext cx="27432" cy="27432"/>
          </a:xfrm>
          <a:prstGeom prst="ellipse">
            <a:avLst/>
          </a:prstGeom>
          <a:solidFill>
            <a:srgbClr val="5E6A82"/>
          </a:solidFill>
          <a:ln/>
        </p:spPr>
      </p:sp>
      <p:sp>
        <p:nvSpPr>
          <p:cNvPr id="7" name="Shape 5"/>
          <p:cNvSpPr/>
          <p:nvPr/>
        </p:nvSpPr>
        <p:spPr>
          <a:xfrm>
            <a:off x="11521440" y="548640"/>
            <a:ext cx="27432" cy="27432"/>
          </a:xfrm>
          <a:prstGeom prst="ellipse">
            <a:avLst/>
          </a:prstGeom>
          <a:solidFill>
            <a:srgbClr val="5E6A82"/>
          </a:solidFill>
          <a:ln/>
        </p:spPr>
      </p:sp>
      <p:sp>
        <p:nvSpPr>
          <p:cNvPr id="8" name="Shape 6"/>
          <p:cNvSpPr/>
          <p:nvPr/>
        </p:nvSpPr>
        <p:spPr>
          <a:xfrm>
            <a:off x="457200" y="1463040"/>
            <a:ext cx="27432" cy="27432"/>
          </a:xfrm>
          <a:prstGeom prst="ellipse">
            <a:avLst/>
          </a:prstGeom>
          <a:solidFill>
            <a:srgbClr val="5E6A82"/>
          </a:solidFill>
          <a:ln/>
        </p:spPr>
      </p:sp>
      <p:sp>
        <p:nvSpPr>
          <p:cNvPr id="9" name="Shape 7"/>
          <p:cNvSpPr/>
          <p:nvPr/>
        </p:nvSpPr>
        <p:spPr>
          <a:xfrm>
            <a:off x="11612880" y="1645920"/>
            <a:ext cx="27432" cy="27432"/>
          </a:xfrm>
          <a:prstGeom prst="ellipse">
            <a:avLst/>
          </a:prstGeom>
          <a:solidFill>
            <a:srgbClr val="5E6A82"/>
          </a:solidFill>
          <a:ln/>
        </p:spPr>
      </p:sp>
      <p:sp>
        <p:nvSpPr>
          <p:cNvPr id="10" name="Shape 8"/>
          <p:cNvSpPr/>
          <p:nvPr/>
        </p:nvSpPr>
        <p:spPr>
          <a:xfrm>
            <a:off x="1005840" y="822960"/>
            <a:ext cx="27432" cy="27432"/>
          </a:xfrm>
          <a:prstGeom prst="ellipse">
            <a:avLst/>
          </a:prstGeom>
          <a:solidFill>
            <a:srgbClr val="5E6A82"/>
          </a:solidFill>
          <a:ln/>
        </p:spPr>
      </p:sp>
      <p:pic>
        <p:nvPicPr>
          <p:cNvPr id="11" name="Image 0" descr="/home/claude/assets/nakshatra_rgba.png">    </p:cNvPr>
          <p:cNvPicPr>
            <a:picLocks noChangeAspect="1"/>
          </p:cNvPicPr>
          <p:nvPr/>
        </p:nvPicPr>
        <p:blipFill>
          <a:blip r:embed="rId1"/>
          <a:stretch>
            <a:fillRect/>
          </a:stretch>
        </p:blipFill>
        <p:spPr>
          <a:xfrm>
            <a:off x="502920" y="365760"/>
            <a:ext cx="1828800" cy="609905"/>
          </a:xfrm>
          <a:prstGeom prst="rect">
            <a:avLst/>
          </a:prstGeom>
        </p:spPr>
      </p:pic>
      <p:pic>
        <p:nvPicPr>
          <p:cNvPr id="12" name="Image 1" descr="/home/claude/assets/erospace_rgba.png">    </p:cNvPr>
          <p:cNvPicPr>
            <a:picLocks noChangeAspect="1"/>
          </p:cNvPicPr>
          <p:nvPr/>
        </p:nvPicPr>
        <p:blipFill>
          <a:blip r:embed="rId2"/>
          <a:stretch>
            <a:fillRect/>
          </a:stretch>
        </p:blipFill>
        <p:spPr>
          <a:xfrm>
            <a:off x="10561320" y="365760"/>
            <a:ext cx="1325880" cy="459943"/>
          </a:xfrm>
          <a:prstGeom prst="rect">
            <a:avLst/>
          </a:prstGeom>
        </p:spPr>
      </p:pic>
      <p:sp>
        <p:nvSpPr>
          <p:cNvPr id="13" name="Text 9"/>
          <p:cNvSpPr/>
          <p:nvPr/>
        </p:nvSpPr>
        <p:spPr>
          <a:xfrm>
            <a:off x="502920" y="6355080"/>
            <a:ext cx="5029200" cy="182880"/>
          </a:xfrm>
          <a:prstGeom prst="rect">
            <a:avLst/>
          </a:prstGeom>
          <a:noFill/>
          <a:ln/>
        </p:spPr>
        <p:txBody>
          <a:bodyPr wrap="square" lIns="0" tIns="0" rIns="0" bIns="0" rtlCol="0" anchor="ctr"/>
          <a:lstStyle/>
          <a:p>
            <a:pPr indent="0" marL="0">
              <a:buNone/>
            </a:pPr>
            <a:r>
              <a:rPr lang="en-US" sz="800" spc="100" kern="0" dirty="0">
                <a:solidFill>
                  <a:srgbClr val="185C68"/>
                </a:solidFill>
                <a:latin typeface="Calibri" pitchFamily="34" charset="0"/>
                <a:ea typeface="Calibri" pitchFamily="34" charset="-122"/>
                <a:cs typeface="Calibri" pitchFamily="34" charset="-120"/>
              </a:rPr>
              <a:t>MISSION / ORBITAL DECISION SUPPORT / END</a:t>
            </a:r>
            <a:endParaRPr lang="en-US" sz="800" dirty="0"/>
          </a:p>
        </p:txBody>
      </p:sp>
      <p:sp>
        <p:nvSpPr>
          <p:cNvPr id="14" name="Text 10"/>
          <p:cNvSpPr/>
          <p:nvPr/>
        </p:nvSpPr>
        <p:spPr>
          <a:xfrm>
            <a:off x="685800" y="2103120"/>
            <a:ext cx="10789920" cy="640080"/>
          </a:xfrm>
          <a:prstGeom prst="rect">
            <a:avLst/>
          </a:prstGeom>
          <a:noFill/>
          <a:ln/>
        </p:spPr>
        <p:txBody>
          <a:bodyPr wrap="square" lIns="0" tIns="0" rIns="0" bIns="0" rtlCol="0" anchor="ctr"/>
          <a:lstStyle/>
          <a:p>
            <a:pPr algn="ctr" indent="0" marL="0">
              <a:buNone/>
            </a:pPr>
            <a:r>
              <a:rPr lang="en-US" sz="3000" b="1" dirty="0">
                <a:solidFill>
                  <a:srgbClr val="F1F5FB"/>
                </a:solidFill>
                <a:latin typeface="Arial" pitchFamily="34" charset="0"/>
                <a:ea typeface="Arial" pitchFamily="34" charset="-122"/>
                <a:cs typeface="Arial" pitchFamily="34" charset="-120"/>
              </a:rPr>
              <a:t>FROM ONE PREDICTED FUTURE</a:t>
            </a:r>
            <a:endParaRPr lang="en-US" sz="3000" dirty="0"/>
          </a:p>
        </p:txBody>
      </p:sp>
      <p:sp>
        <p:nvSpPr>
          <p:cNvPr id="15" name="Text 11"/>
          <p:cNvSpPr/>
          <p:nvPr/>
        </p:nvSpPr>
        <p:spPr>
          <a:xfrm>
            <a:off x="685800" y="2697480"/>
            <a:ext cx="10789920" cy="640080"/>
          </a:xfrm>
          <a:prstGeom prst="rect">
            <a:avLst/>
          </a:prstGeom>
          <a:noFill/>
          <a:ln/>
        </p:spPr>
        <p:txBody>
          <a:bodyPr wrap="square" lIns="0" tIns="0" rIns="0" bIns="0" rtlCol="0" anchor="ctr"/>
          <a:lstStyle/>
          <a:p>
            <a:pPr algn="ctr" indent="0" marL="0">
              <a:buNone/>
            </a:pPr>
            <a:r>
              <a:rPr lang="en-US" sz="3000" b="1" dirty="0">
                <a:solidFill>
                  <a:srgbClr val="4DD9EC"/>
                </a:solidFill>
                <a:latin typeface="Arial" pitchFamily="34" charset="0"/>
                <a:ea typeface="Arial" pitchFamily="34" charset="-122"/>
                <a:cs typeface="Arial" pitchFamily="34" charset="-120"/>
              </a:rPr>
              <a:t>→  TO PLAUSIBLE FUTURES</a:t>
            </a:r>
            <a:endParaRPr lang="en-US" sz="3000" dirty="0"/>
          </a:p>
        </p:txBody>
      </p:sp>
      <p:sp>
        <p:nvSpPr>
          <p:cNvPr id="16" name="Text 12"/>
          <p:cNvSpPr/>
          <p:nvPr/>
        </p:nvSpPr>
        <p:spPr>
          <a:xfrm>
            <a:off x="1371600" y="3520440"/>
            <a:ext cx="9418320" cy="365760"/>
          </a:xfrm>
          <a:prstGeom prst="rect">
            <a:avLst/>
          </a:prstGeom>
          <a:noFill/>
          <a:ln/>
        </p:spPr>
        <p:txBody>
          <a:bodyPr wrap="square" lIns="0" tIns="0" rIns="0" bIns="0" rtlCol="0" anchor="ctr"/>
          <a:lstStyle/>
          <a:p>
            <a:pPr algn="ctr" indent="0" marL="0">
              <a:buNone/>
            </a:pPr>
            <a:r>
              <a:rPr lang="en-US" sz="1600" i="1" dirty="0">
                <a:solidFill>
                  <a:srgbClr val="A6B0C3"/>
                </a:solidFill>
                <a:latin typeface="Calibri" pitchFamily="34" charset="0"/>
                <a:ea typeface="Calibri" pitchFamily="34" charset="-122"/>
                <a:cs typeface="Calibri" pitchFamily="34" charset="-120"/>
              </a:rPr>
              <a:t>Explore plausible futures. Understand the consequences. Support better decisions.</a:t>
            </a:r>
            <a:endParaRPr lang="en-US" sz="1600" dirty="0"/>
          </a:p>
        </p:txBody>
      </p:sp>
      <p:sp>
        <p:nvSpPr>
          <p:cNvPr id="17" name="Shape 13"/>
          <p:cNvSpPr/>
          <p:nvPr/>
        </p:nvSpPr>
        <p:spPr>
          <a:xfrm>
            <a:off x="5641848" y="4114800"/>
            <a:ext cx="914400" cy="0"/>
          </a:xfrm>
          <a:prstGeom prst="line">
            <a:avLst/>
          </a:prstGeom>
          <a:noFill/>
          <a:ln w="19050">
            <a:solidFill>
              <a:srgbClr val="4DD9EC"/>
            </a:solidFill>
            <a:prstDash val="solid"/>
          </a:ln>
        </p:spPr>
      </p:sp>
      <p:sp>
        <p:nvSpPr>
          <p:cNvPr id="18" name="Text 14"/>
          <p:cNvSpPr/>
          <p:nvPr/>
        </p:nvSpPr>
        <p:spPr>
          <a:xfrm>
            <a:off x="685800" y="4279392"/>
            <a:ext cx="10789920" cy="502920"/>
          </a:xfrm>
          <a:prstGeom prst="rect">
            <a:avLst/>
          </a:prstGeom>
          <a:noFill/>
          <a:ln/>
        </p:spPr>
        <p:txBody>
          <a:bodyPr wrap="square" lIns="0" tIns="0" rIns="0" bIns="0" rtlCol="0" anchor="ctr"/>
          <a:lstStyle/>
          <a:p>
            <a:pPr algn="ctr" indent="0" marL="0">
              <a:buNone/>
            </a:pPr>
            <a:r>
              <a:rPr lang="en-US" sz="2000" b="1" spc="300" kern="0" dirty="0">
                <a:solidFill>
                  <a:srgbClr val="F1F5FB"/>
                </a:solidFill>
                <a:latin typeface="Arial" pitchFamily="34" charset="0"/>
                <a:ea typeface="Arial" pitchFamily="34" charset="-122"/>
                <a:cs typeface="Arial" pitchFamily="34" charset="-120"/>
              </a:rPr>
              <a:t>THANK YOU</a:t>
            </a:r>
            <a:endParaRPr lang="en-US" sz="2000" dirty="0"/>
          </a:p>
        </p:txBody>
      </p:sp>
      <p:sp>
        <p:nvSpPr>
          <p:cNvPr id="19" name="Text 15"/>
          <p:cNvSpPr/>
          <p:nvPr/>
        </p:nvSpPr>
        <p:spPr>
          <a:xfrm>
            <a:off x="685800" y="4846320"/>
            <a:ext cx="10789920" cy="320040"/>
          </a:xfrm>
          <a:prstGeom prst="rect">
            <a:avLst/>
          </a:prstGeom>
          <a:noFill/>
          <a:ln/>
        </p:spPr>
        <p:txBody>
          <a:bodyPr wrap="square" lIns="0" tIns="0" rIns="0" bIns="0" rtlCol="0" anchor="ctr"/>
          <a:lstStyle/>
          <a:p>
            <a:pPr algn="ctr" indent="0" marL="0">
              <a:buNone/>
            </a:pPr>
            <a:r>
              <a:rPr lang="en-US" sz="1100" spc="100" kern="0" dirty="0">
                <a:solidFill>
                  <a:srgbClr val="5E6A82"/>
                </a:solidFill>
                <a:latin typeface="Calibri" pitchFamily="34" charset="0"/>
                <a:ea typeface="Calibri" pitchFamily="34" charset="-122"/>
                <a:cs typeface="Calibri" pitchFamily="34" charset="-120"/>
              </a:rPr>
              <a:t>FANTASTIC 4   ·   ORBITAL FUTURE DECISION ENGINE</a:t>
            </a:r>
            <a:endParaRPr lang="en-US" sz="1100" dirty="0"/>
          </a:p>
        </p:txBody>
      </p:sp>
      <p:sp>
        <p:nvSpPr>
          <p:cNvPr id="20" name="Shape 16"/>
          <p:cNvSpPr/>
          <p:nvPr/>
        </p:nvSpPr>
        <p:spPr>
          <a:xfrm>
            <a:off x="4956048" y="5349240"/>
            <a:ext cx="2286000" cy="384048"/>
          </a:xfrm>
          <a:prstGeom prst="roundRect">
            <a:avLst>
              <a:gd name="adj" fmla="val 50000"/>
            </a:avLst>
          </a:prstGeom>
          <a:solidFill>
            <a:srgbClr val="111A2E"/>
          </a:solidFill>
          <a:ln w="12700">
            <a:solidFill>
              <a:srgbClr val="26314A"/>
            </a:solidFill>
            <a:prstDash val="solid"/>
          </a:ln>
        </p:spPr>
      </p:sp>
      <p:sp>
        <p:nvSpPr>
          <p:cNvPr id="21" name="Text 17"/>
          <p:cNvSpPr/>
          <p:nvPr/>
        </p:nvSpPr>
        <p:spPr>
          <a:xfrm>
            <a:off x="4956048" y="5349240"/>
            <a:ext cx="2286000" cy="384048"/>
          </a:xfrm>
          <a:prstGeom prst="rect">
            <a:avLst/>
          </a:prstGeom>
          <a:noFill/>
          <a:ln/>
        </p:spPr>
        <p:txBody>
          <a:bodyPr wrap="square" lIns="0" tIns="0" rIns="0" bIns="0" rtlCol="0" anchor="ctr"/>
          <a:lstStyle/>
          <a:p>
            <a:pPr algn="ctr" indent="0" marL="0">
              <a:buNone/>
            </a:pPr>
            <a:r>
              <a:rPr lang="en-US" sz="900" dirty="0">
                <a:solidFill>
                  <a:srgbClr val="5E6A82"/>
                </a:solidFill>
                <a:latin typeface="Calibri" pitchFamily="34" charset="0"/>
                <a:ea typeface="Calibri" pitchFamily="34" charset="-122"/>
                <a:cs typeface="Calibri" pitchFamily="34" charset="-120"/>
              </a:rPr>
              <a:t>Technical R&amp;D Dossier — QR Code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Nakshatra — The Aerospace Hackathon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Orbital Future Decision Engine</dc:title>
  <dc:subject>PptxGenJS Presentation</dc:subject>
  <dc:creator>Fantastic 4</dc:creator>
  <cp:lastModifiedBy>Fantastic 4</cp:lastModifiedBy>
  <cp:revision>1</cp:revision>
  <dcterms:created xsi:type="dcterms:W3CDTF">2026-09-24T02:51:41Z</dcterms:created>
  <dcterms:modified xsi:type="dcterms:W3CDTF">2026-09-24T02:51:41Z</dcterms:modified>
</cp:coreProperties>
</file>