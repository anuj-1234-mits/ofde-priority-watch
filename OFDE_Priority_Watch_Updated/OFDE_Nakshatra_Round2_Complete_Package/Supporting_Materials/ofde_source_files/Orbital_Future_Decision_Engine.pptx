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are Fantastic 4, presenting Orbital Future Decision Engine — a software-only, uncertainty-aware decision-support prototype for space debris conjunction analysis. Key point: our core shift is from predicting one likely future to exploring and comparing plausible futures under uncertainty. Anticipate: judges may ask what is actually new here versus existing conjunction assessment tools — hold that answer for the novelty slide; do not over-claim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software-only prototype — no hardware. The stack combines an established web front end with CesiumJS for orbital visualization, and a Python/FastAPI backend built on standard astrodynamics and numerical libraries. Key point: emphasize 'physics-grounded' — every visual and metric traces back to a deterministic propagation, not a black box. Judge question to anticipate: 'What propagation model do you use?' Answer: established TLE-compatible propagation tools, not a custom unverified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Debris tracking and conjunction alerts already exist — that part is not our contribution. The gap is what happens after the alert: a single risk number doesn't tell an operator how uncertain it is, what their options are, or what else might change. This slide is the visual hook for the whole talk — 'What happens after the alert?' is the question we answer for the rest of the deck. Judge question to anticipate: 'Isn't conjunction assessment already used?' Answer: Yes — we build on it; our addition is the decision layer that follows the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workflow starts exactly where standard tools start — track, then predict a close approach and a risk value. The shift happens at step 3: instead of stopping at one risk number, we explore a future-state envelope under uncertainty, then compare candidate actions, then help the operator understand the wider consequences. Key point: highlight that EXPLORE is the pivotal new step layered on top of standard tracking and propagation, not a replacement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Data flows through established tracking and propagation into a close-approach engine — nothing unusual yet. From there we add risk and uncertainty together, run a Monte Carlo ensemble, and build a future-state envelope. That envelope branches into three candidate scenarios — no action, and two maneuver options — which are then evaluated across multiple objects and time horizons, producing threat-transfer visibility, the Future Exposure Index, and a decision-sensitivity score. Everything terminates with a human operator, never an autonomous command. Judge question to anticipate: 'Does the system ever act on its own?' Answer: No — every path in this diagram ends at the human operator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are not claiming that tracking, propagation or Monte Carlo methods are new. Our contribution is the decision layer on the right — combining uncertainty-aware future states with scenario comparison, multi-object consequences, multi-horizon exposure and decision sensitivity. Key point: keep the left column framed as a 'typical simplified workflow,' never as outdated or inferior — many operational systems reasonably stop there. Judge question to anticipate: 'Is Monte Carlo new?' Answer: No — it's an established technique; we use it to see how scenario outcomes vary across modeled orbital uncertainty. The footer numbers are illustrative demo data,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none of these six capabilities individually claims to be the first of its kind. The novelty is in combining them into one coherent decision layer that sits after the standard alert. Avoid words like 'first-ever' or 'revolutionary' — use the positioning statement at the bottom verbatim if asked to summarize the contribution. Judge question to anticipate: 'Is FEI an aerospace standard?' Answer: No — Future Exposure Index is a project-defined metric summarizing modeled future exposure across objects and horizons, not an industry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would rather state these limits clearly than have a judge find them for us. Results depend on input data quality, our risk and exposure metrics are prototype-defined and need validation, maneuvers are conceptual rather than flight-qualified, and large catalogs will need more computational optimization before production scale. Key point: end on the scope line — this is decision support, not autonomous control — it reinforces the human-in-the-loop message from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Fantastic 4 — Anuj Singh as team leader, with Sarthak Gavnekar, Nitin Chherke and Dinesh. Contact details are left as editable placeholders for the submission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idea to leave the judges with — traditional analysis can tell us a potential conjunction exists; Orbital Future Decision Engine goes one step further by exploring plausible futures, comparing candidate scenarios, exposing secondary consequences, and showing how sensitive the decision is to uncertainty. From one predicted future, to plausible futures.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institute_rgba.png">    </p:cNvPr>
          <p:cNvPicPr>
            <a:picLocks noChangeAspect="1"/>
          </p:cNvPicPr>
          <p:nvPr/>
        </p:nvPicPr>
        <p:blipFill>
          <a:blip r:embed="rId2"/>
          <a:stretch>
            <a:fillRect/>
          </a:stretch>
        </p:blipFill>
        <p:spPr>
          <a:xfrm>
            <a:off x="332740" y="257810"/>
            <a:ext cx="564642" cy="564642"/>
          </a:xfrm>
          <a:prstGeom prst="rect">
            <a:avLst/>
          </a:prstGeom>
        </p:spPr>
      </p:pic>
      <p:pic>
        <p:nvPicPr>
          <p:cNvPr id="4" name="Image 2" descr="/home/claude/assets/unstop_rgba.png">    </p:cNvPr>
          <p:cNvPicPr>
            <a:picLocks noChangeAspect="1"/>
          </p:cNvPicPr>
          <p:nvPr/>
        </p:nvPicPr>
        <p:blipFill>
          <a:blip r:embed="rId3"/>
          <a:stretch>
            <a:fillRect/>
          </a:stretch>
        </p:blipFill>
        <p:spPr>
          <a:xfrm>
            <a:off x="975360" y="384810"/>
            <a:ext cx="859409" cy="342011"/>
          </a:xfrm>
          <a:prstGeom prst="rect">
            <a:avLst/>
          </a:prstGeom>
        </p:spPr>
      </p:pic>
      <p:pic>
        <p:nvPicPr>
          <p:cNvPr id="5" name="Image 3" descr="/home/claude/assets/nakshatra_rgba.png">    </p:cNvPr>
          <p:cNvPicPr>
            <a:picLocks noChangeAspect="1"/>
          </p:cNvPicPr>
          <p:nvPr/>
        </p:nvPicPr>
        <p:blipFill>
          <a:blip r:embed="rId4"/>
          <a:stretch>
            <a:fillRect/>
          </a:stretch>
        </p:blipFill>
        <p:spPr>
          <a:xfrm>
            <a:off x="3310890" y="257810"/>
            <a:ext cx="2521839" cy="840613"/>
          </a:xfrm>
          <a:prstGeom prst="rect">
            <a:avLst/>
          </a:prstGeom>
        </p:spPr>
      </p:pic>
      <p:pic>
        <p:nvPicPr>
          <p:cNvPr id="6" name="Image 4" descr="/home/claude/assets/erospace_rgba.png">    </p:cNvPr>
          <p:cNvPicPr>
            <a:picLocks noChangeAspect="1"/>
          </p:cNvPicPr>
          <p:nvPr/>
        </p:nvPicPr>
        <p:blipFill>
          <a:blip r:embed="rId5"/>
          <a:stretch>
            <a:fillRect/>
          </a:stretch>
        </p:blipFill>
        <p:spPr>
          <a:xfrm>
            <a:off x="7754620" y="341630"/>
            <a:ext cx="1057275" cy="366903"/>
          </a:xfrm>
          <a:prstGeom prst="rect">
            <a:avLst/>
          </a:prstGeom>
        </p:spPr>
      </p:pic>
      <p:sp>
        <p:nvSpPr>
          <p:cNvPr id="7" name="Text 0"/>
          <p:cNvSpPr/>
          <p:nvPr/>
        </p:nvSpPr>
        <p:spPr>
          <a:xfrm>
            <a:off x="365760" y="2109470"/>
            <a:ext cx="8412480" cy="868680"/>
          </a:xfrm>
          <a:prstGeom prst="rect">
            <a:avLst/>
          </a:prstGeom>
          <a:noFill/>
          <a:ln/>
        </p:spPr>
        <p:txBody>
          <a:bodyPr wrap="square" lIns="0" tIns="0" rIns="0" bIns="0" rtlCol="0" anchor="ctr"/>
          <a:lstStyle/>
          <a:p>
            <a:pPr algn="ctr" indent="0" marL="0">
              <a:lnSpc>
                <a:spcPts val="3300"/>
              </a:lnSpc>
              <a:buNone/>
            </a:pPr>
            <a:r>
              <a:rPr lang="en-US" sz="3000" b="1" dirty="0">
                <a:solidFill>
                  <a:srgbClr val="172B6D"/>
                </a:solidFill>
                <a:latin typeface="Arial" pitchFamily="34" charset="0"/>
                <a:ea typeface="Arial" pitchFamily="34" charset="-122"/>
                <a:cs typeface="Arial" pitchFamily="34" charset="-120"/>
              </a:rPr>
              <a:t>ORBITAL FUTURE DECISION ENGINE</a:t>
            </a:r>
            <a:endParaRPr lang="en-US" sz="3000" dirty="0"/>
          </a:p>
        </p:txBody>
      </p:sp>
      <p:sp>
        <p:nvSpPr>
          <p:cNvPr id="8" name="Text 1"/>
          <p:cNvSpPr/>
          <p:nvPr/>
        </p:nvSpPr>
        <p:spPr>
          <a:xfrm>
            <a:off x="0" y="2788920"/>
            <a:ext cx="9144000" cy="329184"/>
          </a:xfrm>
          <a:prstGeom prst="rect">
            <a:avLst/>
          </a:prstGeom>
          <a:noFill/>
          <a:ln/>
        </p:spPr>
        <p:txBody>
          <a:bodyPr wrap="square" lIns="0" tIns="0" rIns="0" bIns="0" rtlCol="0" anchor="ctr"/>
          <a:lstStyle/>
          <a:p>
            <a:pPr algn="ctr" indent="0" marL="0">
              <a:buNone/>
            </a:pPr>
            <a:r>
              <a:rPr lang="en-US" sz="1800" dirty="0">
                <a:solidFill>
                  <a:srgbClr val="545454"/>
                </a:solidFill>
                <a:latin typeface="Calibri" pitchFamily="34" charset="0"/>
                <a:ea typeface="Calibri" pitchFamily="34" charset="-122"/>
                <a:cs typeface="Calibri" pitchFamily="34" charset="-120"/>
              </a:rPr>
              <a:t>FANTASTIC 4</a:t>
            </a:r>
            <a:endParaRPr lang="en-US" sz="1800" dirty="0"/>
          </a:p>
        </p:txBody>
      </p:sp>
      <p:sp>
        <p:nvSpPr>
          <p:cNvPr id="9" name="Text 2"/>
          <p:cNvSpPr/>
          <p:nvPr/>
        </p:nvSpPr>
        <p:spPr>
          <a:xfrm>
            <a:off x="548640" y="3200400"/>
            <a:ext cx="8046720" cy="292608"/>
          </a:xfrm>
          <a:prstGeom prst="rect">
            <a:avLst/>
          </a:prstGeom>
          <a:noFill/>
          <a:ln/>
        </p:spPr>
        <p:txBody>
          <a:bodyPr wrap="square" lIns="0" tIns="0" rIns="0" bIns="0" rtlCol="0" anchor="ctr"/>
          <a:lstStyle/>
          <a:p>
            <a:pPr algn="ctr" indent="0" marL="0">
              <a:buNone/>
            </a:pPr>
            <a:r>
              <a:rPr lang="en-US" sz="1100" b="1" spc="50" kern="0" dirty="0">
                <a:solidFill>
                  <a:srgbClr val="1C8F89"/>
                </a:solidFill>
                <a:latin typeface="Calibri" pitchFamily="34" charset="0"/>
                <a:ea typeface="Calibri" pitchFamily="34" charset="-122"/>
                <a:cs typeface="Calibri" pitchFamily="34" charset="-120"/>
              </a:rPr>
              <a:t>Uncertainty-Aware Space Debris Tracking, Future Scenario Analysis &amp; Decision Support</a:t>
            </a:r>
            <a:endParaRPr lang="en-US" sz="1100" dirty="0"/>
          </a:p>
        </p:txBody>
      </p:sp>
      <p:sp>
        <p:nvSpPr>
          <p:cNvPr id="10" name="Text 3"/>
          <p:cNvSpPr/>
          <p:nvPr/>
        </p:nvSpPr>
        <p:spPr>
          <a:xfrm>
            <a:off x="731520" y="3529584"/>
            <a:ext cx="7680960" cy="310896"/>
          </a:xfrm>
          <a:prstGeom prst="rect">
            <a:avLst/>
          </a:prstGeom>
          <a:noFill/>
          <a:ln/>
        </p:spPr>
        <p:txBody>
          <a:bodyPr wrap="square" lIns="0" tIns="0" rIns="0" bIns="0" rtlCol="0" anchor="ctr"/>
          <a:lstStyle/>
          <a:p>
            <a:pPr algn="ctr" indent="0" marL="0">
              <a:buNone/>
            </a:pPr>
            <a:r>
              <a:rPr lang="en-US" sz="1200" i="1" dirty="0">
                <a:solidFill>
                  <a:srgbClr val="7C8698"/>
                </a:solidFill>
                <a:latin typeface="Calibri" pitchFamily="34" charset="0"/>
                <a:ea typeface="Calibri" pitchFamily="34" charset="-122"/>
                <a:cs typeface="Calibri" pitchFamily="34" charset="-120"/>
              </a:rPr>
              <a:t>“From predicting one likely future to exploring and comparing plausible futures.”</a:t>
            </a:r>
            <a:endParaRPr lang="en-US" sz="1200" dirty="0"/>
          </a:p>
        </p:txBody>
      </p:sp>
      <p:sp>
        <p:nvSpPr>
          <p:cNvPr id="11" name="Text 4"/>
          <p:cNvSpPr/>
          <p:nvPr/>
        </p:nvSpPr>
        <p:spPr>
          <a:xfrm>
            <a:off x="548640" y="3977640"/>
            <a:ext cx="8046720" cy="274320"/>
          </a:xfrm>
          <a:prstGeom prst="rect">
            <a:avLst/>
          </a:prstGeom>
          <a:noFill/>
          <a:ln/>
        </p:spPr>
        <p:txBody>
          <a:bodyPr wrap="square" lIns="0" tIns="0" rIns="0" bIns="0" rtlCol="0" anchor="ctr"/>
          <a:lstStyle/>
          <a:p>
            <a:pPr algn="ctr" indent="0" marL="0">
              <a:buNone/>
            </a:pPr>
            <a:r>
              <a:rPr lang="en-US" sz="1000" dirty="0">
                <a:solidFill>
                  <a:srgbClr val="545454"/>
                </a:solidFill>
                <a:latin typeface="Calibri" pitchFamily="34" charset="0"/>
                <a:ea typeface="Calibri" pitchFamily="34" charset="-122"/>
                <a:cs typeface="Calibri" pitchFamily="34" charset="-120"/>
              </a:rPr>
              <a:t>Software-Only Prototype   ·   Team Leader — Anuj Singh   ·   Aerospace Hackathon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298448"/>
            <a:ext cx="9144000" cy="502920"/>
          </a:xfrm>
          <a:prstGeom prst="rect">
            <a:avLst/>
          </a:prstGeom>
          <a:noFill/>
          <a:ln/>
        </p:spPr>
        <p:txBody>
          <a:bodyPr wrap="square" lIns="0" tIns="0" rIns="0" bIns="0" rtlCol="0" anchor="ctr"/>
          <a:lstStyle/>
          <a:p>
            <a:pPr algn="ctr" indent="0" marL="0">
              <a:buNone/>
            </a:pPr>
            <a:r>
              <a:rPr lang="en-US" sz="2800" b="1" dirty="0">
                <a:solidFill>
                  <a:srgbClr val="172B6D"/>
                </a:solidFill>
                <a:latin typeface="Arial" pitchFamily="34" charset="0"/>
                <a:ea typeface="Arial" pitchFamily="34" charset="-122"/>
                <a:cs typeface="Arial" pitchFamily="34" charset="-120"/>
              </a:rPr>
              <a:t>SOFTWARE</a:t>
            </a:r>
            <a:endParaRPr lang="en-US" sz="2800" dirty="0"/>
          </a:p>
        </p:txBody>
      </p:sp>
      <p:sp>
        <p:nvSpPr>
          <p:cNvPr id="5" name="Text 1"/>
          <p:cNvSpPr/>
          <p:nvPr/>
        </p:nvSpPr>
        <p:spPr>
          <a:xfrm>
            <a:off x="548640" y="1828800"/>
            <a:ext cx="8046720" cy="274320"/>
          </a:xfrm>
          <a:prstGeom prst="rect">
            <a:avLst/>
          </a:prstGeom>
          <a:noFill/>
          <a:ln/>
        </p:spPr>
        <p:txBody>
          <a:bodyPr wrap="square" lIns="0" tIns="0" rIns="0" bIns="0" rtlCol="0" anchor="ctr"/>
          <a:lstStyle/>
          <a:p>
            <a:pPr algn="ctr" indent="0" marL="0">
              <a:buNone/>
            </a:pPr>
            <a:r>
              <a:rPr lang="en-US" sz="1050" i="1" dirty="0">
                <a:solidFill>
                  <a:srgbClr val="7C8698"/>
                </a:solidFill>
                <a:latin typeface="Calibri" pitchFamily="34" charset="0"/>
                <a:ea typeface="Calibri" pitchFamily="34" charset="-122"/>
                <a:cs typeface="Calibri" pitchFamily="34" charset="-120"/>
              </a:rPr>
              <a:t>No physical hardware is proposed — a software-only, web-based prototype.</a:t>
            </a:r>
            <a:endParaRPr lang="en-US" sz="1050" dirty="0"/>
          </a:p>
        </p:txBody>
      </p:sp>
      <p:sp>
        <p:nvSpPr>
          <p:cNvPr id="6" name="Text 2"/>
          <p:cNvSpPr/>
          <p:nvPr/>
        </p:nvSpPr>
        <p:spPr>
          <a:xfrm>
            <a:off x="457200" y="2212848"/>
            <a:ext cx="8229600" cy="274320"/>
          </a:xfrm>
          <a:prstGeom prst="rect">
            <a:avLst/>
          </a:prstGeom>
          <a:noFill/>
          <a:ln/>
        </p:spPr>
        <p:txBody>
          <a:bodyPr wrap="square" lIns="0" tIns="0" rIns="0" bIns="0" rtlCol="0" anchor="ctr"/>
          <a:lstStyle/>
          <a:p>
            <a:pPr algn="ctr" indent="0" marL="0">
              <a:buNone/>
            </a:pPr>
            <a:r>
              <a:rPr lang="en-US" sz="1300" b="1" dirty="0">
                <a:solidFill>
                  <a:srgbClr val="1C8F89"/>
                </a:solidFill>
                <a:latin typeface="Calibri" pitchFamily="34" charset="0"/>
                <a:ea typeface="Calibri" pitchFamily="34" charset="-122"/>
                <a:cs typeface="Calibri" pitchFamily="34" charset="-120"/>
              </a:rPr>
              <a:t>Theme:  Space Debris Detection, Tracking &amp; Mitigation Planning</a:t>
            </a:r>
            <a:endParaRPr lang="en-US" sz="1300" dirty="0"/>
          </a:p>
        </p:txBody>
      </p:sp>
      <p:sp>
        <p:nvSpPr>
          <p:cNvPr id="7" name="Shape 3"/>
          <p:cNvSpPr/>
          <p:nvPr/>
        </p:nvSpPr>
        <p:spPr>
          <a:xfrm>
            <a:off x="502920" y="2651760"/>
            <a:ext cx="2627376" cy="621792"/>
          </a:xfrm>
          <a:prstGeom prst="roundRect">
            <a:avLst>
              <a:gd name="adj" fmla="val 8824"/>
            </a:avLst>
          </a:prstGeom>
          <a:solidFill>
            <a:srgbClr val="F7F9FC"/>
          </a:solidFill>
          <a:ln w="12700">
            <a:solidFill>
              <a:srgbClr val="D8DEEA"/>
            </a:solidFill>
            <a:prstDash val="solid"/>
          </a:ln>
        </p:spPr>
      </p:sp>
      <p:sp>
        <p:nvSpPr>
          <p:cNvPr id="8" name="Shape 4"/>
          <p:cNvSpPr/>
          <p:nvPr/>
        </p:nvSpPr>
        <p:spPr>
          <a:xfrm>
            <a:off x="612648" y="2761488"/>
            <a:ext cx="82296" cy="82296"/>
          </a:xfrm>
          <a:prstGeom prst="ellipse">
            <a:avLst/>
          </a:prstGeom>
          <a:solidFill>
            <a:srgbClr val="1C8F89"/>
          </a:solidFill>
          <a:ln/>
        </p:spPr>
      </p:sp>
      <p:sp>
        <p:nvSpPr>
          <p:cNvPr id="9" name="Text 5"/>
          <p:cNvSpPr/>
          <p:nvPr/>
        </p:nvSpPr>
        <p:spPr>
          <a:xfrm>
            <a:off x="758952" y="2706624"/>
            <a:ext cx="2261616" cy="274320"/>
          </a:xfrm>
          <a:prstGeom prst="rect">
            <a:avLst/>
          </a:prstGeom>
          <a:noFill/>
          <a:ln/>
        </p:spPr>
        <p:txBody>
          <a:bodyPr wrap="square" lIns="0" tIns="0" rIns="0" bIns="0" rtlCol="0" anchor="ctr"/>
          <a:lstStyle/>
          <a:p>
            <a:pPr indent="0" marL="0">
              <a:buNone/>
            </a:pPr>
            <a:r>
              <a:rPr lang="en-US" sz="950" b="1" dirty="0">
                <a:solidFill>
                  <a:srgbClr val="172B6D"/>
                </a:solidFill>
                <a:latin typeface="Calibri" pitchFamily="34" charset="0"/>
                <a:ea typeface="Calibri" pitchFamily="34" charset="-122"/>
                <a:cs typeface="Calibri" pitchFamily="34" charset="-120"/>
              </a:rPr>
              <a:t>React + TypeScript</a:t>
            </a:r>
            <a:endParaRPr lang="en-US" sz="950" dirty="0"/>
          </a:p>
        </p:txBody>
      </p:sp>
      <p:sp>
        <p:nvSpPr>
          <p:cNvPr id="10" name="Text 6"/>
          <p:cNvSpPr/>
          <p:nvPr/>
        </p:nvSpPr>
        <p:spPr>
          <a:xfrm>
            <a:off x="612648" y="2990088"/>
            <a:ext cx="2407920"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Frontend UI</a:t>
            </a:r>
            <a:endParaRPr lang="en-US" sz="800" dirty="0"/>
          </a:p>
        </p:txBody>
      </p:sp>
      <p:sp>
        <p:nvSpPr>
          <p:cNvPr id="11" name="Shape 7"/>
          <p:cNvSpPr/>
          <p:nvPr/>
        </p:nvSpPr>
        <p:spPr>
          <a:xfrm>
            <a:off x="3258312" y="2651760"/>
            <a:ext cx="2627376" cy="621792"/>
          </a:xfrm>
          <a:prstGeom prst="roundRect">
            <a:avLst>
              <a:gd name="adj" fmla="val 8824"/>
            </a:avLst>
          </a:prstGeom>
          <a:solidFill>
            <a:srgbClr val="F7F9FC"/>
          </a:solidFill>
          <a:ln w="12700">
            <a:solidFill>
              <a:srgbClr val="D8DEEA"/>
            </a:solidFill>
            <a:prstDash val="solid"/>
          </a:ln>
        </p:spPr>
      </p:sp>
      <p:sp>
        <p:nvSpPr>
          <p:cNvPr id="12" name="Shape 8"/>
          <p:cNvSpPr/>
          <p:nvPr/>
        </p:nvSpPr>
        <p:spPr>
          <a:xfrm>
            <a:off x="3368040" y="2761488"/>
            <a:ext cx="82296" cy="82296"/>
          </a:xfrm>
          <a:prstGeom prst="ellipse">
            <a:avLst/>
          </a:prstGeom>
          <a:solidFill>
            <a:srgbClr val="1C8F89"/>
          </a:solidFill>
          <a:ln/>
        </p:spPr>
      </p:sp>
      <p:sp>
        <p:nvSpPr>
          <p:cNvPr id="13" name="Text 9"/>
          <p:cNvSpPr/>
          <p:nvPr/>
        </p:nvSpPr>
        <p:spPr>
          <a:xfrm>
            <a:off x="3514344" y="2706624"/>
            <a:ext cx="2261616" cy="274320"/>
          </a:xfrm>
          <a:prstGeom prst="rect">
            <a:avLst/>
          </a:prstGeom>
          <a:noFill/>
          <a:ln/>
        </p:spPr>
        <p:txBody>
          <a:bodyPr wrap="square" lIns="0" tIns="0" rIns="0" bIns="0" rtlCol="0" anchor="ctr"/>
          <a:lstStyle/>
          <a:p>
            <a:pPr indent="0" marL="0">
              <a:buNone/>
            </a:pPr>
            <a:r>
              <a:rPr lang="en-US" sz="950" b="1" dirty="0">
                <a:solidFill>
                  <a:srgbClr val="172B6D"/>
                </a:solidFill>
                <a:latin typeface="Calibri" pitchFamily="34" charset="0"/>
                <a:ea typeface="Calibri" pitchFamily="34" charset="-122"/>
                <a:cs typeface="Calibri" pitchFamily="34" charset="-120"/>
              </a:rPr>
              <a:t>CesiumJS</a:t>
            </a:r>
            <a:endParaRPr lang="en-US" sz="950" dirty="0"/>
          </a:p>
        </p:txBody>
      </p:sp>
      <p:sp>
        <p:nvSpPr>
          <p:cNvPr id="14" name="Text 10"/>
          <p:cNvSpPr/>
          <p:nvPr/>
        </p:nvSpPr>
        <p:spPr>
          <a:xfrm>
            <a:off x="3368040" y="2990088"/>
            <a:ext cx="2407920"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3D orbital visualization</a:t>
            </a:r>
            <a:endParaRPr lang="en-US" sz="800" dirty="0"/>
          </a:p>
        </p:txBody>
      </p:sp>
      <p:sp>
        <p:nvSpPr>
          <p:cNvPr id="15" name="Shape 11"/>
          <p:cNvSpPr/>
          <p:nvPr/>
        </p:nvSpPr>
        <p:spPr>
          <a:xfrm>
            <a:off x="6013704" y="2651760"/>
            <a:ext cx="2627376" cy="621792"/>
          </a:xfrm>
          <a:prstGeom prst="roundRect">
            <a:avLst>
              <a:gd name="adj" fmla="val 8824"/>
            </a:avLst>
          </a:prstGeom>
          <a:solidFill>
            <a:srgbClr val="F7F9FC"/>
          </a:solidFill>
          <a:ln w="12700">
            <a:solidFill>
              <a:srgbClr val="D8DEEA"/>
            </a:solidFill>
            <a:prstDash val="solid"/>
          </a:ln>
        </p:spPr>
      </p:sp>
      <p:sp>
        <p:nvSpPr>
          <p:cNvPr id="16" name="Shape 12"/>
          <p:cNvSpPr/>
          <p:nvPr/>
        </p:nvSpPr>
        <p:spPr>
          <a:xfrm>
            <a:off x="6123432" y="2761488"/>
            <a:ext cx="82296" cy="82296"/>
          </a:xfrm>
          <a:prstGeom prst="ellipse">
            <a:avLst/>
          </a:prstGeom>
          <a:solidFill>
            <a:srgbClr val="1C8F89"/>
          </a:solidFill>
          <a:ln/>
        </p:spPr>
      </p:sp>
      <p:sp>
        <p:nvSpPr>
          <p:cNvPr id="17" name="Text 13"/>
          <p:cNvSpPr/>
          <p:nvPr/>
        </p:nvSpPr>
        <p:spPr>
          <a:xfrm>
            <a:off x="6269736" y="2706624"/>
            <a:ext cx="2261616" cy="274320"/>
          </a:xfrm>
          <a:prstGeom prst="rect">
            <a:avLst/>
          </a:prstGeom>
          <a:noFill/>
          <a:ln/>
        </p:spPr>
        <p:txBody>
          <a:bodyPr wrap="square" lIns="0" tIns="0" rIns="0" bIns="0" rtlCol="0" anchor="ctr"/>
          <a:lstStyle/>
          <a:p>
            <a:pPr indent="0" marL="0">
              <a:buNone/>
            </a:pPr>
            <a:r>
              <a:rPr lang="en-US" sz="950" b="1" dirty="0">
                <a:solidFill>
                  <a:srgbClr val="172B6D"/>
                </a:solidFill>
                <a:latin typeface="Calibri" pitchFamily="34" charset="0"/>
                <a:ea typeface="Calibri" pitchFamily="34" charset="-122"/>
                <a:cs typeface="Calibri" pitchFamily="34" charset="-120"/>
              </a:rPr>
              <a:t>Python + FastAPI</a:t>
            </a:r>
            <a:endParaRPr lang="en-US" sz="950" dirty="0"/>
          </a:p>
        </p:txBody>
      </p:sp>
      <p:sp>
        <p:nvSpPr>
          <p:cNvPr id="18" name="Text 14"/>
          <p:cNvSpPr/>
          <p:nvPr/>
        </p:nvSpPr>
        <p:spPr>
          <a:xfrm>
            <a:off x="6123432" y="2990088"/>
            <a:ext cx="2407920"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Backend services</a:t>
            </a:r>
            <a:endParaRPr lang="en-US" sz="800" dirty="0"/>
          </a:p>
        </p:txBody>
      </p:sp>
      <p:sp>
        <p:nvSpPr>
          <p:cNvPr id="19" name="Shape 15"/>
          <p:cNvSpPr/>
          <p:nvPr/>
        </p:nvSpPr>
        <p:spPr>
          <a:xfrm>
            <a:off x="502920" y="3401568"/>
            <a:ext cx="2627376" cy="621792"/>
          </a:xfrm>
          <a:prstGeom prst="roundRect">
            <a:avLst>
              <a:gd name="adj" fmla="val 8824"/>
            </a:avLst>
          </a:prstGeom>
          <a:solidFill>
            <a:srgbClr val="F7F9FC"/>
          </a:solidFill>
          <a:ln w="12700">
            <a:solidFill>
              <a:srgbClr val="D8DEEA"/>
            </a:solidFill>
            <a:prstDash val="solid"/>
          </a:ln>
        </p:spPr>
      </p:sp>
      <p:sp>
        <p:nvSpPr>
          <p:cNvPr id="20" name="Shape 16"/>
          <p:cNvSpPr/>
          <p:nvPr/>
        </p:nvSpPr>
        <p:spPr>
          <a:xfrm>
            <a:off x="612648" y="3511296"/>
            <a:ext cx="82296" cy="82296"/>
          </a:xfrm>
          <a:prstGeom prst="ellipse">
            <a:avLst/>
          </a:prstGeom>
          <a:solidFill>
            <a:srgbClr val="1C8F89"/>
          </a:solidFill>
          <a:ln/>
        </p:spPr>
      </p:sp>
      <p:sp>
        <p:nvSpPr>
          <p:cNvPr id="21" name="Text 17"/>
          <p:cNvSpPr/>
          <p:nvPr/>
        </p:nvSpPr>
        <p:spPr>
          <a:xfrm>
            <a:off x="758952" y="3456432"/>
            <a:ext cx="2261616" cy="274320"/>
          </a:xfrm>
          <a:prstGeom prst="rect">
            <a:avLst/>
          </a:prstGeom>
          <a:noFill/>
          <a:ln/>
        </p:spPr>
        <p:txBody>
          <a:bodyPr wrap="square" lIns="0" tIns="0" rIns="0" bIns="0" rtlCol="0" anchor="ctr"/>
          <a:lstStyle/>
          <a:p>
            <a:pPr indent="0" marL="0">
              <a:buNone/>
            </a:pPr>
            <a:r>
              <a:rPr lang="en-US" sz="950" b="1" dirty="0">
                <a:solidFill>
                  <a:srgbClr val="172B6D"/>
                </a:solidFill>
                <a:latin typeface="Calibri" pitchFamily="34" charset="0"/>
                <a:ea typeface="Calibri" pitchFamily="34" charset="-122"/>
                <a:cs typeface="Calibri" pitchFamily="34" charset="-120"/>
              </a:rPr>
              <a:t>NumPy / SciPy</a:t>
            </a:r>
            <a:endParaRPr lang="en-US" sz="950" dirty="0"/>
          </a:p>
        </p:txBody>
      </p:sp>
      <p:sp>
        <p:nvSpPr>
          <p:cNvPr id="22" name="Text 18"/>
          <p:cNvSpPr/>
          <p:nvPr/>
        </p:nvSpPr>
        <p:spPr>
          <a:xfrm>
            <a:off x="612648" y="3739896"/>
            <a:ext cx="2407920"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Numerical propagation</a:t>
            </a:r>
            <a:endParaRPr lang="en-US" sz="800" dirty="0"/>
          </a:p>
        </p:txBody>
      </p:sp>
      <p:sp>
        <p:nvSpPr>
          <p:cNvPr id="23" name="Shape 19"/>
          <p:cNvSpPr/>
          <p:nvPr/>
        </p:nvSpPr>
        <p:spPr>
          <a:xfrm>
            <a:off x="3258312" y="3401568"/>
            <a:ext cx="2627376" cy="621792"/>
          </a:xfrm>
          <a:prstGeom prst="roundRect">
            <a:avLst>
              <a:gd name="adj" fmla="val 8824"/>
            </a:avLst>
          </a:prstGeom>
          <a:solidFill>
            <a:srgbClr val="F7F9FC"/>
          </a:solidFill>
          <a:ln w="12700">
            <a:solidFill>
              <a:srgbClr val="D8DEEA"/>
            </a:solidFill>
            <a:prstDash val="solid"/>
          </a:ln>
        </p:spPr>
      </p:sp>
      <p:sp>
        <p:nvSpPr>
          <p:cNvPr id="24" name="Shape 20"/>
          <p:cNvSpPr/>
          <p:nvPr/>
        </p:nvSpPr>
        <p:spPr>
          <a:xfrm>
            <a:off x="3368040" y="3511296"/>
            <a:ext cx="82296" cy="82296"/>
          </a:xfrm>
          <a:prstGeom prst="ellipse">
            <a:avLst/>
          </a:prstGeom>
          <a:solidFill>
            <a:srgbClr val="1C8F89"/>
          </a:solidFill>
          <a:ln/>
        </p:spPr>
      </p:sp>
      <p:sp>
        <p:nvSpPr>
          <p:cNvPr id="25" name="Text 21"/>
          <p:cNvSpPr/>
          <p:nvPr/>
        </p:nvSpPr>
        <p:spPr>
          <a:xfrm>
            <a:off x="3514344" y="3456432"/>
            <a:ext cx="2261616" cy="274320"/>
          </a:xfrm>
          <a:prstGeom prst="rect">
            <a:avLst/>
          </a:prstGeom>
          <a:noFill/>
          <a:ln/>
        </p:spPr>
        <p:txBody>
          <a:bodyPr wrap="square" lIns="0" tIns="0" rIns="0" bIns="0" rtlCol="0" anchor="ctr"/>
          <a:lstStyle/>
          <a:p>
            <a:pPr indent="0" marL="0">
              <a:buNone/>
            </a:pPr>
            <a:r>
              <a:rPr lang="en-US" sz="950" b="1" dirty="0">
                <a:solidFill>
                  <a:srgbClr val="172B6D"/>
                </a:solidFill>
                <a:latin typeface="Calibri" pitchFamily="34" charset="0"/>
                <a:ea typeface="Calibri" pitchFamily="34" charset="-122"/>
                <a:cs typeface="Calibri" pitchFamily="34" charset="-120"/>
              </a:rPr>
              <a:t>TLE-Compatible Propagation</a:t>
            </a:r>
            <a:endParaRPr lang="en-US" sz="950" dirty="0"/>
          </a:p>
        </p:txBody>
      </p:sp>
      <p:sp>
        <p:nvSpPr>
          <p:cNvPr id="26" name="Text 22"/>
          <p:cNvSpPr/>
          <p:nvPr/>
        </p:nvSpPr>
        <p:spPr>
          <a:xfrm>
            <a:off x="3368040" y="3739896"/>
            <a:ext cx="2407920"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Astrodynamics</a:t>
            </a:r>
            <a:endParaRPr lang="en-US" sz="800" dirty="0"/>
          </a:p>
        </p:txBody>
      </p:sp>
      <p:sp>
        <p:nvSpPr>
          <p:cNvPr id="27" name="Shape 23"/>
          <p:cNvSpPr/>
          <p:nvPr/>
        </p:nvSpPr>
        <p:spPr>
          <a:xfrm>
            <a:off x="6013704" y="3401568"/>
            <a:ext cx="2627376" cy="621792"/>
          </a:xfrm>
          <a:prstGeom prst="roundRect">
            <a:avLst>
              <a:gd name="adj" fmla="val 8824"/>
            </a:avLst>
          </a:prstGeom>
          <a:solidFill>
            <a:srgbClr val="F7F9FC"/>
          </a:solidFill>
          <a:ln w="12700">
            <a:solidFill>
              <a:srgbClr val="D8DEEA"/>
            </a:solidFill>
            <a:prstDash val="solid"/>
          </a:ln>
        </p:spPr>
      </p:sp>
      <p:sp>
        <p:nvSpPr>
          <p:cNvPr id="28" name="Shape 24"/>
          <p:cNvSpPr/>
          <p:nvPr/>
        </p:nvSpPr>
        <p:spPr>
          <a:xfrm>
            <a:off x="6123432" y="3511296"/>
            <a:ext cx="82296" cy="82296"/>
          </a:xfrm>
          <a:prstGeom prst="ellipse">
            <a:avLst/>
          </a:prstGeom>
          <a:solidFill>
            <a:srgbClr val="1C8F89"/>
          </a:solidFill>
          <a:ln/>
        </p:spPr>
      </p:sp>
      <p:sp>
        <p:nvSpPr>
          <p:cNvPr id="29" name="Text 25"/>
          <p:cNvSpPr/>
          <p:nvPr/>
        </p:nvSpPr>
        <p:spPr>
          <a:xfrm>
            <a:off x="6269736" y="3456432"/>
            <a:ext cx="2261616" cy="274320"/>
          </a:xfrm>
          <a:prstGeom prst="rect">
            <a:avLst/>
          </a:prstGeom>
          <a:noFill/>
          <a:ln/>
        </p:spPr>
        <p:txBody>
          <a:bodyPr wrap="square" lIns="0" tIns="0" rIns="0" bIns="0" rtlCol="0" anchor="ctr"/>
          <a:lstStyle/>
          <a:p>
            <a:pPr indent="0" marL="0">
              <a:buNone/>
            </a:pPr>
            <a:r>
              <a:rPr lang="en-US" sz="950" b="1" dirty="0">
                <a:solidFill>
                  <a:srgbClr val="172B6D"/>
                </a:solidFill>
                <a:latin typeface="Calibri" pitchFamily="34" charset="0"/>
                <a:ea typeface="Calibri" pitchFamily="34" charset="-122"/>
                <a:cs typeface="Calibri" pitchFamily="34" charset="-120"/>
              </a:rPr>
              <a:t>PostgreSQL / SQLite</a:t>
            </a:r>
            <a:endParaRPr lang="en-US" sz="950" dirty="0"/>
          </a:p>
        </p:txBody>
      </p:sp>
      <p:sp>
        <p:nvSpPr>
          <p:cNvPr id="30" name="Text 26"/>
          <p:cNvSpPr/>
          <p:nvPr/>
        </p:nvSpPr>
        <p:spPr>
          <a:xfrm>
            <a:off x="6123432" y="3739896"/>
            <a:ext cx="2407920"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Data store</a:t>
            </a:r>
            <a:endParaRPr lang="en-US" sz="800" dirty="0"/>
          </a:p>
        </p:txBody>
      </p:sp>
      <p:sp>
        <p:nvSpPr>
          <p:cNvPr id="31" name="Text 27"/>
          <p:cNvSpPr/>
          <p:nvPr/>
        </p:nvSpPr>
        <p:spPr>
          <a:xfrm>
            <a:off x="548640" y="4206240"/>
            <a:ext cx="8046720" cy="274320"/>
          </a:xfrm>
          <a:prstGeom prst="rect">
            <a:avLst/>
          </a:prstGeom>
          <a:noFill/>
          <a:ln/>
        </p:spPr>
        <p:txBody>
          <a:bodyPr wrap="square" lIns="0" tIns="0" rIns="0" bIns="0" rtlCol="0" anchor="ctr"/>
          <a:lstStyle/>
          <a:p>
            <a:pPr algn="ctr" indent="0" marL="0">
              <a:buNone/>
            </a:pPr>
            <a:r>
              <a:rPr lang="en-US" sz="950" i="1" dirty="0">
                <a:solidFill>
                  <a:srgbClr val="B8720A"/>
                </a:solidFill>
                <a:latin typeface="Calibri" pitchFamily="34" charset="0"/>
                <a:ea typeface="Calibri" pitchFamily="34" charset="-122"/>
                <a:cs typeface="Calibri" pitchFamily="34" charset="-120"/>
              </a:rPr>
              <a:t>Physics-grounded, uncertainty-aware decision support — NOT an autonomous spacecraft controller.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432560"/>
            <a:ext cx="9144000" cy="266700"/>
          </a:xfrm>
          <a:prstGeom prst="rect">
            <a:avLst/>
          </a:prstGeom>
          <a:noFill/>
          <a:ln/>
        </p:spPr>
        <p:txBody>
          <a:bodyPr wrap="square" lIns="0" tIns="0" rIns="0" bIns="0" rtlCol="0" anchor="ctr"/>
          <a:lstStyle/>
          <a:p>
            <a:pPr algn="ctr" indent="0" marL="0">
              <a:buNone/>
            </a:pPr>
            <a:r>
              <a:rPr lang="en-US" sz="2100" b="1" dirty="0">
                <a:solidFill>
                  <a:srgbClr val="172B6D"/>
                </a:solidFill>
                <a:latin typeface="Arial" pitchFamily="34" charset="0"/>
                <a:ea typeface="Arial" pitchFamily="34" charset="-122"/>
                <a:cs typeface="Arial" pitchFamily="34" charset="-120"/>
              </a:rPr>
              <a:t>PROBLEM STATEMENT</a:t>
            </a:r>
            <a:endParaRPr lang="en-US" sz="2100" dirty="0"/>
          </a:p>
        </p:txBody>
      </p:sp>
      <p:sp>
        <p:nvSpPr>
          <p:cNvPr id="5" name="Text 1"/>
          <p:cNvSpPr/>
          <p:nvPr/>
        </p:nvSpPr>
        <p:spPr>
          <a:xfrm>
            <a:off x="502920" y="1938528"/>
            <a:ext cx="8138160" cy="566928"/>
          </a:xfrm>
          <a:prstGeom prst="rect">
            <a:avLst/>
          </a:prstGeom>
          <a:noFill/>
          <a:ln/>
        </p:spPr>
        <p:txBody>
          <a:bodyPr wrap="square" lIns="0" tIns="0" rIns="0" bIns="0" rtlCol="0" anchor="ctr"/>
          <a:lstStyle/>
          <a:p>
            <a:pPr algn="ctr" indent="0" marL="0">
              <a:lnSpc>
                <a:spcPts val="1300"/>
              </a:lnSpc>
              <a:buNone/>
            </a:pPr>
            <a:r>
              <a:rPr lang="en-US" sz="1050" dirty="0">
                <a:solidFill>
                  <a:srgbClr val="545454"/>
                </a:solidFill>
                <a:latin typeface="Calibri" pitchFamily="34" charset="0"/>
                <a:ea typeface="Calibri" pitchFamily="34" charset="-122"/>
                <a:cs typeface="Calibri" pitchFamily="34" charset="-120"/>
              </a:rPr>
              <a:t>Increasing inactive satellites, rocket bodies and fragments create growing safety challenges in orbit. Operational spacecraft require reliable tracking, trajectory estimation and close-approach risk assessment.</a:t>
            </a:r>
            <a:endParaRPr lang="en-US" sz="1050" dirty="0"/>
          </a:p>
        </p:txBody>
      </p:sp>
      <p:sp>
        <p:nvSpPr>
          <p:cNvPr id="6" name="Shape 2"/>
          <p:cNvSpPr/>
          <p:nvPr/>
        </p:nvSpPr>
        <p:spPr>
          <a:xfrm>
            <a:off x="1728216" y="2578608"/>
            <a:ext cx="1207008" cy="274320"/>
          </a:xfrm>
          <a:prstGeom prst="roundRect">
            <a:avLst>
              <a:gd name="adj" fmla="val 50000"/>
            </a:avLst>
          </a:prstGeom>
          <a:solidFill>
            <a:srgbClr val="E7F4F3"/>
          </a:solidFill>
          <a:ln w="9525">
            <a:solidFill>
              <a:srgbClr val="1C8F89"/>
            </a:solidFill>
            <a:prstDash val="solid"/>
          </a:ln>
        </p:spPr>
      </p:sp>
      <p:sp>
        <p:nvSpPr>
          <p:cNvPr id="7" name="Text 3"/>
          <p:cNvSpPr/>
          <p:nvPr/>
        </p:nvSpPr>
        <p:spPr>
          <a:xfrm>
            <a:off x="1728216" y="2578608"/>
            <a:ext cx="1207008" cy="274320"/>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Debris Tracking</a:t>
            </a:r>
            <a:endParaRPr lang="en-US" sz="800" dirty="0"/>
          </a:p>
        </p:txBody>
      </p:sp>
      <p:sp>
        <p:nvSpPr>
          <p:cNvPr id="8" name="Shape 4"/>
          <p:cNvSpPr/>
          <p:nvPr/>
        </p:nvSpPr>
        <p:spPr>
          <a:xfrm>
            <a:off x="3063240" y="2578608"/>
            <a:ext cx="1417320" cy="274320"/>
          </a:xfrm>
          <a:prstGeom prst="roundRect">
            <a:avLst>
              <a:gd name="adj" fmla="val 50000"/>
            </a:avLst>
          </a:prstGeom>
          <a:solidFill>
            <a:srgbClr val="E7F4F3"/>
          </a:solidFill>
          <a:ln w="9525">
            <a:solidFill>
              <a:srgbClr val="1C8F89"/>
            </a:solidFill>
            <a:prstDash val="solid"/>
          </a:ln>
        </p:spPr>
      </p:sp>
      <p:sp>
        <p:nvSpPr>
          <p:cNvPr id="9" name="Text 5"/>
          <p:cNvSpPr/>
          <p:nvPr/>
        </p:nvSpPr>
        <p:spPr>
          <a:xfrm>
            <a:off x="3063240" y="2578608"/>
            <a:ext cx="1417320" cy="274320"/>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Trajectory Estimation</a:t>
            </a:r>
            <a:endParaRPr lang="en-US" sz="800" dirty="0"/>
          </a:p>
        </p:txBody>
      </p:sp>
      <p:sp>
        <p:nvSpPr>
          <p:cNvPr id="10" name="Shape 6"/>
          <p:cNvSpPr/>
          <p:nvPr/>
        </p:nvSpPr>
        <p:spPr>
          <a:xfrm>
            <a:off x="4608576" y="2578608"/>
            <a:ext cx="1508760" cy="274320"/>
          </a:xfrm>
          <a:prstGeom prst="roundRect">
            <a:avLst>
              <a:gd name="adj" fmla="val 50000"/>
            </a:avLst>
          </a:prstGeom>
          <a:solidFill>
            <a:srgbClr val="E7F4F3"/>
          </a:solidFill>
          <a:ln w="9525">
            <a:solidFill>
              <a:srgbClr val="1C8F89"/>
            </a:solidFill>
            <a:prstDash val="solid"/>
          </a:ln>
        </p:spPr>
      </p:sp>
      <p:sp>
        <p:nvSpPr>
          <p:cNvPr id="11" name="Text 7"/>
          <p:cNvSpPr/>
          <p:nvPr/>
        </p:nvSpPr>
        <p:spPr>
          <a:xfrm>
            <a:off x="4608576" y="2578608"/>
            <a:ext cx="1508760" cy="274320"/>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Close-Approach Analysis</a:t>
            </a:r>
            <a:endParaRPr lang="en-US" sz="800" dirty="0"/>
          </a:p>
        </p:txBody>
      </p:sp>
      <p:sp>
        <p:nvSpPr>
          <p:cNvPr id="12" name="Shape 8"/>
          <p:cNvSpPr/>
          <p:nvPr/>
        </p:nvSpPr>
        <p:spPr>
          <a:xfrm>
            <a:off x="6245352" y="2578608"/>
            <a:ext cx="1170432" cy="274320"/>
          </a:xfrm>
          <a:prstGeom prst="roundRect">
            <a:avLst>
              <a:gd name="adj" fmla="val 50000"/>
            </a:avLst>
          </a:prstGeom>
          <a:solidFill>
            <a:srgbClr val="E7F4F3"/>
          </a:solidFill>
          <a:ln w="9525">
            <a:solidFill>
              <a:srgbClr val="1C8F89"/>
            </a:solidFill>
            <a:prstDash val="solid"/>
          </a:ln>
        </p:spPr>
      </p:sp>
      <p:sp>
        <p:nvSpPr>
          <p:cNvPr id="13" name="Text 9"/>
          <p:cNvSpPr/>
          <p:nvPr/>
        </p:nvSpPr>
        <p:spPr>
          <a:xfrm>
            <a:off x="6245352" y="2578608"/>
            <a:ext cx="1170432" cy="274320"/>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Risk Estimation</a:t>
            </a:r>
            <a:endParaRPr lang="en-US" sz="800" dirty="0"/>
          </a:p>
        </p:txBody>
      </p:sp>
      <p:sp>
        <p:nvSpPr>
          <p:cNvPr id="14" name="Shape 10"/>
          <p:cNvSpPr/>
          <p:nvPr/>
        </p:nvSpPr>
        <p:spPr>
          <a:xfrm>
            <a:off x="457200" y="3035808"/>
            <a:ext cx="5120640" cy="1554480"/>
          </a:xfrm>
          <a:prstGeom prst="roundRect">
            <a:avLst>
              <a:gd name="adj" fmla="val 4118"/>
            </a:avLst>
          </a:prstGeom>
          <a:solidFill>
            <a:srgbClr val="F7F9FC"/>
          </a:solidFill>
          <a:ln w="12700">
            <a:solidFill>
              <a:srgbClr val="D8DEEA"/>
            </a:solidFill>
            <a:prstDash val="solid"/>
          </a:ln>
        </p:spPr>
      </p:sp>
      <p:sp>
        <p:nvSpPr>
          <p:cNvPr id="15" name="Shape 11"/>
          <p:cNvSpPr/>
          <p:nvPr/>
        </p:nvSpPr>
        <p:spPr>
          <a:xfrm>
            <a:off x="640080" y="3200400"/>
            <a:ext cx="109728" cy="109728"/>
          </a:xfrm>
          <a:prstGeom prst="ellipse">
            <a:avLst/>
          </a:prstGeom>
          <a:solidFill>
            <a:srgbClr val="B8720A"/>
          </a:solidFill>
          <a:ln/>
        </p:spPr>
      </p:sp>
      <p:sp>
        <p:nvSpPr>
          <p:cNvPr id="16" name="Text 12"/>
          <p:cNvSpPr/>
          <p:nvPr/>
        </p:nvSpPr>
        <p:spPr>
          <a:xfrm>
            <a:off x="822960" y="3145536"/>
            <a:ext cx="4572000" cy="237744"/>
          </a:xfrm>
          <a:prstGeom prst="rect">
            <a:avLst/>
          </a:prstGeom>
          <a:noFill/>
          <a:ln/>
        </p:spPr>
        <p:txBody>
          <a:bodyPr wrap="square" lIns="0" tIns="0" rIns="0" bIns="0" rtlCol="0" anchor="ctr"/>
          <a:lstStyle/>
          <a:p>
            <a:pPr indent="0" marL="0">
              <a:buNone/>
            </a:pPr>
            <a:r>
              <a:rPr lang="en-US" sz="950" b="1" dirty="0">
                <a:solidFill>
                  <a:srgbClr val="B8720A"/>
                </a:solidFill>
                <a:latin typeface="Calibri" pitchFamily="34" charset="0"/>
                <a:ea typeface="Calibri" pitchFamily="34" charset="-122"/>
                <a:cs typeface="Calibri" pitchFamily="34" charset="-120"/>
              </a:rPr>
              <a:t>THE DECISION GAP</a:t>
            </a:r>
            <a:endParaRPr lang="en-US" sz="950" dirty="0"/>
          </a:p>
        </p:txBody>
      </p:sp>
      <p:sp>
        <p:nvSpPr>
          <p:cNvPr id="17" name="Text 13"/>
          <p:cNvSpPr/>
          <p:nvPr/>
        </p:nvSpPr>
        <p:spPr>
          <a:xfrm>
            <a:off x="640080" y="3456432"/>
            <a:ext cx="4754880" cy="1005840"/>
          </a:xfrm>
          <a:prstGeom prst="rect">
            <a:avLst/>
          </a:prstGeom>
          <a:noFill/>
          <a:ln/>
        </p:spPr>
        <p:txBody>
          <a:bodyPr wrap="square" lIns="0" tIns="0" rIns="0" bIns="0" rtlCol="0" anchor="ctr"/>
          <a:lstStyle/>
          <a:p>
            <a:pPr indent="0" marL="0">
              <a:lnSpc>
                <a:spcPts val="1300"/>
              </a:lnSpc>
              <a:buNone/>
            </a:pPr>
            <a:r>
              <a:rPr lang="en-US" sz="950" dirty="0">
                <a:solidFill>
                  <a:srgbClr val="545454"/>
                </a:solidFill>
                <a:latin typeface="Calibri" pitchFamily="34" charset="0"/>
                <a:ea typeface="Calibri" pitchFamily="34" charset="-122"/>
                <a:cs typeface="Calibri" pitchFamily="34" charset="-120"/>
              </a:rPr>
              <a:t>A single nominal trajectory or risk value may not fully communicate how uncertainty, possible mitigation actions, multiple debris objects and different future horizons affect the decision.</a:t>
            </a:r>
            <a:endParaRPr lang="en-US" sz="950" dirty="0"/>
          </a:p>
        </p:txBody>
      </p:sp>
      <p:sp>
        <p:nvSpPr>
          <p:cNvPr id="18" name="Shape 14"/>
          <p:cNvSpPr/>
          <p:nvPr/>
        </p:nvSpPr>
        <p:spPr>
          <a:xfrm>
            <a:off x="5760720" y="3035808"/>
            <a:ext cx="2926080" cy="1554480"/>
          </a:xfrm>
          <a:prstGeom prst="roundRect">
            <a:avLst>
              <a:gd name="adj" fmla="val 4118"/>
            </a:avLst>
          </a:prstGeom>
          <a:solidFill>
            <a:srgbClr val="172B6D"/>
          </a:solidFill>
          <a:ln/>
        </p:spPr>
      </p:sp>
      <p:sp>
        <p:nvSpPr>
          <p:cNvPr id="19" name="Text 15"/>
          <p:cNvSpPr/>
          <p:nvPr/>
        </p:nvSpPr>
        <p:spPr>
          <a:xfrm>
            <a:off x="5943600" y="3163824"/>
            <a:ext cx="2560320" cy="201168"/>
          </a:xfrm>
          <a:prstGeom prst="rect">
            <a:avLst/>
          </a:prstGeom>
          <a:noFill/>
          <a:ln/>
        </p:spPr>
        <p:txBody>
          <a:bodyPr wrap="square" lIns="0" tIns="0" rIns="0" bIns="0" rtlCol="0" anchor="ctr"/>
          <a:lstStyle/>
          <a:p>
            <a:pPr indent="0" marL="0">
              <a:buNone/>
            </a:pPr>
            <a:r>
              <a:rPr lang="en-US" sz="850" dirty="0">
                <a:solidFill>
                  <a:srgbClr val="AFC0E8"/>
                </a:solidFill>
                <a:latin typeface="Calibri" pitchFamily="34" charset="0"/>
                <a:ea typeface="Calibri" pitchFamily="34" charset="-122"/>
                <a:cs typeface="Calibri" pitchFamily="34" charset="-120"/>
              </a:rPr>
              <a:t>RISK INDEX</a:t>
            </a:r>
            <a:endParaRPr lang="en-US" sz="850" dirty="0"/>
          </a:p>
        </p:txBody>
      </p:sp>
      <p:sp>
        <p:nvSpPr>
          <p:cNvPr id="20" name="Text 16"/>
          <p:cNvSpPr/>
          <p:nvPr/>
        </p:nvSpPr>
        <p:spPr>
          <a:xfrm>
            <a:off x="5943600" y="3346704"/>
            <a:ext cx="2560320" cy="512064"/>
          </a:xfrm>
          <a:prstGeom prst="rect">
            <a:avLst/>
          </a:prstGeom>
          <a:noFill/>
          <a:ln/>
        </p:spPr>
        <p:txBody>
          <a:bodyPr wrap="square" lIns="0" tIns="0" rIns="0" bIns="0" rtlCol="0" anchor="ctr"/>
          <a:lstStyle/>
          <a:p>
            <a:pPr indent="0" marL="0">
              <a:buNone/>
            </a:pPr>
            <a:r>
              <a:rPr lang="en-US" sz="3400" b="1" dirty="0">
                <a:solidFill>
                  <a:srgbClr val="FF8A7A"/>
                </a:solidFill>
                <a:latin typeface="Arial" pitchFamily="34" charset="0"/>
                <a:ea typeface="Arial" pitchFamily="34" charset="-122"/>
                <a:cs typeface="Arial" pitchFamily="34" charset="-120"/>
              </a:rPr>
              <a:t>0.78</a:t>
            </a:r>
            <a:endParaRPr lang="en-US" sz="3400" dirty="0"/>
          </a:p>
        </p:txBody>
      </p:sp>
      <p:sp>
        <p:nvSpPr>
          <p:cNvPr id="21" name="Text 17"/>
          <p:cNvSpPr/>
          <p:nvPr/>
        </p:nvSpPr>
        <p:spPr>
          <a:xfrm>
            <a:off x="5943600" y="3877056"/>
            <a:ext cx="2560320" cy="201168"/>
          </a:xfrm>
          <a:prstGeom prst="rect">
            <a:avLst/>
          </a:prstGeom>
          <a:noFill/>
          <a:ln/>
        </p:spPr>
        <p:txBody>
          <a:bodyPr wrap="square" lIns="0" tIns="0" rIns="0" bIns="0" rtlCol="0" anchor="ctr"/>
          <a:lstStyle/>
          <a:p>
            <a:pPr indent="0" marL="0">
              <a:buNone/>
            </a:pPr>
            <a:r>
              <a:rPr lang="en-US" sz="900" b="1" dirty="0">
                <a:solidFill>
                  <a:srgbClr val="FF8A7A"/>
                </a:solidFill>
                <a:latin typeface="Calibri" pitchFamily="34" charset="0"/>
                <a:ea typeface="Calibri" pitchFamily="34" charset="-122"/>
                <a:cs typeface="Calibri" pitchFamily="34" charset="-120"/>
              </a:rPr>
              <a:t>THREAT: HIGH</a:t>
            </a:r>
            <a:endParaRPr lang="en-US" sz="900" dirty="0"/>
          </a:p>
        </p:txBody>
      </p:sp>
      <p:sp>
        <p:nvSpPr>
          <p:cNvPr id="22" name="Text 18"/>
          <p:cNvSpPr/>
          <p:nvPr/>
        </p:nvSpPr>
        <p:spPr>
          <a:xfrm>
            <a:off x="5943600" y="4151376"/>
            <a:ext cx="2560320" cy="384048"/>
          </a:xfrm>
          <a:prstGeom prst="rect">
            <a:avLst/>
          </a:prstGeom>
          <a:noFill/>
          <a:ln/>
        </p:spPr>
        <p:txBody>
          <a:bodyPr wrap="square" lIns="0" tIns="0" rIns="0" bIns="0" rtlCol="0" anchor="ctr"/>
          <a:lstStyle/>
          <a:p>
            <a:pPr indent="0" marL="0">
              <a:lnSpc>
                <a:spcPts val="1200"/>
              </a:lnSpc>
              <a:buNone/>
            </a:pPr>
            <a:r>
              <a:rPr lang="en-US" sz="1100" b="1" dirty="0">
                <a:solidFill>
                  <a:srgbClr val="FFFFFF"/>
                </a:solidFill>
                <a:latin typeface="Arial" pitchFamily="34" charset="0"/>
                <a:ea typeface="Arial" pitchFamily="34" charset="-122"/>
                <a:cs typeface="Arial" pitchFamily="34" charset="-120"/>
              </a:rPr>
              <a:t>What happens</a:t>
            </a:r>
            <a:endParaRPr lang="en-US" sz="1100" dirty="0"/>
          </a:p>
          <a:p>
            <a:pPr indent="0" marL="0">
              <a:lnSpc>
                <a:spcPts val="1200"/>
              </a:lnSpc>
              <a:buNone/>
            </a:pPr>
            <a:r>
              <a:rPr lang="en-US" sz="1100" b="1" dirty="0">
                <a:solidFill>
                  <a:srgbClr val="FFFFFF"/>
                </a:solidFill>
                <a:latin typeface="Arial" pitchFamily="34" charset="0"/>
                <a:ea typeface="Arial" pitchFamily="34" charset="-122"/>
                <a:cs typeface="Arial" pitchFamily="34" charset="-120"/>
              </a:rPr>
              <a:t>after the alert?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432560"/>
            <a:ext cx="9144000" cy="266700"/>
          </a:xfrm>
          <a:prstGeom prst="rect">
            <a:avLst/>
          </a:prstGeom>
          <a:noFill/>
          <a:ln/>
        </p:spPr>
        <p:txBody>
          <a:bodyPr wrap="square" lIns="0" tIns="0" rIns="0" bIns="0" rtlCol="0" anchor="ctr"/>
          <a:lstStyle/>
          <a:p>
            <a:pPr algn="ctr" indent="0" marL="0">
              <a:buNone/>
            </a:pPr>
            <a:r>
              <a:rPr lang="en-US" sz="2100" b="1" dirty="0">
                <a:solidFill>
                  <a:srgbClr val="172B6D"/>
                </a:solidFill>
                <a:latin typeface="Arial" pitchFamily="34" charset="0"/>
                <a:ea typeface="Arial" pitchFamily="34" charset="-122"/>
                <a:cs typeface="Arial" pitchFamily="34" charset="-120"/>
              </a:rPr>
              <a:t>PROPOSED SOLUTION</a:t>
            </a:r>
            <a:endParaRPr lang="en-US" sz="2100" dirty="0"/>
          </a:p>
        </p:txBody>
      </p:sp>
      <p:sp>
        <p:nvSpPr>
          <p:cNvPr id="5" name="Shape 1"/>
          <p:cNvSpPr/>
          <p:nvPr/>
        </p:nvSpPr>
        <p:spPr>
          <a:xfrm>
            <a:off x="457200" y="1965960"/>
            <a:ext cx="1550822" cy="1965960"/>
          </a:xfrm>
          <a:prstGeom prst="roundRect">
            <a:avLst>
              <a:gd name="adj" fmla="val 3538"/>
            </a:avLst>
          </a:prstGeom>
          <a:solidFill>
            <a:srgbClr val="F7F9FC"/>
          </a:solidFill>
          <a:ln w="12700">
            <a:solidFill>
              <a:srgbClr val="D8DEEA"/>
            </a:solidFill>
            <a:prstDash val="solid"/>
          </a:ln>
        </p:spPr>
      </p:sp>
      <p:sp>
        <p:nvSpPr>
          <p:cNvPr id="6" name="Text 2"/>
          <p:cNvSpPr/>
          <p:nvPr/>
        </p:nvSpPr>
        <p:spPr>
          <a:xfrm>
            <a:off x="548640" y="2057400"/>
            <a:ext cx="1367942" cy="384048"/>
          </a:xfrm>
          <a:prstGeom prst="rect">
            <a:avLst/>
          </a:prstGeom>
          <a:noFill/>
          <a:ln/>
        </p:spPr>
        <p:txBody>
          <a:bodyPr wrap="square" lIns="0" tIns="0" rIns="0" bIns="0" rtlCol="0" anchor="ctr"/>
          <a:lstStyle/>
          <a:p>
            <a:pPr indent="0" marL="0">
              <a:buNone/>
            </a:pPr>
            <a:r>
              <a:rPr lang="en-US" sz="2000" b="1" dirty="0">
                <a:solidFill>
                  <a:srgbClr val="C7CEDB"/>
                </a:solidFill>
                <a:latin typeface="Arial" pitchFamily="34" charset="0"/>
                <a:ea typeface="Arial" pitchFamily="34" charset="-122"/>
                <a:cs typeface="Arial" pitchFamily="34" charset="-120"/>
              </a:rPr>
              <a:t>01</a:t>
            </a:r>
            <a:endParaRPr lang="en-US" sz="2000" dirty="0"/>
          </a:p>
        </p:txBody>
      </p:sp>
      <p:sp>
        <p:nvSpPr>
          <p:cNvPr id="7" name="Shape 3"/>
          <p:cNvSpPr/>
          <p:nvPr/>
        </p:nvSpPr>
        <p:spPr>
          <a:xfrm>
            <a:off x="548640" y="2478024"/>
            <a:ext cx="1367942" cy="0"/>
          </a:xfrm>
          <a:prstGeom prst="line">
            <a:avLst/>
          </a:prstGeom>
          <a:noFill/>
          <a:ln w="12700">
            <a:solidFill>
              <a:srgbClr val="D8DEEA"/>
            </a:solidFill>
            <a:prstDash val="solid"/>
          </a:ln>
        </p:spPr>
      </p:sp>
      <p:sp>
        <p:nvSpPr>
          <p:cNvPr id="8" name="Text 4"/>
          <p:cNvSpPr/>
          <p:nvPr/>
        </p:nvSpPr>
        <p:spPr>
          <a:xfrm>
            <a:off x="548640" y="2551176"/>
            <a:ext cx="1367942" cy="310896"/>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TRACK</a:t>
            </a:r>
            <a:endParaRPr lang="en-US" sz="1000" dirty="0"/>
          </a:p>
        </p:txBody>
      </p:sp>
      <p:sp>
        <p:nvSpPr>
          <p:cNvPr id="9" name="Text 5"/>
          <p:cNvSpPr/>
          <p:nvPr/>
        </p:nvSpPr>
        <p:spPr>
          <a:xfrm>
            <a:off x="548640" y="2898648"/>
            <a:ext cx="1367942" cy="91440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Orbital data</a:t>
            </a:r>
            <a:endParaRPr lang="en-US" sz="800" dirty="0"/>
          </a:p>
        </p:txBody>
      </p:sp>
      <p:sp>
        <p:nvSpPr>
          <p:cNvPr id="10" name="Text 6"/>
          <p:cNvSpPr/>
          <p:nvPr/>
        </p:nvSpPr>
        <p:spPr>
          <a:xfrm>
            <a:off x="1989734" y="2811780"/>
            <a:ext cx="155448" cy="274320"/>
          </a:xfrm>
          <a:prstGeom prst="rect">
            <a:avLst/>
          </a:prstGeom>
          <a:noFill/>
          <a:ln/>
        </p:spPr>
        <p:txBody>
          <a:bodyPr wrap="square" lIns="0" tIns="0" rIns="0" bIns="0" rtlCol="0" anchor="ctr"/>
          <a:lstStyle/>
          <a:p>
            <a:pPr algn="ctr" indent="0" marL="0">
              <a:buNone/>
            </a:pPr>
            <a:r>
              <a:rPr lang="en-US" sz="1400" b="1" dirty="0">
                <a:solidFill>
                  <a:srgbClr val="1C8F89"/>
                </a:solidFill>
                <a:latin typeface="Arial" pitchFamily="34" charset="0"/>
                <a:ea typeface="Arial" pitchFamily="34" charset="-122"/>
                <a:cs typeface="Arial" pitchFamily="34" charset="-120"/>
              </a:rPr>
              <a:t>›</a:t>
            </a:r>
            <a:endParaRPr lang="en-US" sz="1400" dirty="0"/>
          </a:p>
        </p:txBody>
      </p:sp>
      <p:sp>
        <p:nvSpPr>
          <p:cNvPr id="11" name="Shape 7"/>
          <p:cNvSpPr/>
          <p:nvPr/>
        </p:nvSpPr>
        <p:spPr>
          <a:xfrm>
            <a:off x="2126894" y="1965960"/>
            <a:ext cx="1550822" cy="1965960"/>
          </a:xfrm>
          <a:prstGeom prst="roundRect">
            <a:avLst>
              <a:gd name="adj" fmla="val 3538"/>
            </a:avLst>
          </a:prstGeom>
          <a:solidFill>
            <a:srgbClr val="F7F9FC"/>
          </a:solidFill>
          <a:ln w="12700">
            <a:solidFill>
              <a:srgbClr val="D8DEEA"/>
            </a:solidFill>
            <a:prstDash val="solid"/>
          </a:ln>
        </p:spPr>
      </p:sp>
      <p:sp>
        <p:nvSpPr>
          <p:cNvPr id="12" name="Text 8"/>
          <p:cNvSpPr/>
          <p:nvPr/>
        </p:nvSpPr>
        <p:spPr>
          <a:xfrm>
            <a:off x="2218334" y="2057400"/>
            <a:ext cx="1367942" cy="384048"/>
          </a:xfrm>
          <a:prstGeom prst="rect">
            <a:avLst/>
          </a:prstGeom>
          <a:noFill/>
          <a:ln/>
        </p:spPr>
        <p:txBody>
          <a:bodyPr wrap="square" lIns="0" tIns="0" rIns="0" bIns="0" rtlCol="0" anchor="ctr"/>
          <a:lstStyle/>
          <a:p>
            <a:pPr indent="0" marL="0">
              <a:buNone/>
            </a:pPr>
            <a:r>
              <a:rPr lang="en-US" sz="2000" b="1" dirty="0">
                <a:solidFill>
                  <a:srgbClr val="C7CEDB"/>
                </a:solidFill>
                <a:latin typeface="Arial" pitchFamily="34" charset="0"/>
                <a:ea typeface="Arial" pitchFamily="34" charset="-122"/>
                <a:cs typeface="Arial" pitchFamily="34" charset="-120"/>
              </a:rPr>
              <a:t>02</a:t>
            </a:r>
            <a:endParaRPr lang="en-US" sz="2000" dirty="0"/>
          </a:p>
        </p:txBody>
      </p:sp>
      <p:sp>
        <p:nvSpPr>
          <p:cNvPr id="13" name="Shape 9"/>
          <p:cNvSpPr/>
          <p:nvPr/>
        </p:nvSpPr>
        <p:spPr>
          <a:xfrm>
            <a:off x="2218334" y="2478024"/>
            <a:ext cx="1367942" cy="0"/>
          </a:xfrm>
          <a:prstGeom prst="line">
            <a:avLst/>
          </a:prstGeom>
          <a:noFill/>
          <a:ln w="12700">
            <a:solidFill>
              <a:srgbClr val="D8DEEA"/>
            </a:solidFill>
            <a:prstDash val="solid"/>
          </a:ln>
        </p:spPr>
      </p:sp>
      <p:sp>
        <p:nvSpPr>
          <p:cNvPr id="14" name="Text 10"/>
          <p:cNvSpPr/>
          <p:nvPr/>
        </p:nvSpPr>
        <p:spPr>
          <a:xfrm>
            <a:off x="2218334" y="2551176"/>
            <a:ext cx="1367942" cy="310896"/>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PREDICT</a:t>
            </a:r>
            <a:endParaRPr lang="en-US" sz="1000" dirty="0"/>
          </a:p>
        </p:txBody>
      </p:sp>
      <p:sp>
        <p:nvSpPr>
          <p:cNvPr id="15" name="Text 11"/>
          <p:cNvSpPr/>
          <p:nvPr/>
        </p:nvSpPr>
        <p:spPr>
          <a:xfrm>
            <a:off x="2218334" y="2898648"/>
            <a:ext cx="1367942" cy="91440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Propagation → risk</a:t>
            </a:r>
            <a:endParaRPr lang="en-US" sz="800" dirty="0"/>
          </a:p>
        </p:txBody>
      </p:sp>
      <p:sp>
        <p:nvSpPr>
          <p:cNvPr id="16" name="Text 12"/>
          <p:cNvSpPr/>
          <p:nvPr/>
        </p:nvSpPr>
        <p:spPr>
          <a:xfrm>
            <a:off x="3659429" y="2811780"/>
            <a:ext cx="155448" cy="274320"/>
          </a:xfrm>
          <a:prstGeom prst="rect">
            <a:avLst/>
          </a:prstGeom>
          <a:noFill/>
          <a:ln/>
        </p:spPr>
        <p:txBody>
          <a:bodyPr wrap="square" lIns="0" tIns="0" rIns="0" bIns="0" rtlCol="0" anchor="ctr"/>
          <a:lstStyle/>
          <a:p>
            <a:pPr algn="ctr" indent="0" marL="0">
              <a:buNone/>
            </a:pPr>
            <a:r>
              <a:rPr lang="en-US" sz="1400" b="1" dirty="0">
                <a:solidFill>
                  <a:srgbClr val="1C8F89"/>
                </a:solidFill>
                <a:latin typeface="Arial" pitchFamily="34" charset="0"/>
                <a:ea typeface="Arial" pitchFamily="34" charset="-122"/>
                <a:cs typeface="Arial" pitchFamily="34" charset="-120"/>
              </a:rPr>
              <a:t>›</a:t>
            </a:r>
            <a:endParaRPr lang="en-US" sz="1400" dirty="0"/>
          </a:p>
        </p:txBody>
      </p:sp>
      <p:sp>
        <p:nvSpPr>
          <p:cNvPr id="17" name="Shape 13"/>
          <p:cNvSpPr/>
          <p:nvPr/>
        </p:nvSpPr>
        <p:spPr>
          <a:xfrm>
            <a:off x="3796589" y="1965960"/>
            <a:ext cx="1550822" cy="1965960"/>
          </a:xfrm>
          <a:prstGeom prst="roundRect">
            <a:avLst>
              <a:gd name="adj" fmla="val 3538"/>
            </a:avLst>
          </a:prstGeom>
          <a:solidFill>
            <a:srgbClr val="E7F4F3"/>
          </a:solidFill>
          <a:ln w="19050">
            <a:solidFill>
              <a:srgbClr val="1C8F89"/>
            </a:solidFill>
            <a:prstDash val="solid"/>
          </a:ln>
        </p:spPr>
      </p:sp>
      <p:sp>
        <p:nvSpPr>
          <p:cNvPr id="18" name="Text 14"/>
          <p:cNvSpPr/>
          <p:nvPr/>
        </p:nvSpPr>
        <p:spPr>
          <a:xfrm>
            <a:off x="3888029" y="2057400"/>
            <a:ext cx="1367942" cy="384048"/>
          </a:xfrm>
          <a:prstGeom prst="rect">
            <a:avLst/>
          </a:prstGeom>
          <a:noFill/>
          <a:ln/>
        </p:spPr>
        <p:txBody>
          <a:bodyPr wrap="square" lIns="0" tIns="0" rIns="0" bIns="0" rtlCol="0" anchor="ctr"/>
          <a:lstStyle/>
          <a:p>
            <a:pPr indent="0" marL="0">
              <a:buNone/>
            </a:pPr>
            <a:r>
              <a:rPr lang="en-US" sz="2000" b="1" dirty="0">
                <a:solidFill>
                  <a:srgbClr val="1C8F89"/>
                </a:solidFill>
                <a:latin typeface="Arial" pitchFamily="34" charset="0"/>
                <a:ea typeface="Arial" pitchFamily="34" charset="-122"/>
                <a:cs typeface="Arial" pitchFamily="34" charset="-120"/>
              </a:rPr>
              <a:t>03</a:t>
            </a:r>
            <a:endParaRPr lang="en-US" sz="2000" dirty="0"/>
          </a:p>
        </p:txBody>
      </p:sp>
      <p:sp>
        <p:nvSpPr>
          <p:cNvPr id="19" name="Shape 15"/>
          <p:cNvSpPr/>
          <p:nvPr/>
        </p:nvSpPr>
        <p:spPr>
          <a:xfrm>
            <a:off x="3888029" y="2478024"/>
            <a:ext cx="1367942" cy="0"/>
          </a:xfrm>
          <a:prstGeom prst="line">
            <a:avLst/>
          </a:prstGeom>
          <a:noFill/>
          <a:ln w="12700">
            <a:solidFill>
              <a:srgbClr val="D8DEEA"/>
            </a:solidFill>
            <a:prstDash val="solid"/>
          </a:ln>
        </p:spPr>
      </p:sp>
      <p:sp>
        <p:nvSpPr>
          <p:cNvPr id="20" name="Text 16"/>
          <p:cNvSpPr/>
          <p:nvPr/>
        </p:nvSpPr>
        <p:spPr>
          <a:xfrm>
            <a:off x="3888029" y="2551176"/>
            <a:ext cx="1367942" cy="310896"/>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EXPLORE</a:t>
            </a:r>
            <a:endParaRPr lang="en-US" sz="1000" dirty="0"/>
          </a:p>
        </p:txBody>
      </p:sp>
      <p:sp>
        <p:nvSpPr>
          <p:cNvPr id="21" name="Text 17"/>
          <p:cNvSpPr/>
          <p:nvPr/>
        </p:nvSpPr>
        <p:spPr>
          <a:xfrm>
            <a:off x="3888029" y="2898648"/>
            <a:ext cx="1367942" cy="91440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Future-state envelope</a:t>
            </a:r>
            <a:endParaRPr lang="en-US" sz="800" dirty="0"/>
          </a:p>
        </p:txBody>
      </p:sp>
      <p:sp>
        <p:nvSpPr>
          <p:cNvPr id="22" name="Text 18"/>
          <p:cNvSpPr/>
          <p:nvPr/>
        </p:nvSpPr>
        <p:spPr>
          <a:xfrm>
            <a:off x="5329123" y="2811780"/>
            <a:ext cx="155448" cy="274320"/>
          </a:xfrm>
          <a:prstGeom prst="rect">
            <a:avLst/>
          </a:prstGeom>
          <a:noFill/>
          <a:ln/>
        </p:spPr>
        <p:txBody>
          <a:bodyPr wrap="square" lIns="0" tIns="0" rIns="0" bIns="0" rtlCol="0" anchor="ctr"/>
          <a:lstStyle/>
          <a:p>
            <a:pPr algn="ctr" indent="0" marL="0">
              <a:buNone/>
            </a:pPr>
            <a:r>
              <a:rPr lang="en-US" sz="1400" b="1" dirty="0">
                <a:solidFill>
                  <a:srgbClr val="1C8F89"/>
                </a:solidFill>
                <a:latin typeface="Arial" pitchFamily="34" charset="0"/>
                <a:ea typeface="Arial" pitchFamily="34" charset="-122"/>
                <a:cs typeface="Arial" pitchFamily="34" charset="-120"/>
              </a:rPr>
              <a:t>›</a:t>
            </a:r>
            <a:endParaRPr lang="en-US" sz="1400" dirty="0"/>
          </a:p>
        </p:txBody>
      </p:sp>
      <p:sp>
        <p:nvSpPr>
          <p:cNvPr id="23" name="Shape 19"/>
          <p:cNvSpPr/>
          <p:nvPr/>
        </p:nvSpPr>
        <p:spPr>
          <a:xfrm>
            <a:off x="5466283" y="1965960"/>
            <a:ext cx="1550822" cy="1965960"/>
          </a:xfrm>
          <a:prstGeom prst="roundRect">
            <a:avLst>
              <a:gd name="adj" fmla="val 3538"/>
            </a:avLst>
          </a:prstGeom>
          <a:solidFill>
            <a:srgbClr val="F7F9FC"/>
          </a:solidFill>
          <a:ln w="12700">
            <a:solidFill>
              <a:srgbClr val="D8DEEA"/>
            </a:solidFill>
            <a:prstDash val="solid"/>
          </a:ln>
        </p:spPr>
      </p:sp>
      <p:sp>
        <p:nvSpPr>
          <p:cNvPr id="24" name="Text 20"/>
          <p:cNvSpPr/>
          <p:nvPr/>
        </p:nvSpPr>
        <p:spPr>
          <a:xfrm>
            <a:off x="5557723" y="2057400"/>
            <a:ext cx="1367942" cy="384048"/>
          </a:xfrm>
          <a:prstGeom prst="rect">
            <a:avLst/>
          </a:prstGeom>
          <a:noFill/>
          <a:ln/>
        </p:spPr>
        <p:txBody>
          <a:bodyPr wrap="square" lIns="0" tIns="0" rIns="0" bIns="0" rtlCol="0" anchor="ctr"/>
          <a:lstStyle/>
          <a:p>
            <a:pPr indent="0" marL="0">
              <a:buNone/>
            </a:pPr>
            <a:r>
              <a:rPr lang="en-US" sz="2000" b="1" dirty="0">
                <a:solidFill>
                  <a:srgbClr val="C7CEDB"/>
                </a:solidFill>
                <a:latin typeface="Arial" pitchFamily="34" charset="0"/>
                <a:ea typeface="Arial" pitchFamily="34" charset="-122"/>
                <a:cs typeface="Arial" pitchFamily="34" charset="-120"/>
              </a:rPr>
              <a:t>04</a:t>
            </a:r>
            <a:endParaRPr lang="en-US" sz="2000" dirty="0"/>
          </a:p>
        </p:txBody>
      </p:sp>
      <p:sp>
        <p:nvSpPr>
          <p:cNvPr id="25" name="Shape 21"/>
          <p:cNvSpPr/>
          <p:nvPr/>
        </p:nvSpPr>
        <p:spPr>
          <a:xfrm>
            <a:off x="5557723" y="2478024"/>
            <a:ext cx="1367942" cy="0"/>
          </a:xfrm>
          <a:prstGeom prst="line">
            <a:avLst/>
          </a:prstGeom>
          <a:noFill/>
          <a:ln w="12700">
            <a:solidFill>
              <a:srgbClr val="D8DEEA"/>
            </a:solidFill>
            <a:prstDash val="solid"/>
          </a:ln>
        </p:spPr>
      </p:sp>
      <p:sp>
        <p:nvSpPr>
          <p:cNvPr id="26" name="Text 22"/>
          <p:cNvSpPr/>
          <p:nvPr/>
        </p:nvSpPr>
        <p:spPr>
          <a:xfrm>
            <a:off x="5557723" y="2551176"/>
            <a:ext cx="1367942" cy="310896"/>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COMPARE</a:t>
            </a:r>
            <a:endParaRPr lang="en-US" sz="1000" dirty="0"/>
          </a:p>
        </p:txBody>
      </p:sp>
      <p:sp>
        <p:nvSpPr>
          <p:cNvPr id="27" name="Text 23"/>
          <p:cNvSpPr/>
          <p:nvPr/>
        </p:nvSpPr>
        <p:spPr>
          <a:xfrm>
            <a:off x="5557723" y="2898648"/>
            <a:ext cx="1367942" cy="91440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No Action vs. maneuvers</a:t>
            </a:r>
            <a:endParaRPr lang="en-US" sz="800" dirty="0"/>
          </a:p>
        </p:txBody>
      </p:sp>
      <p:sp>
        <p:nvSpPr>
          <p:cNvPr id="28" name="Text 24"/>
          <p:cNvSpPr/>
          <p:nvPr/>
        </p:nvSpPr>
        <p:spPr>
          <a:xfrm>
            <a:off x="6998818" y="2811780"/>
            <a:ext cx="155448" cy="274320"/>
          </a:xfrm>
          <a:prstGeom prst="rect">
            <a:avLst/>
          </a:prstGeom>
          <a:noFill/>
          <a:ln/>
        </p:spPr>
        <p:txBody>
          <a:bodyPr wrap="square" lIns="0" tIns="0" rIns="0" bIns="0" rtlCol="0" anchor="ctr"/>
          <a:lstStyle/>
          <a:p>
            <a:pPr algn="ctr" indent="0" marL="0">
              <a:buNone/>
            </a:pPr>
            <a:r>
              <a:rPr lang="en-US" sz="1400" b="1" dirty="0">
                <a:solidFill>
                  <a:srgbClr val="1C8F89"/>
                </a:solidFill>
                <a:latin typeface="Arial" pitchFamily="34" charset="0"/>
                <a:ea typeface="Arial" pitchFamily="34" charset="-122"/>
                <a:cs typeface="Arial" pitchFamily="34" charset="-120"/>
              </a:rPr>
              <a:t>›</a:t>
            </a:r>
            <a:endParaRPr lang="en-US" sz="1400" dirty="0"/>
          </a:p>
        </p:txBody>
      </p:sp>
      <p:sp>
        <p:nvSpPr>
          <p:cNvPr id="29" name="Shape 25"/>
          <p:cNvSpPr/>
          <p:nvPr/>
        </p:nvSpPr>
        <p:spPr>
          <a:xfrm>
            <a:off x="7135978" y="1965960"/>
            <a:ext cx="1550822" cy="1965960"/>
          </a:xfrm>
          <a:prstGeom prst="roundRect">
            <a:avLst>
              <a:gd name="adj" fmla="val 3538"/>
            </a:avLst>
          </a:prstGeom>
          <a:solidFill>
            <a:srgbClr val="F7F9FC"/>
          </a:solidFill>
          <a:ln w="12700">
            <a:solidFill>
              <a:srgbClr val="D8DEEA"/>
            </a:solidFill>
            <a:prstDash val="solid"/>
          </a:ln>
        </p:spPr>
      </p:sp>
      <p:sp>
        <p:nvSpPr>
          <p:cNvPr id="30" name="Text 26"/>
          <p:cNvSpPr/>
          <p:nvPr/>
        </p:nvSpPr>
        <p:spPr>
          <a:xfrm>
            <a:off x="7227418" y="2057400"/>
            <a:ext cx="1367942" cy="384048"/>
          </a:xfrm>
          <a:prstGeom prst="rect">
            <a:avLst/>
          </a:prstGeom>
          <a:noFill/>
          <a:ln/>
        </p:spPr>
        <p:txBody>
          <a:bodyPr wrap="square" lIns="0" tIns="0" rIns="0" bIns="0" rtlCol="0" anchor="ctr"/>
          <a:lstStyle/>
          <a:p>
            <a:pPr indent="0" marL="0">
              <a:buNone/>
            </a:pPr>
            <a:r>
              <a:rPr lang="en-US" sz="2000" b="1" dirty="0">
                <a:solidFill>
                  <a:srgbClr val="C7CEDB"/>
                </a:solidFill>
                <a:latin typeface="Arial" pitchFamily="34" charset="0"/>
                <a:ea typeface="Arial" pitchFamily="34" charset="-122"/>
                <a:cs typeface="Arial" pitchFamily="34" charset="-120"/>
              </a:rPr>
              <a:t>05</a:t>
            </a:r>
            <a:endParaRPr lang="en-US" sz="2000" dirty="0"/>
          </a:p>
        </p:txBody>
      </p:sp>
      <p:sp>
        <p:nvSpPr>
          <p:cNvPr id="31" name="Shape 27"/>
          <p:cNvSpPr/>
          <p:nvPr/>
        </p:nvSpPr>
        <p:spPr>
          <a:xfrm>
            <a:off x="7227418" y="2478024"/>
            <a:ext cx="1367942" cy="0"/>
          </a:xfrm>
          <a:prstGeom prst="line">
            <a:avLst/>
          </a:prstGeom>
          <a:noFill/>
          <a:ln w="12700">
            <a:solidFill>
              <a:srgbClr val="D8DEEA"/>
            </a:solidFill>
            <a:prstDash val="solid"/>
          </a:ln>
        </p:spPr>
      </p:sp>
      <p:sp>
        <p:nvSpPr>
          <p:cNvPr id="32" name="Text 28"/>
          <p:cNvSpPr/>
          <p:nvPr/>
        </p:nvSpPr>
        <p:spPr>
          <a:xfrm>
            <a:off x="7227418" y="2551176"/>
            <a:ext cx="1367942" cy="310896"/>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UNDERSTAND</a:t>
            </a:r>
            <a:endParaRPr lang="en-US" sz="1000" dirty="0"/>
          </a:p>
        </p:txBody>
      </p:sp>
      <p:sp>
        <p:nvSpPr>
          <p:cNvPr id="33" name="Text 29"/>
          <p:cNvSpPr/>
          <p:nvPr/>
        </p:nvSpPr>
        <p:spPr>
          <a:xfrm>
            <a:off x="7227418" y="2898648"/>
            <a:ext cx="1367942" cy="91440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Multi-object + sensitivity</a:t>
            </a:r>
            <a:endParaRPr lang="en-US" sz="800" dirty="0"/>
          </a:p>
        </p:txBody>
      </p:sp>
      <p:sp>
        <p:nvSpPr>
          <p:cNvPr id="34" name="Text 30"/>
          <p:cNvSpPr/>
          <p:nvPr/>
        </p:nvSpPr>
        <p:spPr>
          <a:xfrm>
            <a:off x="457200" y="4069080"/>
            <a:ext cx="8229600" cy="292608"/>
          </a:xfrm>
          <a:prstGeom prst="rect">
            <a:avLst/>
          </a:prstGeom>
          <a:noFill/>
          <a:ln/>
        </p:spPr>
        <p:txBody>
          <a:bodyPr wrap="square" lIns="0" tIns="0" rIns="0" bIns="0" rtlCol="0" anchor="ctr"/>
          <a:lstStyle/>
          <a:p>
            <a:pPr algn="ctr" indent="0" marL="0">
              <a:buNone/>
            </a:pPr>
            <a:r>
              <a:rPr lang="en-US" sz="1100" b="1" i="1" dirty="0">
                <a:solidFill>
                  <a:srgbClr val="1C8F89"/>
                </a:solidFill>
                <a:latin typeface="Calibri" pitchFamily="34" charset="0"/>
                <a:ea typeface="Calibri" pitchFamily="34" charset="-122"/>
                <a:cs typeface="Calibri" pitchFamily="34" charset="-120"/>
              </a:rPr>
              <a:t>A decision-support layer built on established orbital science.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1900" b="1" dirty="0">
                <a:solidFill>
                  <a:srgbClr val="172B6D"/>
                </a:solidFill>
                <a:latin typeface="Arial" pitchFamily="34" charset="0"/>
                <a:ea typeface="Arial" pitchFamily="34" charset="-122"/>
                <a:cs typeface="Arial" pitchFamily="34" charset="-120"/>
              </a:rPr>
              <a:t>FLOWCHART / DIAGRAM</a:t>
            </a:r>
            <a:endParaRPr lang="en-US" sz="1900" dirty="0"/>
          </a:p>
        </p:txBody>
      </p:sp>
      <p:sp>
        <p:nvSpPr>
          <p:cNvPr id="5" name="Shape 1"/>
          <p:cNvSpPr/>
          <p:nvPr/>
        </p:nvSpPr>
        <p:spPr>
          <a:xfrm>
            <a:off x="457200" y="1847088"/>
            <a:ext cx="1988820" cy="365760"/>
          </a:xfrm>
          <a:prstGeom prst="roundRect">
            <a:avLst>
              <a:gd name="adj" fmla="val 10000"/>
            </a:avLst>
          </a:prstGeom>
          <a:solidFill>
            <a:srgbClr val="F7F9FC"/>
          </a:solidFill>
          <a:ln w="12700">
            <a:solidFill>
              <a:srgbClr val="D8DEEA"/>
            </a:solidFill>
            <a:prstDash val="solid"/>
          </a:ln>
        </p:spPr>
      </p:sp>
      <p:sp>
        <p:nvSpPr>
          <p:cNvPr id="6" name="Text 2"/>
          <p:cNvSpPr/>
          <p:nvPr/>
        </p:nvSpPr>
        <p:spPr>
          <a:xfrm>
            <a:off x="484632" y="1847088"/>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DATA</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INGESTION</a:t>
            </a:r>
            <a:endParaRPr lang="en-US" sz="700" dirty="0"/>
          </a:p>
        </p:txBody>
      </p:sp>
      <p:sp>
        <p:nvSpPr>
          <p:cNvPr id="7" name="Shape 3"/>
          <p:cNvSpPr/>
          <p:nvPr/>
        </p:nvSpPr>
        <p:spPr>
          <a:xfrm>
            <a:off x="2537460" y="1847088"/>
            <a:ext cx="1988820" cy="365760"/>
          </a:xfrm>
          <a:prstGeom prst="roundRect">
            <a:avLst>
              <a:gd name="adj" fmla="val 10000"/>
            </a:avLst>
          </a:prstGeom>
          <a:solidFill>
            <a:srgbClr val="F7F9FC"/>
          </a:solidFill>
          <a:ln w="12700">
            <a:solidFill>
              <a:srgbClr val="D8DEEA"/>
            </a:solidFill>
            <a:prstDash val="solid"/>
          </a:ln>
        </p:spPr>
      </p:sp>
      <p:sp>
        <p:nvSpPr>
          <p:cNvPr id="8" name="Text 4"/>
          <p:cNvSpPr/>
          <p:nvPr/>
        </p:nvSpPr>
        <p:spPr>
          <a:xfrm>
            <a:off x="2564892" y="1847088"/>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ORBIT</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PROPAGATION</a:t>
            </a:r>
            <a:endParaRPr lang="en-US" sz="700" dirty="0"/>
          </a:p>
        </p:txBody>
      </p:sp>
      <p:sp>
        <p:nvSpPr>
          <p:cNvPr id="9" name="Shape 5"/>
          <p:cNvSpPr/>
          <p:nvPr/>
        </p:nvSpPr>
        <p:spPr>
          <a:xfrm>
            <a:off x="4617720" y="1847088"/>
            <a:ext cx="1988820" cy="365760"/>
          </a:xfrm>
          <a:prstGeom prst="roundRect">
            <a:avLst>
              <a:gd name="adj" fmla="val 10000"/>
            </a:avLst>
          </a:prstGeom>
          <a:solidFill>
            <a:srgbClr val="F7F9FC"/>
          </a:solidFill>
          <a:ln w="12700">
            <a:solidFill>
              <a:srgbClr val="D8DEEA"/>
            </a:solidFill>
            <a:prstDash val="solid"/>
          </a:ln>
        </p:spPr>
      </p:sp>
      <p:sp>
        <p:nvSpPr>
          <p:cNvPr id="10" name="Text 6"/>
          <p:cNvSpPr/>
          <p:nvPr/>
        </p:nvSpPr>
        <p:spPr>
          <a:xfrm>
            <a:off x="4645152" y="1847088"/>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RELATIVE</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GEOMETRY</a:t>
            </a:r>
            <a:endParaRPr lang="en-US" sz="700" dirty="0"/>
          </a:p>
        </p:txBody>
      </p:sp>
      <p:sp>
        <p:nvSpPr>
          <p:cNvPr id="11" name="Shape 7"/>
          <p:cNvSpPr/>
          <p:nvPr/>
        </p:nvSpPr>
        <p:spPr>
          <a:xfrm>
            <a:off x="6697980" y="1847088"/>
            <a:ext cx="1988820" cy="365760"/>
          </a:xfrm>
          <a:prstGeom prst="roundRect">
            <a:avLst>
              <a:gd name="adj" fmla="val 10000"/>
            </a:avLst>
          </a:prstGeom>
          <a:solidFill>
            <a:srgbClr val="F7F9FC"/>
          </a:solidFill>
          <a:ln w="12700">
            <a:solidFill>
              <a:srgbClr val="D8DEEA"/>
            </a:solidFill>
            <a:prstDash val="solid"/>
          </a:ln>
        </p:spPr>
      </p:sp>
      <p:sp>
        <p:nvSpPr>
          <p:cNvPr id="12" name="Text 8"/>
          <p:cNvSpPr/>
          <p:nvPr/>
        </p:nvSpPr>
        <p:spPr>
          <a:xfrm>
            <a:off x="6725412" y="1847088"/>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CLOSE-APPROACH</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ENGINE</a:t>
            </a:r>
            <a:endParaRPr lang="en-US" sz="700" dirty="0"/>
          </a:p>
        </p:txBody>
      </p:sp>
      <p:sp>
        <p:nvSpPr>
          <p:cNvPr id="13" name="Text 9"/>
          <p:cNvSpPr/>
          <p:nvPr/>
        </p:nvSpPr>
        <p:spPr>
          <a:xfrm>
            <a:off x="457200" y="2267712"/>
            <a:ext cx="8229600" cy="128016"/>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  ▾  ▾  ▾  ▾</a:t>
            </a:r>
            <a:endParaRPr lang="en-US" sz="800" dirty="0"/>
          </a:p>
        </p:txBody>
      </p:sp>
      <p:sp>
        <p:nvSpPr>
          <p:cNvPr id="14" name="Shape 10"/>
          <p:cNvSpPr/>
          <p:nvPr/>
        </p:nvSpPr>
        <p:spPr>
          <a:xfrm>
            <a:off x="457200" y="2432304"/>
            <a:ext cx="1988820" cy="365760"/>
          </a:xfrm>
          <a:prstGeom prst="roundRect">
            <a:avLst>
              <a:gd name="adj" fmla="val 10000"/>
            </a:avLst>
          </a:prstGeom>
          <a:solidFill>
            <a:srgbClr val="E7F4F3"/>
          </a:solidFill>
          <a:ln w="12700">
            <a:solidFill>
              <a:srgbClr val="D8DEEA"/>
            </a:solidFill>
            <a:prstDash val="solid"/>
          </a:ln>
        </p:spPr>
      </p:sp>
      <p:sp>
        <p:nvSpPr>
          <p:cNvPr id="15" name="Text 11"/>
          <p:cNvSpPr/>
          <p:nvPr/>
        </p:nvSpPr>
        <p:spPr>
          <a:xfrm>
            <a:off x="484632" y="2432304"/>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RISK +</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UNCERTAINTY</a:t>
            </a:r>
            <a:endParaRPr lang="en-US" sz="700" dirty="0"/>
          </a:p>
        </p:txBody>
      </p:sp>
      <p:sp>
        <p:nvSpPr>
          <p:cNvPr id="16" name="Shape 12"/>
          <p:cNvSpPr/>
          <p:nvPr/>
        </p:nvSpPr>
        <p:spPr>
          <a:xfrm>
            <a:off x="2537460" y="2432304"/>
            <a:ext cx="1988820" cy="365760"/>
          </a:xfrm>
          <a:prstGeom prst="roundRect">
            <a:avLst>
              <a:gd name="adj" fmla="val 10000"/>
            </a:avLst>
          </a:prstGeom>
          <a:solidFill>
            <a:srgbClr val="E7F4F3"/>
          </a:solidFill>
          <a:ln w="12700">
            <a:solidFill>
              <a:srgbClr val="D8DEEA"/>
            </a:solidFill>
            <a:prstDash val="solid"/>
          </a:ln>
        </p:spPr>
      </p:sp>
      <p:sp>
        <p:nvSpPr>
          <p:cNvPr id="17" name="Text 13"/>
          <p:cNvSpPr/>
          <p:nvPr/>
        </p:nvSpPr>
        <p:spPr>
          <a:xfrm>
            <a:off x="2564892" y="2432304"/>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MONTE CARLO</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ENSEMBLE</a:t>
            </a:r>
            <a:endParaRPr lang="en-US" sz="700" dirty="0"/>
          </a:p>
        </p:txBody>
      </p:sp>
      <p:sp>
        <p:nvSpPr>
          <p:cNvPr id="18" name="Shape 14"/>
          <p:cNvSpPr/>
          <p:nvPr/>
        </p:nvSpPr>
        <p:spPr>
          <a:xfrm>
            <a:off x="4617720" y="2432304"/>
            <a:ext cx="1988820" cy="365760"/>
          </a:xfrm>
          <a:prstGeom prst="roundRect">
            <a:avLst>
              <a:gd name="adj" fmla="val 10000"/>
            </a:avLst>
          </a:prstGeom>
          <a:solidFill>
            <a:srgbClr val="E7F4F3"/>
          </a:solidFill>
          <a:ln w="12700">
            <a:solidFill>
              <a:srgbClr val="D8DEEA"/>
            </a:solidFill>
            <a:prstDash val="solid"/>
          </a:ln>
        </p:spPr>
      </p:sp>
      <p:sp>
        <p:nvSpPr>
          <p:cNvPr id="19" name="Text 15"/>
          <p:cNvSpPr/>
          <p:nvPr/>
        </p:nvSpPr>
        <p:spPr>
          <a:xfrm>
            <a:off x="4645152" y="2432304"/>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FUTURE STATE</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ENVELOPE</a:t>
            </a:r>
            <a:endParaRPr lang="en-US" sz="700" dirty="0"/>
          </a:p>
        </p:txBody>
      </p:sp>
      <p:sp>
        <p:nvSpPr>
          <p:cNvPr id="20" name="Shape 16"/>
          <p:cNvSpPr/>
          <p:nvPr/>
        </p:nvSpPr>
        <p:spPr>
          <a:xfrm>
            <a:off x="6697980" y="2432304"/>
            <a:ext cx="1988820" cy="365760"/>
          </a:xfrm>
          <a:prstGeom prst="roundRect">
            <a:avLst>
              <a:gd name="adj" fmla="val 10000"/>
            </a:avLst>
          </a:prstGeom>
          <a:solidFill>
            <a:srgbClr val="E7F4F3"/>
          </a:solidFill>
          <a:ln w="12700">
            <a:solidFill>
              <a:srgbClr val="D8DEEA"/>
            </a:solidFill>
            <a:prstDash val="solid"/>
          </a:ln>
        </p:spPr>
      </p:sp>
      <p:sp>
        <p:nvSpPr>
          <p:cNvPr id="21" name="Text 17"/>
          <p:cNvSpPr/>
          <p:nvPr/>
        </p:nvSpPr>
        <p:spPr>
          <a:xfrm>
            <a:off x="6725412" y="2432304"/>
            <a:ext cx="1933956" cy="365760"/>
          </a:xfrm>
          <a:prstGeom prst="rect">
            <a:avLst/>
          </a:prstGeom>
          <a:noFill/>
          <a:ln/>
        </p:spPr>
        <p:txBody>
          <a:bodyPr wrap="square" lIns="0" tIns="0" rIns="0" bIns="0" rtlCol="0" anchor="ctr"/>
          <a:lstStyle/>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SCENARIO</a:t>
            </a:r>
            <a:endParaRPr lang="en-US" sz="700" dirty="0"/>
          </a:p>
          <a:p>
            <a:pPr algn="ctr" indent="0" marL="0">
              <a:lnSpc>
                <a:spcPts val="850"/>
              </a:lnSpc>
              <a:buNone/>
            </a:pPr>
            <a:r>
              <a:rPr lang="en-US" sz="700" b="1" dirty="0">
                <a:solidFill>
                  <a:srgbClr val="172B6D"/>
                </a:solidFill>
                <a:latin typeface="Calibri" pitchFamily="34" charset="0"/>
                <a:ea typeface="Calibri" pitchFamily="34" charset="-122"/>
                <a:cs typeface="Calibri" pitchFamily="34" charset="-120"/>
              </a:rPr>
              <a:t>ENGINE</a:t>
            </a:r>
            <a:endParaRPr lang="en-US" sz="700" dirty="0"/>
          </a:p>
        </p:txBody>
      </p:sp>
      <p:sp>
        <p:nvSpPr>
          <p:cNvPr id="22" name="Shape 18"/>
          <p:cNvSpPr/>
          <p:nvPr/>
        </p:nvSpPr>
        <p:spPr>
          <a:xfrm>
            <a:off x="7692390" y="2798064"/>
            <a:ext cx="0" cy="73152"/>
          </a:xfrm>
          <a:prstGeom prst="line">
            <a:avLst/>
          </a:prstGeom>
          <a:noFill/>
          <a:ln w="12700">
            <a:solidFill>
              <a:srgbClr val="1C8F89"/>
            </a:solidFill>
            <a:prstDash val="solid"/>
          </a:ln>
        </p:spPr>
      </p:sp>
      <p:sp>
        <p:nvSpPr>
          <p:cNvPr id="23" name="Shape 19"/>
          <p:cNvSpPr/>
          <p:nvPr/>
        </p:nvSpPr>
        <p:spPr>
          <a:xfrm>
            <a:off x="1767840" y="2871216"/>
            <a:ext cx="5608320" cy="0"/>
          </a:xfrm>
          <a:prstGeom prst="line">
            <a:avLst/>
          </a:prstGeom>
          <a:noFill/>
          <a:ln w="12700">
            <a:solidFill>
              <a:srgbClr val="1C8F89"/>
            </a:solidFill>
            <a:prstDash val="solid"/>
          </a:ln>
        </p:spPr>
      </p:sp>
      <p:sp>
        <p:nvSpPr>
          <p:cNvPr id="24" name="Shape 20"/>
          <p:cNvSpPr/>
          <p:nvPr/>
        </p:nvSpPr>
        <p:spPr>
          <a:xfrm>
            <a:off x="1767840" y="2871216"/>
            <a:ext cx="0" cy="82296"/>
          </a:xfrm>
          <a:prstGeom prst="line">
            <a:avLst/>
          </a:prstGeom>
          <a:noFill/>
          <a:ln w="12700">
            <a:solidFill>
              <a:srgbClr val="1C8F89"/>
            </a:solidFill>
            <a:prstDash val="solid"/>
          </a:ln>
        </p:spPr>
      </p:sp>
      <p:sp>
        <p:nvSpPr>
          <p:cNvPr id="25" name="Shape 21"/>
          <p:cNvSpPr/>
          <p:nvPr/>
        </p:nvSpPr>
        <p:spPr>
          <a:xfrm>
            <a:off x="4572000" y="2871216"/>
            <a:ext cx="0" cy="82296"/>
          </a:xfrm>
          <a:prstGeom prst="line">
            <a:avLst/>
          </a:prstGeom>
          <a:noFill/>
          <a:ln w="12700">
            <a:solidFill>
              <a:srgbClr val="1C8F89"/>
            </a:solidFill>
            <a:prstDash val="solid"/>
          </a:ln>
        </p:spPr>
      </p:sp>
      <p:sp>
        <p:nvSpPr>
          <p:cNvPr id="26" name="Shape 22"/>
          <p:cNvSpPr/>
          <p:nvPr/>
        </p:nvSpPr>
        <p:spPr>
          <a:xfrm>
            <a:off x="7376160" y="2871216"/>
            <a:ext cx="0" cy="82296"/>
          </a:xfrm>
          <a:prstGeom prst="line">
            <a:avLst/>
          </a:prstGeom>
          <a:noFill/>
          <a:ln w="12700">
            <a:solidFill>
              <a:srgbClr val="1C8F89"/>
            </a:solidFill>
            <a:prstDash val="solid"/>
          </a:ln>
        </p:spPr>
      </p:sp>
      <p:sp>
        <p:nvSpPr>
          <p:cNvPr id="27" name="Shape 23"/>
          <p:cNvSpPr/>
          <p:nvPr/>
        </p:nvSpPr>
        <p:spPr>
          <a:xfrm>
            <a:off x="457200" y="2953512"/>
            <a:ext cx="2621280" cy="310896"/>
          </a:xfrm>
          <a:prstGeom prst="roundRect">
            <a:avLst>
              <a:gd name="adj" fmla="val 11765"/>
            </a:avLst>
          </a:prstGeom>
          <a:solidFill>
            <a:srgbClr val="FFFFFF"/>
          </a:solidFill>
          <a:ln w="15875">
            <a:solidFill>
              <a:srgbClr val="7C8698"/>
            </a:solidFill>
            <a:prstDash val="solid"/>
          </a:ln>
        </p:spPr>
      </p:sp>
      <p:sp>
        <p:nvSpPr>
          <p:cNvPr id="28" name="Text 24"/>
          <p:cNvSpPr/>
          <p:nvPr/>
        </p:nvSpPr>
        <p:spPr>
          <a:xfrm>
            <a:off x="484632" y="2953512"/>
            <a:ext cx="2566416" cy="310896"/>
          </a:xfrm>
          <a:prstGeom prst="rect">
            <a:avLst/>
          </a:prstGeom>
          <a:noFill/>
          <a:ln/>
        </p:spPr>
        <p:txBody>
          <a:bodyPr wrap="square" lIns="0" tIns="0" rIns="0" bIns="0" rtlCol="0" anchor="ctr"/>
          <a:lstStyle/>
          <a:p>
            <a:pPr algn="ctr" indent="0" marL="0">
              <a:lnSpc>
                <a:spcPts val="950"/>
              </a:lnSpc>
              <a:buNone/>
            </a:pPr>
            <a:r>
              <a:rPr lang="en-US" sz="800" b="1" dirty="0">
                <a:solidFill>
                  <a:srgbClr val="172B6D"/>
                </a:solidFill>
                <a:latin typeface="Calibri" pitchFamily="34" charset="0"/>
                <a:ea typeface="Calibri" pitchFamily="34" charset="-122"/>
                <a:cs typeface="Calibri" pitchFamily="34" charset="-120"/>
              </a:rPr>
              <a:t>NO ACTION</a:t>
            </a:r>
            <a:endParaRPr lang="en-US" sz="800" dirty="0"/>
          </a:p>
        </p:txBody>
      </p:sp>
      <p:sp>
        <p:nvSpPr>
          <p:cNvPr id="29" name="Shape 25"/>
          <p:cNvSpPr/>
          <p:nvPr/>
        </p:nvSpPr>
        <p:spPr>
          <a:xfrm>
            <a:off x="3261360" y="2953512"/>
            <a:ext cx="2621280" cy="310896"/>
          </a:xfrm>
          <a:prstGeom prst="roundRect">
            <a:avLst>
              <a:gd name="adj" fmla="val 11765"/>
            </a:avLst>
          </a:prstGeom>
          <a:solidFill>
            <a:srgbClr val="FFFFFF"/>
          </a:solidFill>
          <a:ln w="15875">
            <a:solidFill>
              <a:srgbClr val="1C8F89"/>
            </a:solidFill>
            <a:prstDash val="solid"/>
          </a:ln>
        </p:spPr>
      </p:sp>
      <p:sp>
        <p:nvSpPr>
          <p:cNvPr id="30" name="Text 26"/>
          <p:cNvSpPr/>
          <p:nvPr/>
        </p:nvSpPr>
        <p:spPr>
          <a:xfrm>
            <a:off x="3288792" y="2953512"/>
            <a:ext cx="2566416" cy="310896"/>
          </a:xfrm>
          <a:prstGeom prst="rect">
            <a:avLst/>
          </a:prstGeom>
          <a:noFill/>
          <a:ln/>
        </p:spPr>
        <p:txBody>
          <a:bodyPr wrap="square" lIns="0" tIns="0" rIns="0" bIns="0" rtlCol="0" anchor="ctr"/>
          <a:lstStyle/>
          <a:p>
            <a:pPr algn="ctr" indent="0" marL="0">
              <a:lnSpc>
                <a:spcPts val="950"/>
              </a:lnSpc>
              <a:buNone/>
            </a:pPr>
            <a:r>
              <a:rPr lang="en-US" sz="800" b="1" dirty="0">
                <a:solidFill>
                  <a:srgbClr val="172B6D"/>
                </a:solidFill>
                <a:latin typeface="Calibri" pitchFamily="34" charset="0"/>
                <a:ea typeface="Calibri" pitchFamily="34" charset="-122"/>
                <a:cs typeface="Calibri" pitchFamily="34" charset="-120"/>
              </a:rPr>
              <a:t>MANEUVER A</a:t>
            </a:r>
            <a:endParaRPr lang="en-US" sz="800" dirty="0"/>
          </a:p>
        </p:txBody>
      </p:sp>
      <p:sp>
        <p:nvSpPr>
          <p:cNvPr id="31" name="Shape 27"/>
          <p:cNvSpPr/>
          <p:nvPr/>
        </p:nvSpPr>
        <p:spPr>
          <a:xfrm>
            <a:off x="6065520" y="2953512"/>
            <a:ext cx="2621280" cy="310896"/>
          </a:xfrm>
          <a:prstGeom prst="roundRect">
            <a:avLst>
              <a:gd name="adj" fmla="val 11765"/>
            </a:avLst>
          </a:prstGeom>
          <a:solidFill>
            <a:srgbClr val="FFFFFF"/>
          </a:solidFill>
          <a:ln w="15875">
            <a:solidFill>
              <a:srgbClr val="B8720A"/>
            </a:solidFill>
            <a:prstDash val="solid"/>
          </a:ln>
        </p:spPr>
      </p:sp>
      <p:sp>
        <p:nvSpPr>
          <p:cNvPr id="32" name="Text 28"/>
          <p:cNvSpPr/>
          <p:nvPr/>
        </p:nvSpPr>
        <p:spPr>
          <a:xfrm>
            <a:off x="6092952" y="2953512"/>
            <a:ext cx="2566416" cy="310896"/>
          </a:xfrm>
          <a:prstGeom prst="rect">
            <a:avLst/>
          </a:prstGeom>
          <a:noFill/>
          <a:ln/>
        </p:spPr>
        <p:txBody>
          <a:bodyPr wrap="square" lIns="0" tIns="0" rIns="0" bIns="0" rtlCol="0" anchor="ctr"/>
          <a:lstStyle/>
          <a:p>
            <a:pPr algn="ctr" indent="0" marL="0">
              <a:lnSpc>
                <a:spcPts val="950"/>
              </a:lnSpc>
              <a:buNone/>
            </a:pPr>
            <a:r>
              <a:rPr lang="en-US" sz="800" b="1" dirty="0">
                <a:solidFill>
                  <a:srgbClr val="172B6D"/>
                </a:solidFill>
                <a:latin typeface="Calibri" pitchFamily="34" charset="0"/>
                <a:ea typeface="Calibri" pitchFamily="34" charset="-122"/>
                <a:cs typeface="Calibri" pitchFamily="34" charset="-120"/>
              </a:rPr>
              <a:t>MANEUVER B</a:t>
            </a:r>
            <a:endParaRPr lang="en-US" sz="800" dirty="0"/>
          </a:p>
        </p:txBody>
      </p:sp>
      <p:sp>
        <p:nvSpPr>
          <p:cNvPr id="33" name="Text 29"/>
          <p:cNvSpPr/>
          <p:nvPr/>
        </p:nvSpPr>
        <p:spPr>
          <a:xfrm>
            <a:off x="457200" y="3300984"/>
            <a:ext cx="8229600" cy="128016"/>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  ▾  ▾  ▾  ▾</a:t>
            </a:r>
            <a:endParaRPr lang="en-US" sz="800" dirty="0"/>
          </a:p>
        </p:txBody>
      </p:sp>
      <p:sp>
        <p:nvSpPr>
          <p:cNvPr id="34" name="Shape 30"/>
          <p:cNvSpPr/>
          <p:nvPr/>
        </p:nvSpPr>
        <p:spPr>
          <a:xfrm>
            <a:off x="457200" y="3447288"/>
            <a:ext cx="1572768" cy="365760"/>
          </a:xfrm>
          <a:prstGeom prst="roundRect">
            <a:avLst>
              <a:gd name="adj" fmla="val 10000"/>
            </a:avLst>
          </a:prstGeom>
          <a:solidFill>
            <a:srgbClr val="E7F4F3"/>
          </a:solidFill>
          <a:ln w="12700">
            <a:solidFill>
              <a:srgbClr val="D8DEEA"/>
            </a:solidFill>
            <a:prstDash val="solid"/>
          </a:ln>
        </p:spPr>
      </p:sp>
      <p:sp>
        <p:nvSpPr>
          <p:cNvPr id="35" name="Text 31"/>
          <p:cNvSpPr/>
          <p:nvPr/>
        </p:nvSpPr>
        <p:spPr>
          <a:xfrm>
            <a:off x="484632" y="3447288"/>
            <a:ext cx="1517904" cy="365760"/>
          </a:xfrm>
          <a:prstGeom prst="rect">
            <a:avLst/>
          </a:prstGeom>
          <a:noFill/>
          <a:ln/>
        </p:spPr>
        <p:txBody>
          <a:bodyPr wrap="square" lIns="0" tIns="0" rIns="0" bIns="0" rtlCol="0" anchor="ctr"/>
          <a:lstStyle/>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MULTI-OBJECT &amp;</a:t>
            </a:r>
            <a:endParaRPr lang="en-US" sz="630" dirty="0"/>
          </a:p>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MULTI-HORIZON</a:t>
            </a:r>
            <a:endParaRPr lang="en-US" sz="630" dirty="0"/>
          </a:p>
        </p:txBody>
      </p:sp>
      <p:sp>
        <p:nvSpPr>
          <p:cNvPr id="36" name="Shape 32"/>
          <p:cNvSpPr/>
          <p:nvPr/>
        </p:nvSpPr>
        <p:spPr>
          <a:xfrm>
            <a:off x="2121408" y="3447288"/>
            <a:ext cx="1572768" cy="365760"/>
          </a:xfrm>
          <a:prstGeom prst="roundRect">
            <a:avLst>
              <a:gd name="adj" fmla="val 10000"/>
            </a:avLst>
          </a:prstGeom>
          <a:solidFill>
            <a:srgbClr val="E7F4F3"/>
          </a:solidFill>
          <a:ln w="12700">
            <a:solidFill>
              <a:srgbClr val="D8DEEA"/>
            </a:solidFill>
            <a:prstDash val="solid"/>
          </a:ln>
        </p:spPr>
      </p:sp>
      <p:sp>
        <p:nvSpPr>
          <p:cNvPr id="37" name="Text 33"/>
          <p:cNvSpPr/>
          <p:nvPr/>
        </p:nvSpPr>
        <p:spPr>
          <a:xfrm>
            <a:off x="2148840" y="3447288"/>
            <a:ext cx="1517904" cy="365760"/>
          </a:xfrm>
          <a:prstGeom prst="rect">
            <a:avLst/>
          </a:prstGeom>
          <a:noFill/>
          <a:ln/>
        </p:spPr>
        <p:txBody>
          <a:bodyPr wrap="square" lIns="0" tIns="0" rIns="0" bIns="0" rtlCol="0" anchor="ctr"/>
          <a:lstStyle/>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THREAT</a:t>
            </a:r>
            <a:endParaRPr lang="en-US" sz="630" dirty="0"/>
          </a:p>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TRANSFER</a:t>
            </a:r>
            <a:endParaRPr lang="en-US" sz="630" dirty="0"/>
          </a:p>
        </p:txBody>
      </p:sp>
      <p:sp>
        <p:nvSpPr>
          <p:cNvPr id="38" name="Shape 34"/>
          <p:cNvSpPr/>
          <p:nvPr/>
        </p:nvSpPr>
        <p:spPr>
          <a:xfrm>
            <a:off x="3785616" y="3447288"/>
            <a:ext cx="1572768" cy="365760"/>
          </a:xfrm>
          <a:prstGeom prst="roundRect">
            <a:avLst>
              <a:gd name="adj" fmla="val 10000"/>
            </a:avLst>
          </a:prstGeom>
          <a:solidFill>
            <a:srgbClr val="E7F4F3"/>
          </a:solidFill>
          <a:ln w="12700">
            <a:solidFill>
              <a:srgbClr val="D8DEEA"/>
            </a:solidFill>
            <a:prstDash val="solid"/>
          </a:ln>
        </p:spPr>
      </p:sp>
      <p:sp>
        <p:nvSpPr>
          <p:cNvPr id="39" name="Text 35"/>
          <p:cNvSpPr/>
          <p:nvPr/>
        </p:nvSpPr>
        <p:spPr>
          <a:xfrm>
            <a:off x="3813048" y="3447288"/>
            <a:ext cx="1517904" cy="365760"/>
          </a:xfrm>
          <a:prstGeom prst="rect">
            <a:avLst/>
          </a:prstGeom>
          <a:noFill/>
          <a:ln/>
        </p:spPr>
        <p:txBody>
          <a:bodyPr wrap="square" lIns="0" tIns="0" rIns="0" bIns="0" rtlCol="0" anchor="ctr"/>
          <a:lstStyle/>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FUTURE EXPOSURE</a:t>
            </a:r>
            <a:endParaRPr lang="en-US" sz="630" dirty="0"/>
          </a:p>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INDEX (FEI)</a:t>
            </a:r>
            <a:endParaRPr lang="en-US" sz="630" dirty="0"/>
          </a:p>
        </p:txBody>
      </p:sp>
      <p:sp>
        <p:nvSpPr>
          <p:cNvPr id="40" name="Shape 36"/>
          <p:cNvSpPr/>
          <p:nvPr/>
        </p:nvSpPr>
        <p:spPr>
          <a:xfrm>
            <a:off x="5449824" y="3447288"/>
            <a:ext cx="1572768" cy="365760"/>
          </a:xfrm>
          <a:prstGeom prst="roundRect">
            <a:avLst>
              <a:gd name="adj" fmla="val 10000"/>
            </a:avLst>
          </a:prstGeom>
          <a:solidFill>
            <a:srgbClr val="E7F4F3"/>
          </a:solidFill>
          <a:ln w="12700">
            <a:solidFill>
              <a:srgbClr val="D8DEEA"/>
            </a:solidFill>
            <a:prstDash val="solid"/>
          </a:ln>
        </p:spPr>
      </p:sp>
      <p:sp>
        <p:nvSpPr>
          <p:cNvPr id="41" name="Text 37"/>
          <p:cNvSpPr/>
          <p:nvPr/>
        </p:nvSpPr>
        <p:spPr>
          <a:xfrm>
            <a:off x="5477256" y="3447288"/>
            <a:ext cx="1517904" cy="365760"/>
          </a:xfrm>
          <a:prstGeom prst="rect">
            <a:avLst/>
          </a:prstGeom>
          <a:noFill/>
          <a:ln/>
        </p:spPr>
        <p:txBody>
          <a:bodyPr wrap="square" lIns="0" tIns="0" rIns="0" bIns="0" rtlCol="0" anchor="ctr"/>
          <a:lstStyle/>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DECISION</a:t>
            </a:r>
            <a:endParaRPr lang="en-US" sz="630" dirty="0"/>
          </a:p>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SENSITIVITY</a:t>
            </a:r>
            <a:endParaRPr lang="en-US" sz="630" dirty="0"/>
          </a:p>
        </p:txBody>
      </p:sp>
      <p:sp>
        <p:nvSpPr>
          <p:cNvPr id="42" name="Shape 38"/>
          <p:cNvSpPr/>
          <p:nvPr/>
        </p:nvSpPr>
        <p:spPr>
          <a:xfrm>
            <a:off x="7114032" y="3447288"/>
            <a:ext cx="1572768" cy="365760"/>
          </a:xfrm>
          <a:prstGeom prst="roundRect">
            <a:avLst>
              <a:gd name="adj" fmla="val 10000"/>
            </a:avLst>
          </a:prstGeom>
          <a:solidFill>
            <a:srgbClr val="E7F4F3"/>
          </a:solidFill>
          <a:ln w="12700">
            <a:solidFill>
              <a:srgbClr val="D8DEEA"/>
            </a:solidFill>
            <a:prstDash val="solid"/>
          </a:ln>
        </p:spPr>
      </p:sp>
      <p:sp>
        <p:nvSpPr>
          <p:cNvPr id="43" name="Text 39"/>
          <p:cNvSpPr/>
          <p:nvPr/>
        </p:nvSpPr>
        <p:spPr>
          <a:xfrm>
            <a:off x="7141464" y="3447288"/>
            <a:ext cx="1517904" cy="365760"/>
          </a:xfrm>
          <a:prstGeom prst="rect">
            <a:avLst/>
          </a:prstGeom>
          <a:noFill/>
          <a:ln/>
        </p:spPr>
        <p:txBody>
          <a:bodyPr wrap="square" lIns="0" tIns="0" rIns="0" bIns="0" rtlCol="0" anchor="ctr"/>
          <a:lstStyle/>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EXPLAINABLE</a:t>
            </a:r>
            <a:endParaRPr lang="en-US" sz="630" dirty="0"/>
          </a:p>
          <a:p>
            <a:pPr algn="ctr" indent="0" marL="0">
              <a:lnSpc>
                <a:spcPts val="780"/>
              </a:lnSpc>
              <a:buNone/>
            </a:pPr>
            <a:r>
              <a:rPr lang="en-US" sz="630" b="1" dirty="0">
                <a:solidFill>
                  <a:srgbClr val="172B6D"/>
                </a:solidFill>
                <a:latin typeface="Calibri" pitchFamily="34" charset="0"/>
                <a:ea typeface="Calibri" pitchFamily="34" charset="-122"/>
                <a:cs typeface="Calibri" pitchFamily="34" charset="-120"/>
              </a:rPr>
              <a:t>OUTPUT</a:t>
            </a:r>
            <a:endParaRPr lang="en-US" sz="630" dirty="0"/>
          </a:p>
        </p:txBody>
      </p:sp>
      <p:sp>
        <p:nvSpPr>
          <p:cNvPr id="44" name="Text 40"/>
          <p:cNvSpPr/>
          <p:nvPr/>
        </p:nvSpPr>
        <p:spPr>
          <a:xfrm>
            <a:off x="457200" y="3867912"/>
            <a:ext cx="8229600" cy="128016"/>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  ▾  ▾  ▾  ▾</a:t>
            </a:r>
            <a:endParaRPr lang="en-US" sz="800" dirty="0"/>
          </a:p>
        </p:txBody>
      </p:sp>
      <p:sp>
        <p:nvSpPr>
          <p:cNvPr id="45" name="Shape 41"/>
          <p:cNvSpPr/>
          <p:nvPr/>
        </p:nvSpPr>
        <p:spPr>
          <a:xfrm>
            <a:off x="2468880" y="4032504"/>
            <a:ext cx="4206240" cy="329184"/>
          </a:xfrm>
          <a:prstGeom prst="roundRect">
            <a:avLst>
              <a:gd name="adj" fmla="val 11111"/>
            </a:avLst>
          </a:prstGeom>
          <a:solidFill>
            <a:srgbClr val="172B6D"/>
          </a:solidFill>
          <a:ln w="12700">
            <a:solidFill>
              <a:srgbClr val="172B6D"/>
            </a:solidFill>
            <a:prstDash val="solid"/>
          </a:ln>
        </p:spPr>
      </p:sp>
      <p:sp>
        <p:nvSpPr>
          <p:cNvPr id="46" name="Text 42"/>
          <p:cNvSpPr/>
          <p:nvPr/>
        </p:nvSpPr>
        <p:spPr>
          <a:xfrm>
            <a:off x="2496312" y="4032504"/>
            <a:ext cx="4151376" cy="329184"/>
          </a:xfrm>
          <a:prstGeom prst="rect">
            <a:avLst/>
          </a:prstGeom>
          <a:noFill/>
          <a:ln/>
        </p:spPr>
        <p:txBody>
          <a:bodyPr wrap="square" lIns="0" tIns="0" rIns="0" bIns="0" rtlCol="0" anchor="ctr"/>
          <a:lstStyle/>
          <a:p>
            <a:pPr algn="ctr" indent="0" marL="0">
              <a:lnSpc>
                <a:spcPts val="1000"/>
              </a:lnSpc>
              <a:buNone/>
            </a:pPr>
            <a:r>
              <a:rPr lang="en-US" sz="850" b="1" dirty="0">
                <a:solidFill>
                  <a:srgbClr val="FFFFFF"/>
                </a:solidFill>
                <a:latin typeface="Calibri" pitchFamily="34" charset="0"/>
                <a:ea typeface="Calibri" pitchFamily="34" charset="-122"/>
                <a:cs typeface="Calibri" pitchFamily="34" charset="-120"/>
              </a:rPr>
              <a:t>HUMAN OPERATOR — REVIEW · INTERPRET · DECIDE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1900" b="1" dirty="0">
                <a:solidFill>
                  <a:srgbClr val="172B6D"/>
                </a:solidFill>
                <a:latin typeface="Arial" pitchFamily="34" charset="0"/>
                <a:ea typeface="Arial" pitchFamily="34" charset="-122"/>
                <a:cs typeface="Arial" pitchFamily="34" charset="-120"/>
              </a:rPr>
              <a:t>FLOWCHART / DIAGRAM</a:t>
            </a:r>
            <a:endParaRPr lang="en-US" sz="1900" dirty="0"/>
          </a:p>
        </p:txBody>
      </p:sp>
      <p:sp>
        <p:nvSpPr>
          <p:cNvPr id="5" name="Text 1"/>
          <p:cNvSpPr/>
          <p:nvPr/>
        </p:nvSpPr>
        <p:spPr>
          <a:xfrm>
            <a:off x="0" y="1965960"/>
            <a:ext cx="9144000" cy="274320"/>
          </a:xfrm>
          <a:prstGeom prst="rect">
            <a:avLst/>
          </a:prstGeom>
          <a:noFill/>
          <a:ln/>
        </p:spPr>
        <p:txBody>
          <a:bodyPr wrap="square" lIns="0" tIns="0" rIns="0" bIns="0" rtlCol="0" anchor="ctr"/>
          <a:lstStyle/>
          <a:p>
            <a:pPr algn="ctr" indent="0" marL="0">
              <a:buNone/>
            </a:pPr>
            <a:r>
              <a:rPr lang="en-US" sz="1300" b="1" dirty="0">
                <a:solidFill>
                  <a:srgbClr val="1C8F89"/>
                </a:solidFill>
                <a:latin typeface="Calibri" pitchFamily="34" charset="0"/>
                <a:ea typeface="Calibri" pitchFamily="34" charset="-122"/>
                <a:cs typeface="Calibri" pitchFamily="34" charset="-120"/>
              </a:rPr>
              <a:t>From Alert to Future Decision</a:t>
            </a:r>
            <a:endParaRPr lang="en-US" sz="1300" dirty="0"/>
          </a:p>
        </p:txBody>
      </p:sp>
      <p:sp>
        <p:nvSpPr>
          <p:cNvPr id="6" name="Shape 2"/>
          <p:cNvSpPr/>
          <p:nvPr/>
        </p:nvSpPr>
        <p:spPr>
          <a:xfrm>
            <a:off x="457200" y="2331720"/>
            <a:ext cx="3931920" cy="2084832"/>
          </a:xfrm>
          <a:prstGeom prst="roundRect">
            <a:avLst>
              <a:gd name="adj" fmla="val 2632"/>
            </a:avLst>
          </a:prstGeom>
          <a:solidFill>
            <a:srgbClr val="F7F9FC"/>
          </a:solidFill>
          <a:ln w="12700">
            <a:solidFill>
              <a:srgbClr val="D8DEEA"/>
            </a:solidFill>
            <a:prstDash val="solid"/>
          </a:ln>
        </p:spPr>
      </p:sp>
      <p:sp>
        <p:nvSpPr>
          <p:cNvPr id="7" name="Text 3"/>
          <p:cNvSpPr/>
          <p:nvPr/>
        </p:nvSpPr>
        <p:spPr>
          <a:xfrm>
            <a:off x="640080" y="2441448"/>
            <a:ext cx="3566160" cy="219456"/>
          </a:xfrm>
          <a:prstGeom prst="rect">
            <a:avLst/>
          </a:prstGeom>
          <a:noFill/>
          <a:ln/>
        </p:spPr>
        <p:txBody>
          <a:bodyPr wrap="square" lIns="0" tIns="0" rIns="0" bIns="0" rtlCol="0" anchor="ctr"/>
          <a:lstStyle/>
          <a:p>
            <a:pPr indent="0" marL="0">
              <a:buNone/>
            </a:pPr>
            <a:r>
              <a:rPr lang="en-US" sz="850" b="1" dirty="0">
                <a:solidFill>
                  <a:srgbClr val="7C8698"/>
                </a:solidFill>
                <a:latin typeface="Calibri" pitchFamily="34" charset="0"/>
                <a:ea typeface="Calibri" pitchFamily="34" charset="-122"/>
                <a:cs typeface="Calibri" pitchFamily="34" charset="-120"/>
              </a:rPr>
              <a:t>TYPICAL SIMPLIFIED WORKFLOW</a:t>
            </a:r>
            <a:endParaRPr lang="en-US" sz="850" dirty="0"/>
          </a:p>
        </p:txBody>
      </p:sp>
      <p:sp>
        <p:nvSpPr>
          <p:cNvPr id="8" name="Shape 4"/>
          <p:cNvSpPr/>
          <p:nvPr/>
        </p:nvSpPr>
        <p:spPr>
          <a:xfrm>
            <a:off x="640080" y="2734056"/>
            <a:ext cx="146304" cy="146304"/>
          </a:xfrm>
          <a:prstGeom prst="ellipse">
            <a:avLst/>
          </a:prstGeom>
          <a:solidFill>
            <a:srgbClr val="E9ECF3"/>
          </a:solidFill>
          <a:ln w="9525">
            <a:solidFill>
              <a:srgbClr val="7C8698"/>
            </a:solidFill>
            <a:prstDash val="solid"/>
          </a:ln>
        </p:spPr>
      </p:sp>
      <p:sp>
        <p:nvSpPr>
          <p:cNvPr id="9" name="Text 5"/>
          <p:cNvSpPr/>
          <p:nvPr/>
        </p:nvSpPr>
        <p:spPr>
          <a:xfrm>
            <a:off x="877824" y="2715768"/>
            <a:ext cx="3291840" cy="182880"/>
          </a:xfrm>
          <a:prstGeom prst="rect">
            <a:avLst/>
          </a:prstGeom>
          <a:noFill/>
          <a:ln/>
        </p:spPr>
        <p:txBody>
          <a:bodyPr wrap="square" lIns="0" tIns="0" rIns="0" bIns="0" rtlCol="0" anchor="ctr"/>
          <a:lstStyle/>
          <a:p>
            <a:pPr indent="0" marL="0">
              <a:buNone/>
            </a:pPr>
            <a:r>
              <a:rPr lang="en-US" sz="900" dirty="0">
                <a:solidFill>
                  <a:srgbClr val="172B6D"/>
                </a:solidFill>
                <a:latin typeface="Calibri" pitchFamily="34" charset="0"/>
                <a:ea typeface="Calibri" pitchFamily="34" charset="-122"/>
                <a:cs typeface="Calibri" pitchFamily="34" charset="-120"/>
              </a:rPr>
              <a:t>Track</a:t>
            </a:r>
            <a:endParaRPr lang="en-US" sz="900" dirty="0"/>
          </a:p>
        </p:txBody>
      </p:sp>
      <p:sp>
        <p:nvSpPr>
          <p:cNvPr id="10" name="Shape 6"/>
          <p:cNvSpPr/>
          <p:nvPr/>
        </p:nvSpPr>
        <p:spPr>
          <a:xfrm>
            <a:off x="640080" y="3063240"/>
            <a:ext cx="146304" cy="146304"/>
          </a:xfrm>
          <a:prstGeom prst="ellipse">
            <a:avLst/>
          </a:prstGeom>
          <a:solidFill>
            <a:srgbClr val="E9ECF3"/>
          </a:solidFill>
          <a:ln w="9525">
            <a:solidFill>
              <a:srgbClr val="7C8698"/>
            </a:solidFill>
            <a:prstDash val="solid"/>
          </a:ln>
        </p:spPr>
      </p:sp>
      <p:sp>
        <p:nvSpPr>
          <p:cNvPr id="11" name="Text 7"/>
          <p:cNvSpPr/>
          <p:nvPr/>
        </p:nvSpPr>
        <p:spPr>
          <a:xfrm>
            <a:off x="877824" y="3044952"/>
            <a:ext cx="3291840" cy="182880"/>
          </a:xfrm>
          <a:prstGeom prst="rect">
            <a:avLst/>
          </a:prstGeom>
          <a:noFill/>
          <a:ln/>
        </p:spPr>
        <p:txBody>
          <a:bodyPr wrap="square" lIns="0" tIns="0" rIns="0" bIns="0" rtlCol="0" anchor="ctr"/>
          <a:lstStyle/>
          <a:p>
            <a:pPr indent="0" marL="0">
              <a:buNone/>
            </a:pPr>
            <a:r>
              <a:rPr lang="en-US" sz="900" dirty="0">
                <a:solidFill>
                  <a:srgbClr val="172B6D"/>
                </a:solidFill>
                <a:latin typeface="Calibri" pitchFamily="34" charset="0"/>
                <a:ea typeface="Calibri" pitchFamily="34" charset="-122"/>
                <a:cs typeface="Calibri" pitchFamily="34" charset="-120"/>
              </a:rPr>
              <a:t>Propagate</a:t>
            </a:r>
            <a:endParaRPr lang="en-US" sz="900" dirty="0"/>
          </a:p>
        </p:txBody>
      </p:sp>
      <p:sp>
        <p:nvSpPr>
          <p:cNvPr id="12" name="Shape 8"/>
          <p:cNvSpPr/>
          <p:nvPr/>
        </p:nvSpPr>
        <p:spPr>
          <a:xfrm>
            <a:off x="640080" y="3392424"/>
            <a:ext cx="146304" cy="146304"/>
          </a:xfrm>
          <a:prstGeom prst="ellipse">
            <a:avLst/>
          </a:prstGeom>
          <a:solidFill>
            <a:srgbClr val="E9ECF3"/>
          </a:solidFill>
          <a:ln w="9525">
            <a:solidFill>
              <a:srgbClr val="7C8698"/>
            </a:solidFill>
            <a:prstDash val="solid"/>
          </a:ln>
        </p:spPr>
      </p:sp>
      <p:sp>
        <p:nvSpPr>
          <p:cNvPr id="13" name="Text 9"/>
          <p:cNvSpPr/>
          <p:nvPr/>
        </p:nvSpPr>
        <p:spPr>
          <a:xfrm>
            <a:off x="877824" y="3374136"/>
            <a:ext cx="3291840" cy="182880"/>
          </a:xfrm>
          <a:prstGeom prst="rect">
            <a:avLst/>
          </a:prstGeom>
          <a:noFill/>
          <a:ln/>
        </p:spPr>
        <p:txBody>
          <a:bodyPr wrap="square" lIns="0" tIns="0" rIns="0" bIns="0" rtlCol="0" anchor="ctr"/>
          <a:lstStyle/>
          <a:p>
            <a:pPr indent="0" marL="0">
              <a:buNone/>
            </a:pPr>
            <a:r>
              <a:rPr lang="en-US" sz="900" dirty="0">
                <a:solidFill>
                  <a:srgbClr val="172B6D"/>
                </a:solidFill>
                <a:latin typeface="Calibri" pitchFamily="34" charset="0"/>
                <a:ea typeface="Calibri" pitchFamily="34" charset="-122"/>
                <a:cs typeface="Calibri" pitchFamily="34" charset="-120"/>
              </a:rPr>
              <a:t>Close Approach</a:t>
            </a:r>
            <a:endParaRPr lang="en-US" sz="900" dirty="0"/>
          </a:p>
        </p:txBody>
      </p:sp>
      <p:sp>
        <p:nvSpPr>
          <p:cNvPr id="14" name="Shape 10"/>
          <p:cNvSpPr/>
          <p:nvPr/>
        </p:nvSpPr>
        <p:spPr>
          <a:xfrm>
            <a:off x="640080" y="3721608"/>
            <a:ext cx="146304" cy="146304"/>
          </a:xfrm>
          <a:prstGeom prst="ellipse">
            <a:avLst/>
          </a:prstGeom>
          <a:solidFill>
            <a:srgbClr val="E9ECF3"/>
          </a:solidFill>
          <a:ln w="9525">
            <a:solidFill>
              <a:srgbClr val="7C8698"/>
            </a:solidFill>
            <a:prstDash val="solid"/>
          </a:ln>
        </p:spPr>
      </p:sp>
      <p:sp>
        <p:nvSpPr>
          <p:cNvPr id="15" name="Text 11"/>
          <p:cNvSpPr/>
          <p:nvPr/>
        </p:nvSpPr>
        <p:spPr>
          <a:xfrm>
            <a:off x="877824" y="3703320"/>
            <a:ext cx="3291840" cy="182880"/>
          </a:xfrm>
          <a:prstGeom prst="rect">
            <a:avLst/>
          </a:prstGeom>
          <a:noFill/>
          <a:ln/>
        </p:spPr>
        <p:txBody>
          <a:bodyPr wrap="square" lIns="0" tIns="0" rIns="0" bIns="0" rtlCol="0" anchor="ctr"/>
          <a:lstStyle/>
          <a:p>
            <a:pPr indent="0" marL="0">
              <a:buNone/>
            </a:pPr>
            <a:r>
              <a:rPr lang="en-US" sz="900" dirty="0">
                <a:solidFill>
                  <a:srgbClr val="172B6D"/>
                </a:solidFill>
                <a:latin typeface="Calibri" pitchFamily="34" charset="0"/>
                <a:ea typeface="Calibri" pitchFamily="34" charset="-122"/>
                <a:cs typeface="Calibri" pitchFamily="34" charset="-120"/>
              </a:rPr>
              <a:t>Risk</a:t>
            </a:r>
            <a:endParaRPr lang="en-US" sz="900" dirty="0"/>
          </a:p>
        </p:txBody>
      </p:sp>
      <p:sp>
        <p:nvSpPr>
          <p:cNvPr id="16" name="Shape 12"/>
          <p:cNvSpPr/>
          <p:nvPr/>
        </p:nvSpPr>
        <p:spPr>
          <a:xfrm>
            <a:off x="640080" y="4050792"/>
            <a:ext cx="146304" cy="146304"/>
          </a:xfrm>
          <a:prstGeom prst="ellipse">
            <a:avLst/>
          </a:prstGeom>
          <a:solidFill>
            <a:srgbClr val="E9ECF3"/>
          </a:solidFill>
          <a:ln w="9525">
            <a:solidFill>
              <a:srgbClr val="7C8698"/>
            </a:solidFill>
            <a:prstDash val="solid"/>
          </a:ln>
        </p:spPr>
      </p:sp>
      <p:sp>
        <p:nvSpPr>
          <p:cNvPr id="17" name="Text 13"/>
          <p:cNvSpPr/>
          <p:nvPr/>
        </p:nvSpPr>
        <p:spPr>
          <a:xfrm>
            <a:off x="877824" y="4032504"/>
            <a:ext cx="3291840" cy="182880"/>
          </a:xfrm>
          <a:prstGeom prst="rect">
            <a:avLst/>
          </a:prstGeom>
          <a:noFill/>
          <a:ln/>
        </p:spPr>
        <p:txBody>
          <a:bodyPr wrap="square" lIns="0" tIns="0" rIns="0" bIns="0" rtlCol="0" anchor="ctr"/>
          <a:lstStyle/>
          <a:p>
            <a:pPr indent="0" marL="0">
              <a:buNone/>
            </a:pPr>
            <a:r>
              <a:rPr lang="en-US" sz="900" dirty="0">
                <a:solidFill>
                  <a:srgbClr val="172B6D"/>
                </a:solidFill>
                <a:latin typeface="Calibri" pitchFamily="34" charset="0"/>
                <a:ea typeface="Calibri" pitchFamily="34" charset="-122"/>
                <a:cs typeface="Calibri" pitchFamily="34" charset="-120"/>
              </a:rPr>
              <a:t>Alert</a:t>
            </a:r>
            <a:endParaRPr lang="en-US" sz="900" dirty="0"/>
          </a:p>
        </p:txBody>
      </p:sp>
      <p:sp>
        <p:nvSpPr>
          <p:cNvPr id="18" name="Shape 14"/>
          <p:cNvSpPr/>
          <p:nvPr/>
        </p:nvSpPr>
        <p:spPr>
          <a:xfrm>
            <a:off x="4572000" y="2331720"/>
            <a:ext cx="3931920" cy="2084832"/>
          </a:xfrm>
          <a:prstGeom prst="roundRect">
            <a:avLst>
              <a:gd name="adj" fmla="val 2632"/>
            </a:avLst>
          </a:prstGeom>
          <a:solidFill>
            <a:srgbClr val="E7F4F3"/>
          </a:solidFill>
          <a:ln w="15875">
            <a:solidFill>
              <a:srgbClr val="1C8F89"/>
            </a:solidFill>
            <a:prstDash val="solid"/>
          </a:ln>
        </p:spPr>
      </p:sp>
      <p:sp>
        <p:nvSpPr>
          <p:cNvPr id="19" name="Text 15"/>
          <p:cNvSpPr/>
          <p:nvPr/>
        </p:nvSpPr>
        <p:spPr>
          <a:xfrm>
            <a:off x="4754880" y="2441448"/>
            <a:ext cx="3566160" cy="219456"/>
          </a:xfrm>
          <a:prstGeom prst="rect">
            <a:avLst/>
          </a:prstGeom>
          <a:noFill/>
          <a:ln/>
        </p:spPr>
        <p:txBody>
          <a:bodyPr wrap="square" lIns="0" tIns="0" rIns="0" bIns="0" rtlCol="0" anchor="ctr"/>
          <a:lstStyle/>
          <a:p>
            <a:pPr indent="0" marL="0">
              <a:buNone/>
            </a:pPr>
            <a:r>
              <a:rPr lang="en-US" sz="850" b="1" dirty="0">
                <a:solidFill>
                  <a:srgbClr val="1C8F89"/>
                </a:solidFill>
                <a:latin typeface="Calibri" pitchFamily="34" charset="0"/>
                <a:ea typeface="Calibri" pitchFamily="34" charset="-122"/>
                <a:cs typeface="Calibri" pitchFamily="34" charset="-120"/>
              </a:rPr>
              <a:t>OUR PROTOTYPE</a:t>
            </a:r>
            <a:endParaRPr lang="en-US" sz="850" dirty="0"/>
          </a:p>
        </p:txBody>
      </p:sp>
      <p:sp>
        <p:nvSpPr>
          <p:cNvPr id="20" name="Shape 16"/>
          <p:cNvSpPr/>
          <p:nvPr/>
        </p:nvSpPr>
        <p:spPr>
          <a:xfrm>
            <a:off x="4754880" y="2679192"/>
            <a:ext cx="128016" cy="128016"/>
          </a:xfrm>
          <a:prstGeom prst="ellipse">
            <a:avLst/>
          </a:prstGeom>
          <a:solidFill>
            <a:srgbClr val="1C8F89"/>
          </a:solidFill>
          <a:ln/>
        </p:spPr>
      </p:sp>
      <p:sp>
        <p:nvSpPr>
          <p:cNvPr id="21" name="Text 17"/>
          <p:cNvSpPr/>
          <p:nvPr/>
        </p:nvSpPr>
        <p:spPr>
          <a:xfrm>
            <a:off x="4974336" y="265176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Track</a:t>
            </a:r>
            <a:endParaRPr lang="en-US" sz="830" dirty="0"/>
          </a:p>
        </p:txBody>
      </p:sp>
      <p:sp>
        <p:nvSpPr>
          <p:cNvPr id="22" name="Shape 18"/>
          <p:cNvSpPr/>
          <p:nvPr/>
        </p:nvSpPr>
        <p:spPr>
          <a:xfrm>
            <a:off x="4754880" y="2884932"/>
            <a:ext cx="128016" cy="128016"/>
          </a:xfrm>
          <a:prstGeom prst="ellipse">
            <a:avLst/>
          </a:prstGeom>
          <a:solidFill>
            <a:srgbClr val="1C8F89"/>
          </a:solidFill>
          <a:ln/>
        </p:spPr>
      </p:sp>
      <p:sp>
        <p:nvSpPr>
          <p:cNvPr id="23" name="Text 19"/>
          <p:cNvSpPr/>
          <p:nvPr/>
        </p:nvSpPr>
        <p:spPr>
          <a:xfrm>
            <a:off x="4974336" y="285750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Risk + Uncertainty</a:t>
            </a:r>
            <a:endParaRPr lang="en-US" sz="830" dirty="0"/>
          </a:p>
        </p:txBody>
      </p:sp>
      <p:sp>
        <p:nvSpPr>
          <p:cNvPr id="24" name="Shape 20"/>
          <p:cNvSpPr/>
          <p:nvPr/>
        </p:nvSpPr>
        <p:spPr>
          <a:xfrm>
            <a:off x="4754880" y="3090672"/>
            <a:ext cx="128016" cy="128016"/>
          </a:xfrm>
          <a:prstGeom prst="ellipse">
            <a:avLst/>
          </a:prstGeom>
          <a:solidFill>
            <a:srgbClr val="1C8F89"/>
          </a:solidFill>
          <a:ln/>
        </p:spPr>
      </p:sp>
      <p:sp>
        <p:nvSpPr>
          <p:cNvPr id="25" name="Text 21"/>
          <p:cNvSpPr/>
          <p:nvPr/>
        </p:nvSpPr>
        <p:spPr>
          <a:xfrm>
            <a:off x="4974336" y="306324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Future State Envelope</a:t>
            </a:r>
            <a:endParaRPr lang="en-US" sz="830" dirty="0"/>
          </a:p>
        </p:txBody>
      </p:sp>
      <p:sp>
        <p:nvSpPr>
          <p:cNvPr id="26" name="Shape 22"/>
          <p:cNvSpPr/>
          <p:nvPr/>
        </p:nvSpPr>
        <p:spPr>
          <a:xfrm>
            <a:off x="4754880" y="3296412"/>
            <a:ext cx="128016" cy="128016"/>
          </a:xfrm>
          <a:prstGeom prst="ellipse">
            <a:avLst/>
          </a:prstGeom>
          <a:solidFill>
            <a:srgbClr val="1C8F89"/>
          </a:solidFill>
          <a:ln/>
        </p:spPr>
      </p:sp>
      <p:sp>
        <p:nvSpPr>
          <p:cNvPr id="27" name="Text 23"/>
          <p:cNvSpPr/>
          <p:nvPr/>
        </p:nvSpPr>
        <p:spPr>
          <a:xfrm>
            <a:off x="4974336" y="326898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Scenario Comparison</a:t>
            </a:r>
            <a:endParaRPr lang="en-US" sz="830" dirty="0"/>
          </a:p>
        </p:txBody>
      </p:sp>
      <p:sp>
        <p:nvSpPr>
          <p:cNvPr id="28" name="Shape 24"/>
          <p:cNvSpPr/>
          <p:nvPr/>
        </p:nvSpPr>
        <p:spPr>
          <a:xfrm>
            <a:off x="4754880" y="3502152"/>
            <a:ext cx="128016" cy="128016"/>
          </a:xfrm>
          <a:prstGeom prst="ellipse">
            <a:avLst/>
          </a:prstGeom>
          <a:solidFill>
            <a:srgbClr val="1C8F89"/>
          </a:solidFill>
          <a:ln/>
        </p:spPr>
      </p:sp>
      <p:sp>
        <p:nvSpPr>
          <p:cNvPr id="29" name="Text 25"/>
          <p:cNvSpPr/>
          <p:nvPr/>
        </p:nvSpPr>
        <p:spPr>
          <a:xfrm>
            <a:off x="4974336" y="347472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Multi-Object Consequences</a:t>
            </a:r>
            <a:endParaRPr lang="en-US" sz="830" dirty="0"/>
          </a:p>
        </p:txBody>
      </p:sp>
      <p:sp>
        <p:nvSpPr>
          <p:cNvPr id="30" name="Shape 26"/>
          <p:cNvSpPr/>
          <p:nvPr/>
        </p:nvSpPr>
        <p:spPr>
          <a:xfrm>
            <a:off x="4754880" y="3707892"/>
            <a:ext cx="128016" cy="128016"/>
          </a:xfrm>
          <a:prstGeom prst="ellipse">
            <a:avLst/>
          </a:prstGeom>
          <a:solidFill>
            <a:srgbClr val="1C8F89"/>
          </a:solidFill>
          <a:ln/>
        </p:spPr>
      </p:sp>
      <p:sp>
        <p:nvSpPr>
          <p:cNvPr id="31" name="Text 27"/>
          <p:cNvSpPr/>
          <p:nvPr/>
        </p:nvSpPr>
        <p:spPr>
          <a:xfrm>
            <a:off x="4974336" y="368046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Multi-Horizon Exposure</a:t>
            </a:r>
            <a:endParaRPr lang="en-US" sz="830" dirty="0"/>
          </a:p>
        </p:txBody>
      </p:sp>
      <p:sp>
        <p:nvSpPr>
          <p:cNvPr id="32" name="Shape 28"/>
          <p:cNvSpPr/>
          <p:nvPr/>
        </p:nvSpPr>
        <p:spPr>
          <a:xfrm>
            <a:off x="4754880" y="3913632"/>
            <a:ext cx="128016" cy="128016"/>
          </a:xfrm>
          <a:prstGeom prst="ellipse">
            <a:avLst/>
          </a:prstGeom>
          <a:solidFill>
            <a:srgbClr val="1C8F89"/>
          </a:solidFill>
          <a:ln/>
        </p:spPr>
      </p:sp>
      <p:sp>
        <p:nvSpPr>
          <p:cNvPr id="33" name="Text 29"/>
          <p:cNvSpPr/>
          <p:nvPr/>
        </p:nvSpPr>
        <p:spPr>
          <a:xfrm>
            <a:off x="4974336" y="388620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Threat Transfer</a:t>
            </a:r>
            <a:endParaRPr lang="en-US" sz="830" dirty="0"/>
          </a:p>
        </p:txBody>
      </p:sp>
      <p:sp>
        <p:nvSpPr>
          <p:cNvPr id="34" name="Shape 30"/>
          <p:cNvSpPr/>
          <p:nvPr/>
        </p:nvSpPr>
        <p:spPr>
          <a:xfrm>
            <a:off x="4754880" y="4119372"/>
            <a:ext cx="128016" cy="128016"/>
          </a:xfrm>
          <a:prstGeom prst="ellipse">
            <a:avLst/>
          </a:prstGeom>
          <a:solidFill>
            <a:srgbClr val="1C8F89"/>
          </a:solidFill>
          <a:ln/>
        </p:spPr>
      </p:sp>
      <p:sp>
        <p:nvSpPr>
          <p:cNvPr id="35" name="Text 31"/>
          <p:cNvSpPr/>
          <p:nvPr/>
        </p:nvSpPr>
        <p:spPr>
          <a:xfrm>
            <a:off x="4974336" y="4091940"/>
            <a:ext cx="3337560" cy="182880"/>
          </a:xfrm>
          <a:prstGeom prst="rect">
            <a:avLst/>
          </a:prstGeom>
          <a:noFill/>
          <a:ln/>
        </p:spPr>
        <p:txBody>
          <a:bodyPr wrap="square" lIns="0" tIns="0" rIns="0" bIns="0" rtlCol="0" anchor="ctr"/>
          <a:lstStyle/>
          <a:p>
            <a:pPr indent="0" marL="0">
              <a:buNone/>
            </a:pPr>
            <a:r>
              <a:rPr lang="en-US" sz="830" b="1" dirty="0">
                <a:solidFill>
                  <a:srgbClr val="172B6D"/>
                </a:solidFill>
                <a:latin typeface="Calibri" pitchFamily="34" charset="0"/>
                <a:ea typeface="Calibri" pitchFamily="34" charset="-122"/>
                <a:cs typeface="Calibri" pitchFamily="34" charset="-120"/>
              </a:rPr>
              <a:t>Decision Sensitivity</a:t>
            </a:r>
            <a:endParaRPr lang="en-US" sz="830" dirty="0"/>
          </a:p>
        </p:txBody>
      </p:sp>
      <p:sp>
        <p:nvSpPr>
          <p:cNvPr id="36" name="Text 32"/>
          <p:cNvSpPr/>
          <p:nvPr/>
        </p:nvSpPr>
        <p:spPr>
          <a:xfrm>
            <a:off x="457200" y="4471416"/>
            <a:ext cx="8229600" cy="201168"/>
          </a:xfrm>
          <a:prstGeom prst="rect">
            <a:avLst/>
          </a:prstGeom>
          <a:noFill/>
          <a:ln/>
        </p:spPr>
        <p:txBody>
          <a:bodyPr wrap="square" lIns="0" tIns="0" rIns="0" bIns="0" rtlCol="0" anchor="ctr"/>
          <a:lstStyle/>
          <a:p>
            <a:pPr algn="ctr" indent="0" marL="0">
              <a:buNone/>
            </a:pPr>
            <a:r>
              <a:rPr lang="en-US" sz="750" i="1" dirty="0">
                <a:solidFill>
                  <a:srgbClr val="7C8698"/>
                </a:solidFill>
                <a:latin typeface="Calibri" pitchFamily="34" charset="0"/>
                <a:ea typeface="Calibri" pitchFamily="34" charset="-122"/>
                <a:cs typeface="Calibri" pitchFamily="34" charset="-120"/>
              </a:rPr>
              <a:t>Illustrative demo: Maneuver A lowers Future Exposure to 51 (vs. 78 for No Action) with 62% Decision Sensitivity.</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1900" b="1" dirty="0">
                <a:solidFill>
                  <a:srgbClr val="172B6D"/>
                </a:solidFill>
                <a:latin typeface="Arial" pitchFamily="34" charset="0"/>
                <a:ea typeface="Arial" pitchFamily="34" charset="-122"/>
                <a:cs typeface="Arial" pitchFamily="34" charset="-120"/>
              </a:rPr>
              <a:t>FEATURES AND NOVELTY</a:t>
            </a:r>
            <a:endParaRPr lang="en-US" sz="1900" dirty="0"/>
          </a:p>
        </p:txBody>
      </p:sp>
      <p:sp>
        <p:nvSpPr>
          <p:cNvPr id="5" name="Shape 1"/>
          <p:cNvSpPr/>
          <p:nvPr/>
        </p:nvSpPr>
        <p:spPr>
          <a:xfrm>
            <a:off x="457200" y="1874520"/>
            <a:ext cx="2645664" cy="914400"/>
          </a:xfrm>
          <a:prstGeom prst="roundRect">
            <a:avLst>
              <a:gd name="adj" fmla="val 6000"/>
            </a:avLst>
          </a:prstGeom>
          <a:solidFill>
            <a:srgbClr val="F7F9FC"/>
          </a:solidFill>
          <a:ln w="12700">
            <a:solidFill>
              <a:srgbClr val="D8DEEA"/>
            </a:solidFill>
            <a:prstDash val="solid"/>
          </a:ln>
        </p:spPr>
      </p:sp>
      <p:sp>
        <p:nvSpPr>
          <p:cNvPr id="6" name="Shape 2"/>
          <p:cNvSpPr/>
          <p:nvPr/>
        </p:nvSpPr>
        <p:spPr>
          <a:xfrm>
            <a:off x="566928" y="1984248"/>
            <a:ext cx="237744" cy="237744"/>
          </a:xfrm>
          <a:prstGeom prst="roundRect">
            <a:avLst>
              <a:gd name="adj" fmla="val 19231"/>
            </a:avLst>
          </a:prstGeom>
          <a:solidFill>
            <a:srgbClr val="1C8F89"/>
          </a:solidFill>
          <a:ln/>
        </p:spPr>
      </p:sp>
      <p:sp>
        <p:nvSpPr>
          <p:cNvPr id="7" name="Text 3"/>
          <p:cNvSpPr/>
          <p:nvPr/>
        </p:nvSpPr>
        <p:spPr>
          <a:xfrm>
            <a:off x="566928" y="198424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01</a:t>
            </a:r>
            <a:endParaRPr lang="en-US" sz="800" dirty="0"/>
          </a:p>
        </p:txBody>
      </p:sp>
      <p:sp>
        <p:nvSpPr>
          <p:cNvPr id="8" name="Text 4"/>
          <p:cNvSpPr/>
          <p:nvPr/>
        </p:nvSpPr>
        <p:spPr>
          <a:xfrm>
            <a:off x="566928" y="2276856"/>
            <a:ext cx="2426208" cy="256032"/>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Orbital Tracking</a:t>
            </a:r>
            <a:endParaRPr lang="en-US" sz="900" dirty="0"/>
          </a:p>
        </p:txBody>
      </p:sp>
      <p:sp>
        <p:nvSpPr>
          <p:cNvPr id="9" name="Text 5"/>
          <p:cNvSpPr/>
          <p:nvPr/>
        </p:nvSpPr>
        <p:spPr>
          <a:xfrm>
            <a:off x="566928" y="2532888"/>
            <a:ext cx="2426208" cy="237744"/>
          </a:xfrm>
          <a:prstGeom prst="rect">
            <a:avLst/>
          </a:prstGeom>
          <a:noFill/>
          <a:ln/>
        </p:spPr>
        <p:txBody>
          <a:bodyPr wrap="square" lIns="0" tIns="0" rIns="0" bIns="0" rtlCol="0" anchor="ctr"/>
          <a:lstStyle/>
          <a:p>
            <a:pPr indent="0" marL="0">
              <a:lnSpc>
                <a:spcPts val="850"/>
              </a:lnSpc>
              <a:buNone/>
            </a:pPr>
            <a:r>
              <a:rPr lang="en-US" sz="700" dirty="0">
                <a:solidFill>
                  <a:srgbClr val="545454"/>
                </a:solidFill>
                <a:latin typeface="Calibri" pitchFamily="34" charset="0"/>
                <a:ea typeface="Calibri" pitchFamily="34" charset="-122"/>
                <a:cs typeface="Calibri" pitchFamily="34" charset="-120"/>
              </a:rPr>
              <a:t>Established propagation models.</a:t>
            </a:r>
            <a:endParaRPr lang="en-US" sz="700" dirty="0"/>
          </a:p>
        </p:txBody>
      </p:sp>
      <p:sp>
        <p:nvSpPr>
          <p:cNvPr id="10" name="Shape 6"/>
          <p:cNvSpPr/>
          <p:nvPr/>
        </p:nvSpPr>
        <p:spPr>
          <a:xfrm>
            <a:off x="3249168" y="1874520"/>
            <a:ext cx="2645664" cy="914400"/>
          </a:xfrm>
          <a:prstGeom prst="roundRect">
            <a:avLst>
              <a:gd name="adj" fmla="val 6000"/>
            </a:avLst>
          </a:prstGeom>
          <a:solidFill>
            <a:srgbClr val="F7F9FC"/>
          </a:solidFill>
          <a:ln w="12700">
            <a:solidFill>
              <a:srgbClr val="D8DEEA"/>
            </a:solidFill>
            <a:prstDash val="solid"/>
          </a:ln>
        </p:spPr>
      </p:sp>
      <p:sp>
        <p:nvSpPr>
          <p:cNvPr id="11" name="Shape 7"/>
          <p:cNvSpPr/>
          <p:nvPr/>
        </p:nvSpPr>
        <p:spPr>
          <a:xfrm>
            <a:off x="3358896" y="1984248"/>
            <a:ext cx="237744" cy="237744"/>
          </a:xfrm>
          <a:prstGeom prst="roundRect">
            <a:avLst>
              <a:gd name="adj" fmla="val 19231"/>
            </a:avLst>
          </a:prstGeom>
          <a:solidFill>
            <a:srgbClr val="1C8F89"/>
          </a:solidFill>
          <a:ln/>
        </p:spPr>
      </p:sp>
      <p:sp>
        <p:nvSpPr>
          <p:cNvPr id="12" name="Text 8"/>
          <p:cNvSpPr/>
          <p:nvPr/>
        </p:nvSpPr>
        <p:spPr>
          <a:xfrm>
            <a:off x="3358896" y="198424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02</a:t>
            </a:r>
            <a:endParaRPr lang="en-US" sz="800" dirty="0"/>
          </a:p>
        </p:txBody>
      </p:sp>
      <p:sp>
        <p:nvSpPr>
          <p:cNvPr id="13" name="Text 9"/>
          <p:cNvSpPr/>
          <p:nvPr/>
        </p:nvSpPr>
        <p:spPr>
          <a:xfrm>
            <a:off x="3358896" y="2276856"/>
            <a:ext cx="2426208" cy="256032"/>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Close-Approach Analysis</a:t>
            </a:r>
            <a:endParaRPr lang="en-US" sz="900" dirty="0"/>
          </a:p>
        </p:txBody>
      </p:sp>
      <p:sp>
        <p:nvSpPr>
          <p:cNvPr id="14" name="Text 10"/>
          <p:cNvSpPr/>
          <p:nvPr/>
        </p:nvSpPr>
        <p:spPr>
          <a:xfrm>
            <a:off x="3358896" y="2532888"/>
            <a:ext cx="2426208" cy="237744"/>
          </a:xfrm>
          <a:prstGeom prst="rect">
            <a:avLst/>
          </a:prstGeom>
          <a:noFill/>
          <a:ln/>
        </p:spPr>
        <p:txBody>
          <a:bodyPr wrap="square" lIns="0" tIns="0" rIns="0" bIns="0" rtlCol="0" anchor="ctr"/>
          <a:lstStyle/>
          <a:p>
            <a:pPr indent="0" marL="0">
              <a:lnSpc>
                <a:spcPts val="850"/>
              </a:lnSpc>
              <a:buNone/>
            </a:pPr>
            <a:r>
              <a:rPr lang="en-US" sz="700" dirty="0">
                <a:solidFill>
                  <a:srgbClr val="545454"/>
                </a:solidFill>
                <a:latin typeface="Calibri" pitchFamily="34" charset="0"/>
                <a:ea typeface="Calibri" pitchFamily="34" charset="-122"/>
                <a:cs typeface="Calibri" pitchFamily="34" charset="-120"/>
              </a:rPr>
              <a:t>Distance, TCA &amp; relative velocity.</a:t>
            </a:r>
            <a:endParaRPr lang="en-US" sz="700" dirty="0"/>
          </a:p>
        </p:txBody>
      </p:sp>
      <p:sp>
        <p:nvSpPr>
          <p:cNvPr id="15" name="Shape 11"/>
          <p:cNvSpPr/>
          <p:nvPr/>
        </p:nvSpPr>
        <p:spPr>
          <a:xfrm>
            <a:off x="6041136" y="1874520"/>
            <a:ext cx="2645664" cy="914400"/>
          </a:xfrm>
          <a:prstGeom prst="roundRect">
            <a:avLst>
              <a:gd name="adj" fmla="val 6000"/>
            </a:avLst>
          </a:prstGeom>
          <a:solidFill>
            <a:srgbClr val="F7F9FC"/>
          </a:solidFill>
          <a:ln w="12700">
            <a:solidFill>
              <a:srgbClr val="D8DEEA"/>
            </a:solidFill>
            <a:prstDash val="solid"/>
          </a:ln>
        </p:spPr>
      </p:sp>
      <p:sp>
        <p:nvSpPr>
          <p:cNvPr id="16" name="Shape 12"/>
          <p:cNvSpPr/>
          <p:nvPr/>
        </p:nvSpPr>
        <p:spPr>
          <a:xfrm>
            <a:off x="6150864" y="1984248"/>
            <a:ext cx="237744" cy="237744"/>
          </a:xfrm>
          <a:prstGeom prst="roundRect">
            <a:avLst>
              <a:gd name="adj" fmla="val 19231"/>
            </a:avLst>
          </a:prstGeom>
          <a:solidFill>
            <a:srgbClr val="1C8F89"/>
          </a:solidFill>
          <a:ln/>
        </p:spPr>
      </p:sp>
      <p:sp>
        <p:nvSpPr>
          <p:cNvPr id="17" name="Text 13"/>
          <p:cNvSpPr/>
          <p:nvPr/>
        </p:nvSpPr>
        <p:spPr>
          <a:xfrm>
            <a:off x="6150864" y="198424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03</a:t>
            </a:r>
            <a:endParaRPr lang="en-US" sz="800" dirty="0"/>
          </a:p>
        </p:txBody>
      </p:sp>
      <p:sp>
        <p:nvSpPr>
          <p:cNvPr id="18" name="Text 14"/>
          <p:cNvSpPr/>
          <p:nvPr/>
        </p:nvSpPr>
        <p:spPr>
          <a:xfrm>
            <a:off x="6150864" y="2276856"/>
            <a:ext cx="2426208" cy="256032"/>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Future State Envelope</a:t>
            </a:r>
            <a:endParaRPr lang="en-US" sz="900" dirty="0"/>
          </a:p>
        </p:txBody>
      </p:sp>
      <p:sp>
        <p:nvSpPr>
          <p:cNvPr id="19" name="Text 15"/>
          <p:cNvSpPr/>
          <p:nvPr/>
        </p:nvSpPr>
        <p:spPr>
          <a:xfrm>
            <a:off x="6150864" y="2532888"/>
            <a:ext cx="2426208" cy="237744"/>
          </a:xfrm>
          <a:prstGeom prst="rect">
            <a:avLst/>
          </a:prstGeom>
          <a:noFill/>
          <a:ln/>
        </p:spPr>
        <p:txBody>
          <a:bodyPr wrap="square" lIns="0" tIns="0" rIns="0" bIns="0" rtlCol="0" anchor="ctr"/>
          <a:lstStyle/>
          <a:p>
            <a:pPr indent="0" marL="0">
              <a:lnSpc>
                <a:spcPts val="850"/>
              </a:lnSpc>
              <a:buNone/>
            </a:pPr>
            <a:r>
              <a:rPr lang="en-US" sz="700" dirty="0">
                <a:solidFill>
                  <a:srgbClr val="545454"/>
                </a:solidFill>
                <a:latin typeface="Calibri" pitchFamily="34" charset="0"/>
                <a:ea typeface="Calibri" pitchFamily="34" charset="-122"/>
                <a:cs typeface="Calibri" pitchFamily="34" charset="-120"/>
              </a:rPr>
              <a:t>Ensemble under uncertainty.</a:t>
            </a:r>
            <a:endParaRPr lang="en-US" sz="700" dirty="0"/>
          </a:p>
        </p:txBody>
      </p:sp>
      <p:sp>
        <p:nvSpPr>
          <p:cNvPr id="20" name="Shape 16"/>
          <p:cNvSpPr/>
          <p:nvPr/>
        </p:nvSpPr>
        <p:spPr>
          <a:xfrm>
            <a:off x="457200" y="2935224"/>
            <a:ext cx="2645664" cy="914400"/>
          </a:xfrm>
          <a:prstGeom prst="roundRect">
            <a:avLst>
              <a:gd name="adj" fmla="val 6000"/>
            </a:avLst>
          </a:prstGeom>
          <a:solidFill>
            <a:srgbClr val="F7F9FC"/>
          </a:solidFill>
          <a:ln w="12700">
            <a:solidFill>
              <a:srgbClr val="D8DEEA"/>
            </a:solidFill>
            <a:prstDash val="solid"/>
          </a:ln>
        </p:spPr>
      </p:sp>
      <p:sp>
        <p:nvSpPr>
          <p:cNvPr id="21" name="Shape 17"/>
          <p:cNvSpPr/>
          <p:nvPr/>
        </p:nvSpPr>
        <p:spPr>
          <a:xfrm>
            <a:off x="566928" y="3044952"/>
            <a:ext cx="237744" cy="237744"/>
          </a:xfrm>
          <a:prstGeom prst="roundRect">
            <a:avLst>
              <a:gd name="adj" fmla="val 19231"/>
            </a:avLst>
          </a:prstGeom>
          <a:solidFill>
            <a:srgbClr val="1C8F89"/>
          </a:solidFill>
          <a:ln/>
        </p:spPr>
      </p:sp>
      <p:sp>
        <p:nvSpPr>
          <p:cNvPr id="22" name="Text 18"/>
          <p:cNvSpPr/>
          <p:nvPr/>
        </p:nvSpPr>
        <p:spPr>
          <a:xfrm>
            <a:off x="566928" y="304495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04</a:t>
            </a:r>
            <a:endParaRPr lang="en-US" sz="800" dirty="0"/>
          </a:p>
        </p:txBody>
      </p:sp>
      <p:sp>
        <p:nvSpPr>
          <p:cNvPr id="23" name="Text 19"/>
          <p:cNvSpPr/>
          <p:nvPr/>
        </p:nvSpPr>
        <p:spPr>
          <a:xfrm>
            <a:off x="566928" y="3337560"/>
            <a:ext cx="2426208" cy="256032"/>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Scenario Explorer</a:t>
            </a:r>
            <a:endParaRPr lang="en-US" sz="900" dirty="0"/>
          </a:p>
        </p:txBody>
      </p:sp>
      <p:sp>
        <p:nvSpPr>
          <p:cNvPr id="24" name="Text 20"/>
          <p:cNvSpPr/>
          <p:nvPr/>
        </p:nvSpPr>
        <p:spPr>
          <a:xfrm>
            <a:off x="566928" y="3593592"/>
            <a:ext cx="2426208" cy="237744"/>
          </a:xfrm>
          <a:prstGeom prst="rect">
            <a:avLst/>
          </a:prstGeom>
          <a:noFill/>
          <a:ln/>
        </p:spPr>
        <p:txBody>
          <a:bodyPr wrap="square" lIns="0" tIns="0" rIns="0" bIns="0" rtlCol="0" anchor="ctr"/>
          <a:lstStyle/>
          <a:p>
            <a:pPr indent="0" marL="0">
              <a:lnSpc>
                <a:spcPts val="850"/>
              </a:lnSpc>
              <a:buNone/>
            </a:pPr>
            <a:r>
              <a:rPr lang="en-US" sz="700" dirty="0">
                <a:solidFill>
                  <a:srgbClr val="545454"/>
                </a:solidFill>
                <a:latin typeface="Calibri" pitchFamily="34" charset="0"/>
                <a:ea typeface="Calibri" pitchFamily="34" charset="-122"/>
                <a:cs typeface="Calibri" pitchFamily="34" charset="-120"/>
              </a:rPr>
              <a:t>No Action vs. Maneuver A vs. B.</a:t>
            </a:r>
            <a:endParaRPr lang="en-US" sz="700" dirty="0"/>
          </a:p>
        </p:txBody>
      </p:sp>
      <p:sp>
        <p:nvSpPr>
          <p:cNvPr id="25" name="Shape 21"/>
          <p:cNvSpPr/>
          <p:nvPr/>
        </p:nvSpPr>
        <p:spPr>
          <a:xfrm>
            <a:off x="3249168" y="2935224"/>
            <a:ext cx="2645664" cy="914400"/>
          </a:xfrm>
          <a:prstGeom prst="roundRect">
            <a:avLst>
              <a:gd name="adj" fmla="val 6000"/>
            </a:avLst>
          </a:prstGeom>
          <a:solidFill>
            <a:srgbClr val="F7F9FC"/>
          </a:solidFill>
          <a:ln w="12700">
            <a:solidFill>
              <a:srgbClr val="D8DEEA"/>
            </a:solidFill>
            <a:prstDash val="solid"/>
          </a:ln>
        </p:spPr>
      </p:sp>
      <p:sp>
        <p:nvSpPr>
          <p:cNvPr id="26" name="Shape 22"/>
          <p:cNvSpPr/>
          <p:nvPr/>
        </p:nvSpPr>
        <p:spPr>
          <a:xfrm>
            <a:off x="3358896" y="3044952"/>
            <a:ext cx="237744" cy="237744"/>
          </a:xfrm>
          <a:prstGeom prst="roundRect">
            <a:avLst>
              <a:gd name="adj" fmla="val 19231"/>
            </a:avLst>
          </a:prstGeom>
          <a:solidFill>
            <a:srgbClr val="1C8F89"/>
          </a:solidFill>
          <a:ln/>
        </p:spPr>
      </p:sp>
      <p:sp>
        <p:nvSpPr>
          <p:cNvPr id="27" name="Text 23"/>
          <p:cNvSpPr/>
          <p:nvPr/>
        </p:nvSpPr>
        <p:spPr>
          <a:xfrm>
            <a:off x="3358896" y="304495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05</a:t>
            </a:r>
            <a:endParaRPr lang="en-US" sz="800" dirty="0"/>
          </a:p>
        </p:txBody>
      </p:sp>
      <p:sp>
        <p:nvSpPr>
          <p:cNvPr id="28" name="Text 24"/>
          <p:cNvSpPr/>
          <p:nvPr/>
        </p:nvSpPr>
        <p:spPr>
          <a:xfrm>
            <a:off x="3358896" y="3337560"/>
            <a:ext cx="2426208" cy="256032"/>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Multi-Object / Horizon</a:t>
            </a:r>
            <a:endParaRPr lang="en-US" sz="900" dirty="0"/>
          </a:p>
        </p:txBody>
      </p:sp>
      <p:sp>
        <p:nvSpPr>
          <p:cNvPr id="29" name="Text 25"/>
          <p:cNvSpPr/>
          <p:nvPr/>
        </p:nvSpPr>
        <p:spPr>
          <a:xfrm>
            <a:off x="3358896" y="3593592"/>
            <a:ext cx="2426208" cy="237744"/>
          </a:xfrm>
          <a:prstGeom prst="rect">
            <a:avLst/>
          </a:prstGeom>
          <a:noFill/>
          <a:ln/>
        </p:spPr>
        <p:txBody>
          <a:bodyPr wrap="square" lIns="0" tIns="0" rIns="0" bIns="0" rtlCol="0" anchor="ctr"/>
          <a:lstStyle/>
          <a:p>
            <a:pPr indent="0" marL="0">
              <a:lnSpc>
                <a:spcPts val="850"/>
              </a:lnSpc>
              <a:buNone/>
            </a:pPr>
            <a:r>
              <a:rPr lang="en-US" sz="700" dirty="0">
                <a:solidFill>
                  <a:srgbClr val="545454"/>
                </a:solidFill>
                <a:latin typeface="Calibri" pitchFamily="34" charset="0"/>
                <a:ea typeface="Calibri" pitchFamily="34" charset="-122"/>
                <a:cs typeface="Calibri" pitchFamily="34" charset="-120"/>
              </a:rPr>
              <a:t>24h / 7d / 30d analysis.</a:t>
            </a:r>
            <a:endParaRPr lang="en-US" sz="700" dirty="0"/>
          </a:p>
        </p:txBody>
      </p:sp>
      <p:sp>
        <p:nvSpPr>
          <p:cNvPr id="30" name="Shape 26"/>
          <p:cNvSpPr/>
          <p:nvPr/>
        </p:nvSpPr>
        <p:spPr>
          <a:xfrm>
            <a:off x="6041136" y="2935224"/>
            <a:ext cx="2645664" cy="914400"/>
          </a:xfrm>
          <a:prstGeom prst="roundRect">
            <a:avLst>
              <a:gd name="adj" fmla="val 6000"/>
            </a:avLst>
          </a:prstGeom>
          <a:solidFill>
            <a:srgbClr val="F7F9FC"/>
          </a:solidFill>
          <a:ln w="12700">
            <a:solidFill>
              <a:srgbClr val="D8DEEA"/>
            </a:solidFill>
            <a:prstDash val="solid"/>
          </a:ln>
        </p:spPr>
      </p:sp>
      <p:sp>
        <p:nvSpPr>
          <p:cNvPr id="31" name="Shape 27"/>
          <p:cNvSpPr/>
          <p:nvPr/>
        </p:nvSpPr>
        <p:spPr>
          <a:xfrm>
            <a:off x="6150864" y="3044952"/>
            <a:ext cx="237744" cy="237744"/>
          </a:xfrm>
          <a:prstGeom prst="roundRect">
            <a:avLst>
              <a:gd name="adj" fmla="val 19231"/>
            </a:avLst>
          </a:prstGeom>
          <a:solidFill>
            <a:srgbClr val="1C8F89"/>
          </a:solidFill>
          <a:ln/>
        </p:spPr>
      </p:sp>
      <p:sp>
        <p:nvSpPr>
          <p:cNvPr id="32" name="Text 28"/>
          <p:cNvSpPr/>
          <p:nvPr/>
        </p:nvSpPr>
        <p:spPr>
          <a:xfrm>
            <a:off x="6150864" y="304495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06</a:t>
            </a:r>
            <a:endParaRPr lang="en-US" sz="800" dirty="0"/>
          </a:p>
        </p:txBody>
      </p:sp>
      <p:sp>
        <p:nvSpPr>
          <p:cNvPr id="33" name="Text 29"/>
          <p:cNvSpPr/>
          <p:nvPr/>
        </p:nvSpPr>
        <p:spPr>
          <a:xfrm>
            <a:off x="6150864" y="3337560"/>
            <a:ext cx="2426208" cy="256032"/>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Decision Sensitivity</a:t>
            </a:r>
            <a:endParaRPr lang="en-US" sz="900" dirty="0"/>
          </a:p>
        </p:txBody>
      </p:sp>
      <p:sp>
        <p:nvSpPr>
          <p:cNvPr id="34" name="Text 30"/>
          <p:cNvSpPr/>
          <p:nvPr/>
        </p:nvSpPr>
        <p:spPr>
          <a:xfrm>
            <a:off x="6150864" y="3593592"/>
            <a:ext cx="2426208" cy="237744"/>
          </a:xfrm>
          <a:prstGeom prst="rect">
            <a:avLst/>
          </a:prstGeom>
          <a:noFill/>
          <a:ln/>
        </p:spPr>
        <p:txBody>
          <a:bodyPr wrap="square" lIns="0" tIns="0" rIns="0" bIns="0" rtlCol="0" anchor="ctr"/>
          <a:lstStyle/>
          <a:p>
            <a:pPr indent="0" marL="0">
              <a:lnSpc>
                <a:spcPts val="850"/>
              </a:lnSpc>
              <a:buNone/>
            </a:pPr>
            <a:r>
              <a:rPr lang="en-US" sz="700" dirty="0">
                <a:solidFill>
                  <a:srgbClr val="545454"/>
                </a:solidFill>
                <a:latin typeface="Calibri" pitchFamily="34" charset="0"/>
                <a:ea typeface="Calibri" pitchFamily="34" charset="-122"/>
                <a:cs typeface="Calibri" pitchFamily="34" charset="-120"/>
              </a:rPr>
              <a:t>Stability of the preferred choice.</a:t>
            </a:r>
            <a:endParaRPr lang="en-US" sz="700" dirty="0"/>
          </a:p>
        </p:txBody>
      </p:sp>
      <p:sp>
        <p:nvSpPr>
          <p:cNvPr id="35" name="Shape 31"/>
          <p:cNvSpPr/>
          <p:nvPr/>
        </p:nvSpPr>
        <p:spPr>
          <a:xfrm>
            <a:off x="457200" y="4041648"/>
            <a:ext cx="8229600" cy="566928"/>
          </a:xfrm>
          <a:prstGeom prst="roundRect">
            <a:avLst>
              <a:gd name="adj" fmla="val 9677"/>
            </a:avLst>
          </a:prstGeom>
          <a:solidFill>
            <a:srgbClr val="E7F4F3"/>
          </a:solidFill>
          <a:ln w="12700">
            <a:solidFill>
              <a:srgbClr val="1C8F89"/>
            </a:solidFill>
            <a:prstDash val="solid"/>
          </a:ln>
        </p:spPr>
      </p:sp>
      <p:sp>
        <p:nvSpPr>
          <p:cNvPr id="36" name="Text 32"/>
          <p:cNvSpPr/>
          <p:nvPr/>
        </p:nvSpPr>
        <p:spPr>
          <a:xfrm>
            <a:off x="640080" y="4041648"/>
            <a:ext cx="7863840" cy="566928"/>
          </a:xfrm>
          <a:prstGeom prst="rect">
            <a:avLst/>
          </a:prstGeom>
          <a:noFill/>
          <a:ln/>
        </p:spPr>
        <p:txBody>
          <a:bodyPr wrap="square" lIns="0" tIns="0" rIns="0" bIns="0" rtlCol="0" anchor="ctr"/>
          <a:lstStyle/>
          <a:p>
            <a:pPr algn="l" indent="0" marL="0">
              <a:lnSpc>
                <a:spcPts val="1100"/>
              </a:lnSpc>
              <a:buNone/>
            </a:pPr>
            <a:r>
              <a:rPr lang="en-US" sz="900" i="1" dirty="0">
                <a:solidFill>
                  <a:srgbClr val="172B6D"/>
                </a:solidFill>
                <a:latin typeface="Calibri" pitchFamily="34" charset="0"/>
                <a:ea typeface="Calibri" pitchFamily="34" charset="-122"/>
                <a:cs typeface="Calibri" pitchFamily="34" charset="-120"/>
              </a:rPr>
              <a:t>Our prototype extends established debris tracking and conjunction analysis into an uncertainty-aware future-scenario decision framework — human-in-the-loop, not autonomous.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1900" b="1" dirty="0">
                <a:solidFill>
                  <a:srgbClr val="172B6D"/>
                </a:solidFill>
                <a:latin typeface="Arial" pitchFamily="34" charset="0"/>
                <a:ea typeface="Arial" pitchFamily="34" charset="-122"/>
                <a:cs typeface="Arial" pitchFamily="34" charset="-120"/>
              </a:rPr>
              <a:t>DRAWBACK AND SHOWSTOPPERS</a:t>
            </a:r>
            <a:endParaRPr lang="en-US" sz="1900" dirty="0"/>
          </a:p>
        </p:txBody>
      </p:sp>
      <p:sp>
        <p:nvSpPr>
          <p:cNvPr id="5" name="Text 1"/>
          <p:cNvSpPr/>
          <p:nvPr/>
        </p:nvSpPr>
        <p:spPr>
          <a:xfrm>
            <a:off x="0" y="1920240"/>
            <a:ext cx="9144000" cy="237744"/>
          </a:xfrm>
          <a:prstGeom prst="rect">
            <a:avLst/>
          </a:prstGeom>
          <a:noFill/>
          <a:ln/>
        </p:spPr>
        <p:txBody>
          <a:bodyPr wrap="square" lIns="0" tIns="0" rIns="0" bIns="0" rtlCol="0" anchor="ctr"/>
          <a:lstStyle/>
          <a:p>
            <a:pPr algn="ctr" indent="0" marL="0">
              <a:buNone/>
            </a:pPr>
            <a:r>
              <a:rPr lang="en-US" sz="1000" i="1" dirty="0">
                <a:solidFill>
                  <a:srgbClr val="545454"/>
                </a:solidFill>
                <a:latin typeface="Calibri" pitchFamily="34" charset="0"/>
                <a:ea typeface="Calibri" pitchFamily="34" charset="-122"/>
                <a:cs typeface="Calibri" pitchFamily="34" charset="-120"/>
              </a:rPr>
              <a:t>An honest account of the prototype's current limits.</a:t>
            </a:r>
            <a:endParaRPr lang="en-US" sz="1000" dirty="0"/>
          </a:p>
        </p:txBody>
      </p:sp>
      <p:sp>
        <p:nvSpPr>
          <p:cNvPr id="6" name="Shape 2"/>
          <p:cNvSpPr/>
          <p:nvPr/>
        </p:nvSpPr>
        <p:spPr>
          <a:xfrm>
            <a:off x="457200" y="2286000"/>
            <a:ext cx="4032504" cy="960120"/>
          </a:xfrm>
          <a:prstGeom prst="roundRect">
            <a:avLst>
              <a:gd name="adj" fmla="val 5714"/>
            </a:avLst>
          </a:prstGeom>
          <a:solidFill>
            <a:srgbClr val="F7F9FC"/>
          </a:solidFill>
          <a:ln w="12700">
            <a:solidFill>
              <a:srgbClr val="D8DEEA"/>
            </a:solidFill>
            <a:prstDash val="solid"/>
          </a:ln>
        </p:spPr>
      </p:sp>
      <p:sp>
        <p:nvSpPr>
          <p:cNvPr id="7" name="Shape 3"/>
          <p:cNvSpPr/>
          <p:nvPr/>
        </p:nvSpPr>
        <p:spPr>
          <a:xfrm>
            <a:off x="594360" y="2414016"/>
            <a:ext cx="91440" cy="91440"/>
          </a:xfrm>
          <a:prstGeom prst="ellipse">
            <a:avLst/>
          </a:prstGeom>
          <a:solidFill>
            <a:srgbClr val="B8720A"/>
          </a:solidFill>
          <a:ln/>
        </p:spPr>
      </p:sp>
      <p:sp>
        <p:nvSpPr>
          <p:cNvPr id="8" name="Text 4"/>
          <p:cNvSpPr/>
          <p:nvPr/>
        </p:nvSpPr>
        <p:spPr>
          <a:xfrm>
            <a:off x="749808" y="2368296"/>
            <a:ext cx="3575304" cy="201168"/>
          </a:xfrm>
          <a:prstGeom prst="rect">
            <a:avLst/>
          </a:prstGeom>
          <a:noFill/>
          <a:ln/>
        </p:spPr>
        <p:txBody>
          <a:bodyPr wrap="square" lIns="0" tIns="0" rIns="0" bIns="0" rtlCol="0" anchor="ctr"/>
          <a:lstStyle/>
          <a:p>
            <a:pPr indent="0" marL="0">
              <a:buNone/>
            </a:pPr>
            <a:r>
              <a:rPr lang="en-US" sz="900" b="1" dirty="0">
                <a:solidFill>
                  <a:srgbClr val="B8720A"/>
                </a:solidFill>
                <a:latin typeface="Calibri" pitchFamily="34" charset="0"/>
                <a:ea typeface="Calibri" pitchFamily="34" charset="-122"/>
                <a:cs typeface="Calibri" pitchFamily="34" charset="-120"/>
              </a:rPr>
              <a:t>DATA DEPENDENCY</a:t>
            </a:r>
            <a:endParaRPr lang="en-US" sz="900" dirty="0"/>
          </a:p>
        </p:txBody>
      </p:sp>
      <p:sp>
        <p:nvSpPr>
          <p:cNvPr id="9" name="Text 5"/>
          <p:cNvSpPr/>
          <p:nvPr/>
        </p:nvSpPr>
        <p:spPr>
          <a:xfrm>
            <a:off x="621792" y="2651760"/>
            <a:ext cx="3703320" cy="548640"/>
          </a:xfrm>
          <a:prstGeom prst="rect">
            <a:avLst/>
          </a:prstGeom>
          <a:noFill/>
          <a:ln/>
        </p:spPr>
        <p:txBody>
          <a:bodyPr wrap="square" lIns="0" tIns="0" rIns="0" bIns="0" rtlCol="0" anchor="ctr"/>
          <a:lstStyle/>
          <a:p>
            <a:pPr indent="0" marL="0">
              <a:lnSpc>
                <a:spcPts val="1050"/>
              </a:lnSpc>
              <a:buNone/>
            </a:pPr>
            <a:r>
              <a:rPr lang="en-US" sz="830" dirty="0">
                <a:solidFill>
                  <a:srgbClr val="545454"/>
                </a:solidFill>
                <a:latin typeface="Calibri" pitchFamily="34" charset="0"/>
                <a:ea typeface="Calibri" pitchFamily="34" charset="-122"/>
                <a:cs typeface="Calibri" pitchFamily="34" charset="-120"/>
              </a:rPr>
              <a:t>Input quality and freshness directly affect propagation and risk results.</a:t>
            </a:r>
            <a:endParaRPr lang="en-US" sz="830" dirty="0"/>
          </a:p>
        </p:txBody>
      </p:sp>
      <p:sp>
        <p:nvSpPr>
          <p:cNvPr id="10" name="Shape 6"/>
          <p:cNvSpPr/>
          <p:nvPr/>
        </p:nvSpPr>
        <p:spPr>
          <a:xfrm>
            <a:off x="4654296" y="2286000"/>
            <a:ext cx="4032504" cy="960120"/>
          </a:xfrm>
          <a:prstGeom prst="roundRect">
            <a:avLst>
              <a:gd name="adj" fmla="val 5714"/>
            </a:avLst>
          </a:prstGeom>
          <a:solidFill>
            <a:srgbClr val="F7F9FC"/>
          </a:solidFill>
          <a:ln w="12700">
            <a:solidFill>
              <a:srgbClr val="D8DEEA"/>
            </a:solidFill>
            <a:prstDash val="solid"/>
          </a:ln>
        </p:spPr>
      </p:sp>
      <p:sp>
        <p:nvSpPr>
          <p:cNvPr id="11" name="Shape 7"/>
          <p:cNvSpPr/>
          <p:nvPr/>
        </p:nvSpPr>
        <p:spPr>
          <a:xfrm>
            <a:off x="4791456" y="2414016"/>
            <a:ext cx="91440" cy="91440"/>
          </a:xfrm>
          <a:prstGeom prst="ellipse">
            <a:avLst/>
          </a:prstGeom>
          <a:solidFill>
            <a:srgbClr val="B8720A"/>
          </a:solidFill>
          <a:ln/>
        </p:spPr>
      </p:sp>
      <p:sp>
        <p:nvSpPr>
          <p:cNvPr id="12" name="Text 8"/>
          <p:cNvSpPr/>
          <p:nvPr/>
        </p:nvSpPr>
        <p:spPr>
          <a:xfrm>
            <a:off x="4946904" y="2368296"/>
            <a:ext cx="3575304" cy="201168"/>
          </a:xfrm>
          <a:prstGeom prst="rect">
            <a:avLst/>
          </a:prstGeom>
          <a:noFill/>
          <a:ln/>
        </p:spPr>
        <p:txBody>
          <a:bodyPr wrap="square" lIns="0" tIns="0" rIns="0" bIns="0" rtlCol="0" anchor="ctr"/>
          <a:lstStyle/>
          <a:p>
            <a:pPr indent="0" marL="0">
              <a:buNone/>
            </a:pPr>
            <a:r>
              <a:rPr lang="en-US" sz="900" b="1" dirty="0">
                <a:solidFill>
                  <a:srgbClr val="B8720A"/>
                </a:solidFill>
                <a:latin typeface="Calibri" pitchFamily="34" charset="0"/>
                <a:ea typeface="Calibri" pitchFamily="34" charset="-122"/>
                <a:cs typeface="Calibri" pitchFamily="34" charset="-120"/>
              </a:rPr>
              <a:t>MODEL ASSUMPTIONS</a:t>
            </a:r>
            <a:endParaRPr lang="en-US" sz="900" dirty="0"/>
          </a:p>
        </p:txBody>
      </p:sp>
      <p:sp>
        <p:nvSpPr>
          <p:cNvPr id="13" name="Text 9"/>
          <p:cNvSpPr/>
          <p:nvPr/>
        </p:nvSpPr>
        <p:spPr>
          <a:xfrm>
            <a:off x="4818888" y="2651760"/>
            <a:ext cx="3703320" cy="548640"/>
          </a:xfrm>
          <a:prstGeom prst="rect">
            <a:avLst/>
          </a:prstGeom>
          <a:noFill/>
          <a:ln/>
        </p:spPr>
        <p:txBody>
          <a:bodyPr wrap="square" lIns="0" tIns="0" rIns="0" bIns="0" rtlCol="0" anchor="ctr"/>
          <a:lstStyle/>
          <a:p>
            <a:pPr indent="0" marL="0">
              <a:lnSpc>
                <a:spcPts val="1050"/>
              </a:lnSpc>
              <a:buNone/>
            </a:pPr>
            <a:r>
              <a:rPr lang="en-US" sz="830" dirty="0">
                <a:solidFill>
                  <a:srgbClr val="545454"/>
                </a:solidFill>
                <a:latin typeface="Calibri" pitchFamily="34" charset="0"/>
                <a:ea typeface="Calibri" pitchFamily="34" charset="-122"/>
                <a:cs typeface="Calibri" pitchFamily="34" charset="-120"/>
              </a:rPr>
              <a:t>Risk Index and FEI are project-defined prototype metrics needing validation.</a:t>
            </a:r>
            <a:endParaRPr lang="en-US" sz="830" dirty="0"/>
          </a:p>
        </p:txBody>
      </p:sp>
      <p:sp>
        <p:nvSpPr>
          <p:cNvPr id="14" name="Shape 10"/>
          <p:cNvSpPr/>
          <p:nvPr/>
        </p:nvSpPr>
        <p:spPr>
          <a:xfrm>
            <a:off x="457200" y="3410712"/>
            <a:ext cx="4032504" cy="960120"/>
          </a:xfrm>
          <a:prstGeom prst="roundRect">
            <a:avLst>
              <a:gd name="adj" fmla="val 5714"/>
            </a:avLst>
          </a:prstGeom>
          <a:solidFill>
            <a:srgbClr val="F7F9FC"/>
          </a:solidFill>
          <a:ln w="12700">
            <a:solidFill>
              <a:srgbClr val="D8DEEA"/>
            </a:solidFill>
            <a:prstDash val="solid"/>
          </a:ln>
        </p:spPr>
      </p:sp>
      <p:sp>
        <p:nvSpPr>
          <p:cNvPr id="15" name="Shape 11"/>
          <p:cNvSpPr/>
          <p:nvPr/>
        </p:nvSpPr>
        <p:spPr>
          <a:xfrm>
            <a:off x="594360" y="3538728"/>
            <a:ext cx="91440" cy="91440"/>
          </a:xfrm>
          <a:prstGeom prst="ellipse">
            <a:avLst/>
          </a:prstGeom>
          <a:solidFill>
            <a:srgbClr val="B8720A"/>
          </a:solidFill>
          <a:ln/>
        </p:spPr>
      </p:sp>
      <p:sp>
        <p:nvSpPr>
          <p:cNvPr id="16" name="Text 12"/>
          <p:cNvSpPr/>
          <p:nvPr/>
        </p:nvSpPr>
        <p:spPr>
          <a:xfrm>
            <a:off x="749808" y="3493008"/>
            <a:ext cx="3575304" cy="201168"/>
          </a:xfrm>
          <a:prstGeom prst="rect">
            <a:avLst/>
          </a:prstGeom>
          <a:noFill/>
          <a:ln/>
        </p:spPr>
        <p:txBody>
          <a:bodyPr wrap="square" lIns="0" tIns="0" rIns="0" bIns="0" rtlCol="0" anchor="ctr"/>
          <a:lstStyle/>
          <a:p>
            <a:pPr indent="0" marL="0">
              <a:buNone/>
            </a:pPr>
            <a:r>
              <a:rPr lang="en-US" sz="900" b="1" dirty="0">
                <a:solidFill>
                  <a:srgbClr val="B8720A"/>
                </a:solidFill>
                <a:latin typeface="Calibri" pitchFamily="34" charset="0"/>
                <a:ea typeface="Calibri" pitchFamily="34" charset="-122"/>
                <a:cs typeface="Calibri" pitchFamily="34" charset="-120"/>
              </a:rPr>
              <a:t>SIMPLIFIED MANEUVERS</a:t>
            </a:r>
            <a:endParaRPr lang="en-US" sz="900" dirty="0"/>
          </a:p>
        </p:txBody>
      </p:sp>
      <p:sp>
        <p:nvSpPr>
          <p:cNvPr id="17" name="Text 13"/>
          <p:cNvSpPr/>
          <p:nvPr/>
        </p:nvSpPr>
        <p:spPr>
          <a:xfrm>
            <a:off x="621792" y="3776472"/>
            <a:ext cx="3703320" cy="548640"/>
          </a:xfrm>
          <a:prstGeom prst="rect">
            <a:avLst/>
          </a:prstGeom>
          <a:noFill/>
          <a:ln/>
        </p:spPr>
        <p:txBody>
          <a:bodyPr wrap="square" lIns="0" tIns="0" rIns="0" bIns="0" rtlCol="0" anchor="ctr"/>
          <a:lstStyle/>
          <a:p>
            <a:pPr indent="0" marL="0">
              <a:lnSpc>
                <a:spcPts val="1050"/>
              </a:lnSpc>
              <a:buNone/>
            </a:pPr>
            <a:r>
              <a:rPr lang="en-US" sz="830" dirty="0">
                <a:solidFill>
                  <a:srgbClr val="545454"/>
                </a:solidFill>
                <a:latin typeface="Calibri" pitchFamily="34" charset="0"/>
                <a:ea typeface="Calibri" pitchFamily="34" charset="-122"/>
                <a:cs typeface="Calibri" pitchFamily="34" charset="-120"/>
              </a:rPr>
              <a:t>Candidate scenarios are conceptual Δv changes, not flight-qualified commands.</a:t>
            </a:r>
            <a:endParaRPr lang="en-US" sz="830" dirty="0"/>
          </a:p>
        </p:txBody>
      </p:sp>
      <p:sp>
        <p:nvSpPr>
          <p:cNvPr id="18" name="Shape 14"/>
          <p:cNvSpPr/>
          <p:nvPr/>
        </p:nvSpPr>
        <p:spPr>
          <a:xfrm>
            <a:off x="4654296" y="3410712"/>
            <a:ext cx="4032504" cy="960120"/>
          </a:xfrm>
          <a:prstGeom prst="roundRect">
            <a:avLst>
              <a:gd name="adj" fmla="val 5714"/>
            </a:avLst>
          </a:prstGeom>
          <a:solidFill>
            <a:srgbClr val="F7F9FC"/>
          </a:solidFill>
          <a:ln w="12700">
            <a:solidFill>
              <a:srgbClr val="D8DEEA"/>
            </a:solidFill>
            <a:prstDash val="solid"/>
          </a:ln>
        </p:spPr>
      </p:sp>
      <p:sp>
        <p:nvSpPr>
          <p:cNvPr id="19" name="Shape 15"/>
          <p:cNvSpPr/>
          <p:nvPr/>
        </p:nvSpPr>
        <p:spPr>
          <a:xfrm>
            <a:off x="4791456" y="3538728"/>
            <a:ext cx="91440" cy="91440"/>
          </a:xfrm>
          <a:prstGeom prst="ellipse">
            <a:avLst/>
          </a:prstGeom>
          <a:solidFill>
            <a:srgbClr val="B8720A"/>
          </a:solidFill>
          <a:ln/>
        </p:spPr>
      </p:sp>
      <p:sp>
        <p:nvSpPr>
          <p:cNvPr id="20" name="Text 16"/>
          <p:cNvSpPr/>
          <p:nvPr/>
        </p:nvSpPr>
        <p:spPr>
          <a:xfrm>
            <a:off x="4946904" y="3493008"/>
            <a:ext cx="3575304" cy="201168"/>
          </a:xfrm>
          <a:prstGeom prst="rect">
            <a:avLst/>
          </a:prstGeom>
          <a:noFill/>
          <a:ln/>
        </p:spPr>
        <p:txBody>
          <a:bodyPr wrap="square" lIns="0" tIns="0" rIns="0" bIns="0" rtlCol="0" anchor="ctr"/>
          <a:lstStyle/>
          <a:p>
            <a:pPr indent="0" marL="0">
              <a:buNone/>
            </a:pPr>
            <a:r>
              <a:rPr lang="en-US" sz="900" b="1" dirty="0">
                <a:solidFill>
                  <a:srgbClr val="B8720A"/>
                </a:solidFill>
                <a:latin typeface="Calibri" pitchFamily="34" charset="0"/>
                <a:ea typeface="Calibri" pitchFamily="34" charset="-122"/>
                <a:cs typeface="Calibri" pitchFamily="34" charset="-120"/>
              </a:rPr>
              <a:t>COMPUTATIONAL SCALE</a:t>
            </a:r>
            <a:endParaRPr lang="en-US" sz="900" dirty="0"/>
          </a:p>
        </p:txBody>
      </p:sp>
      <p:sp>
        <p:nvSpPr>
          <p:cNvPr id="21" name="Text 17"/>
          <p:cNvSpPr/>
          <p:nvPr/>
        </p:nvSpPr>
        <p:spPr>
          <a:xfrm>
            <a:off x="4818888" y="3776472"/>
            <a:ext cx="3703320" cy="548640"/>
          </a:xfrm>
          <a:prstGeom prst="rect">
            <a:avLst/>
          </a:prstGeom>
          <a:noFill/>
          <a:ln/>
        </p:spPr>
        <p:txBody>
          <a:bodyPr wrap="square" lIns="0" tIns="0" rIns="0" bIns="0" rtlCol="0" anchor="ctr"/>
          <a:lstStyle/>
          <a:p>
            <a:pPr indent="0" marL="0">
              <a:lnSpc>
                <a:spcPts val="1050"/>
              </a:lnSpc>
              <a:buNone/>
            </a:pPr>
            <a:r>
              <a:rPr lang="en-US" sz="830" dirty="0">
                <a:solidFill>
                  <a:srgbClr val="545454"/>
                </a:solidFill>
                <a:latin typeface="Calibri" pitchFamily="34" charset="0"/>
                <a:ea typeface="Calibri" pitchFamily="34" charset="-122"/>
                <a:cs typeface="Calibri" pitchFamily="34" charset="-120"/>
              </a:rPr>
              <a:t>Large Monte Carlo catalogs need screening &amp; further optimization.</a:t>
            </a:r>
            <a:endParaRPr lang="en-US" sz="830" dirty="0"/>
          </a:p>
        </p:txBody>
      </p:sp>
      <p:sp>
        <p:nvSpPr>
          <p:cNvPr id="22" name="Shape 18"/>
          <p:cNvSpPr/>
          <p:nvPr/>
        </p:nvSpPr>
        <p:spPr>
          <a:xfrm>
            <a:off x="457200" y="4553712"/>
            <a:ext cx="8229600" cy="365760"/>
          </a:xfrm>
          <a:prstGeom prst="roundRect">
            <a:avLst>
              <a:gd name="adj" fmla="val 15000"/>
            </a:avLst>
          </a:prstGeom>
          <a:solidFill>
            <a:srgbClr val="172B6D"/>
          </a:solidFill>
          <a:ln/>
        </p:spPr>
      </p:sp>
      <p:sp>
        <p:nvSpPr>
          <p:cNvPr id="23" name="Text 19"/>
          <p:cNvSpPr/>
          <p:nvPr/>
        </p:nvSpPr>
        <p:spPr>
          <a:xfrm>
            <a:off x="457200" y="4553712"/>
            <a:ext cx="8229600" cy="365760"/>
          </a:xfrm>
          <a:prstGeom prst="rect">
            <a:avLst/>
          </a:prstGeom>
          <a:noFill/>
          <a:ln/>
        </p:spPr>
        <p:txBody>
          <a:bodyPr wrap="square" lIns="0" tIns="0" rIns="0" bIns="0" rtlCol="0" anchor="ctr"/>
          <a:lstStyle/>
          <a:p>
            <a:pPr algn="ctr" indent="0" marL="0">
              <a:buNone/>
            </a:pPr>
            <a:r>
              <a:rPr lang="en-US" sz="1000" b="1" i="1" dirty="0">
                <a:solidFill>
                  <a:srgbClr val="FFFFFF"/>
                </a:solidFill>
                <a:latin typeface="Calibri" pitchFamily="34" charset="0"/>
                <a:ea typeface="Calibri" pitchFamily="34" charset="-122"/>
                <a:cs typeface="Calibri" pitchFamily="34" charset="-120"/>
              </a:rPr>
              <a:t>Prototype scope: decision support, not autonomous spacecraft control.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2100" b="1" dirty="0">
                <a:solidFill>
                  <a:srgbClr val="172B6D"/>
                </a:solidFill>
                <a:latin typeface="Arial" pitchFamily="34" charset="0"/>
                <a:ea typeface="Arial" pitchFamily="34" charset="-122"/>
                <a:cs typeface="Arial" pitchFamily="34" charset="-120"/>
              </a:rPr>
              <a:t>TEAM NAME</a:t>
            </a:r>
            <a:endParaRPr lang="en-US" sz="2100" dirty="0"/>
          </a:p>
        </p:txBody>
      </p:sp>
      <p:sp>
        <p:nvSpPr>
          <p:cNvPr id="5" name="Text 1"/>
          <p:cNvSpPr/>
          <p:nvPr/>
        </p:nvSpPr>
        <p:spPr>
          <a:xfrm>
            <a:off x="0" y="1938528"/>
            <a:ext cx="9144000" cy="237744"/>
          </a:xfrm>
          <a:prstGeom prst="rect">
            <a:avLst/>
          </a:prstGeom>
          <a:noFill/>
          <a:ln/>
        </p:spPr>
        <p:txBody>
          <a:bodyPr wrap="square" lIns="0" tIns="0" rIns="0" bIns="0" rtlCol="0" anchor="ctr"/>
          <a:lstStyle/>
          <a:p>
            <a:pPr algn="ctr" indent="0" marL="0">
              <a:buNone/>
            </a:pPr>
            <a:r>
              <a:rPr lang="en-US" sz="1200" b="1" dirty="0">
                <a:solidFill>
                  <a:srgbClr val="1C8F89"/>
                </a:solidFill>
                <a:latin typeface="Calibri" pitchFamily="34" charset="0"/>
                <a:ea typeface="Calibri" pitchFamily="34" charset="-122"/>
                <a:cs typeface="Calibri" pitchFamily="34" charset="-120"/>
              </a:rPr>
              <a:t>FANTASTIC 4</a:t>
            </a:r>
            <a:endParaRPr lang="en-US" sz="1200" dirty="0"/>
          </a:p>
        </p:txBody>
      </p:sp>
      <p:sp>
        <p:nvSpPr>
          <p:cNvPr id="6" name="Text 2"/>
          <p:cNvSpPr/>
          <p:nvPr/>
        </p:nvSpPr>
        <p:spPr>
          <a:xfrm>
            <a:off x="0" y="2212848"/>
            <a:ext cx="9144000" cy="201168"/>
          </a:xfrm>
          <a:prstGeom prst="rect">
            <a:avLst/>
          </a:prstGeom>
          <a:noFill/>
          <a:ln/>
        </p:spPr>
        <p:txBody>
          <a:bodyPr wrap="square" lIns="0" tIns="0" rIns="0" bIns="0" rtlCol="0" anchor="ctr"/>
          <a:lstStyle/>
          <a:p>
            <a:pPr algn="ctr" indent="0" marL="0">
              <a:buNone/>
            </a:pPr>
            <a:r>
              <a:rPr lang="en-US" sz="850" i="1" dirty="0">
                <a:solidFill>
                  <a:srgbClr val="7C8698"/>
                </a:solidFill>
                <a:latin typeface="Calibri" pitchFamily="34" charset="0"/>
                <a:ea typeface="Calibri" pitchFamily="34" charset="-122"/>
                <a:cs typeface="Calibri" pitchFamily="34" charset="-120"/>
              </a:rPr>
              <a:t>Name of team members &amp; their contact details</a:t>
            </a:r>
            <a:endParaRPr lang="en-US" sz="850" dirty="0"/>
          </a:p>
        </p:txBody>
      </p:sp>
      <p:sp>
        <p:nvSpPr>
          <p:cNvPr id="7" name="Shape 3"/>
          <p:cNvSpPr/>
          <p:nvPr/>
        </p:nvSpPr>
        <p:spPr>
          <a:xfrm>
            <a:off x="457200" y="2542032"/>
            <a:ext cx="1920240" cy="2148840"/>
          </a:xfrm>
          <a:prstGeom prst="roundRect">
            <a:avLst>
              <a:gd name="adj" fmla="val 2857"/>
            </a:avLst>
          </a:prstGeom>
          <a:solidFill>
            <a:srgbClr val="E7F4F3"/>
          </a:solidFill>
          <a:ln w="15875">
            <a:solidFill>
              <a:srgbClr val="1C8F89"/>
            </a:solidFill>
            <a:prstDash val="solid"/>
          </a:ln>
        </p:spPr>
      </p:sp>
      <p:sp>
        <p:nvSpPr>
          <p:cNvPr id="8" name="Shape 4"/>
          <p:cNvSpPr/>
          <p:nvPr/>
        </p:nvSpPr>
        <p:spPr>
          <a:xfrm>
            <a:off x="1124712" y="2724912"/>
            <a:ext cx="585216" cy="585216"/>
          </a:xfrm>
          <a:prstGeom prst="ellipse">
            <a:avLst/>
          </a:prstGeom>
          <a:solidFill>
            <a:srgbClr val="1C8F89"/>
          </a:solidFill>
          <a:ln/>
        </p:spPr>
      </p:sp>
      <p:sp>
        <p:nvSpPr>
          <p:cNvPr id="9" name="Text 5"/>
          <p:cNvSpPr/>
          <p:nvPr/>
        </p:nvSpPr>
        <p:spPr>
          <a:xfrm>
            <a:off x="1124712" y="272491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AS</a:t>
            </a:r>
            <a:endParaRPr lang="en-US" sz="1600" dirty="0"/>
          </a:p>
        </p:txBody>
      </p:sp>
      <p:sp>
        <p:nvSpPr>
          <p:cNvPr id="10" name="Text 6"/>
          <p:cNvSpPr/>
          <p:nvPr/>
        </p:nvSpPr>
        <p:spPr>
          <a:xfrm>
            <a:off x="50292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Anuj Singh</a:t>
            </a:r>
            <a:endParaRPr lang="en-US" sz="1000" dirty="0"/>
          </a:p>
        </p:txBody>
      </p:sp>
      <p:sp>
        <p:nvSpPr>
          <p:cNvPr id="11" name="Text 7"/>
          <p:cNvSpPr/>
          <p:nvPr/>
        </p:nvSpPr>
        <p:spPr>
          <a:xfrm>
            <a:off x="502920" y="3730752"/>
            <a:ext cx="1828800" cy="201168"/>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Team Leader</a:t>
            </a:r>
            <a:endParaRPr lang="en-US" sz="800" dirty="0"/>
          </a:p>
        </p:txBody>
      </p:sp>
      <p:sp>
        <p:nvSpPr>
          <p:cNvPr id="12" name="Shape 8"/>
          <p:cNvSpPr/>
          <p:nvPr/>
        </p:nvSpPr>
        <p:spPr>
          <a:xfrm>
            <a:off x="621792" y="4114800"/>
            <a:ext cx="1591056" cy="0"/>
          </a:xfrm>
          <a:prstGeom prst="line">
            <a:avLst/>
          </a:prstGeom>
          <a:noFill/>
          <a:ln w="12700">
            <a:solidFill>
              <a:srgbClr val="D8DEEA"/>
            </a:solidFill>
            <a:prstDash val="solid"/>
          </a:ln>
        </p:spPr>
      </p:sp>
      <p:sp>
        <p:nvSpPr>
          <p:cNvPr id="13" name="Text 9"/>
          <p:cNvSpPr/>
          <p:nvPr/>
        </p:nvSpPr>
        <p:spPr>
          <a:xfrm>
            <a:off x="502920" y="4206240"/>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
        <p:nvSpPr>
          <p:cNvPr id="14" name="Shape 10"/>
          <p:cNvSpPr/>
          <p:nvPr/>
        </p:nvSpPr>
        <p:spPr>
          <a:xfrm>
            <a:off x="2560320" y="2542032"/>
            <a:ext cx="1920240" cy="2148840"/>
          </a:xfrm>
          <a:prstGeom prst="roundRect">
            <a:avLst>
              <a:gd name="adj" fmla="val 2857"/>
            </a:avLst>
          </a:prstGeom>
          <a:solidFill>
            <a:srgbClr val="F7F9FC"/>
          </a:solidFill>
          <a:ln w="12700">
            <a:solidFill>
              <a:srgbClr val="D8DEEA"/>
            </a:solidFill>
            <a:prstDash val="solid"/>
          </a:ln>
        </p:spPr>
      </p:sp>
      <p:sp>
        <p:nvSpPr>
          <p:cNvPr id="15" name="Shape 11"/>
          <p:cNvSpPr/>
          <p:nvPr/>
        </p:nvSpPr>
        <p:spPr>
          <a:xfrm>
            <a:off x="3227832" y="2724912"/>
            <a:ext cx="585216" cy="585216"/>
          </a:xfrm>
          <a:prstGeom prst="ellipse">
            <a:avLst/>
          </a:prstGeom>
          <a:solidFill>
            <a:srgbClr val="D7DDEA"/>
          </a:solidFill>
          <a:ln/>
        </p:spPr>
      </p:sp>
      <p:sp>
        <p:nvSpPr>
          <p:cNvPr id="16" name="Text 12"/>
          <p:cNvSpPr/>
          <p:nvPr/>
        </p:nvSpPr>
        <p:spPr>
          <a:xfrm>
            <a:off x="3227832" y="2724912"/>
            <a:ext cx="585216" cy="585216"/>
          </a:xfrm>
          <a:prstGeom prst="rect">
            <a:avLst/>
          </a:prstGeom>
          <a:noFill/>
          <a:ln/>
        </p:spPr>
        <p:txBody>
          <a:bodyPr wrap="square" lIns="0" tIns="0" rIns="0" bIns="0" rtlCol="0" anchor="ctr"/>
          <a:lstStyle/>
          <a:p>
            <a:pPr algn="ctr" indent="0" marL="0">
              <a:buNone/>
            </a:pPr>
            <a:r>
              <a:rPr lang="en-US" sz="1600" b="1" dirty="0">
                <a:solidFill>
                  <a:srgbClr val="172B6D"/>
                </a:solidFill>
                <a:latin typeface="Arial" pitchFamily="34" charset="0"/>
                <a:ea typeface="Arial" pitchFamily="34" charset="-122"/>
                <a:cs typeface="Arial" pitchFamily="34" charset="-120"/>
              </a:rPr>
              <a:t>SG</a:t>
            </a:r>
            <a:endParaRPr lang="en-US" sz="1600" dirty="0"/>
          </a:p>
        </p:txBody>
      </p:sp>
      <p:sp>
        <p:nvSpPr>
          <p:cNvPr id="17" name="Text 13"/>
          <p:cNvSpPr/>
          <p:nvPr/>
        </p:nvSpPr>
        <p:spPr>
          <a:xfrm>
            <a:off x="260604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Sarthak Gavnekar</a:t>
            </a:r>
            <a:endParaRPr lang="en-US" sz="1000" dirty="0"/>
          </a:p>
        </p:txBody>
      </p:sp>
      <p:sp>
        <p:nvSpPr>
          <p:cNvPr id="18" name="Text 14"/>
          <p:cNvSpPr/>
          <p:nvPr/>
        </p:nvSpPr>
        <p:spPr>
          <a:xfrm>
            <a:off x="2606040" y="3730752"/>
            <a:ext cx="1828800" cy="201168"/>
          </a:xfrm>
          <a:prstGeom prst="rect">
            <a:avLst/>
          </a:prstGeom>
          <a:noFill/>
          <a:ln/>
        </p:spPr>
        <p:txBody>
          <a:bodyPr wrap="square" lIns="0" tIns="0" rIns="0" bIns="0" rtlCol="0" anchor="ctr"/>
          <a:lstStyle/>
          <a:p>
            <a:pPr algn="ctr" indent="0" marL="0">
              <a:buNone/>
            </a:pPr>
            <a:r>
              <a:rPr lang="en-US" sz="800" dirty="0">
                <a:solidFill>
                  <a:srgbClr val="545454"/>
                </a:solidFill>
                <a:latin typeface="Calibri" pitchFamily="34" charset="0"/>
                <a:ea typeface="Calibri" pitchFamily="34" charset="-122"/>
                <a:cs typeface="Calibri" pitchFamily="34" charset="-120"/>
              </a:rPr>
              <a:t>Team Member</a:t>
            </a:r>
            <a:endParaRPr lang="en-US" sz="800" dirty="0"/>
          </a:p>
        </p:txBody>
      </p:sp>
      <p:sp>
        <p:nvSpPr>
          <p:cNvPr id="19" name="Shape 15"/>
          <p:cNvSpPr/>
          <p:nvPr/>
        </p:nvSpPr>
        <p:spPr>
          <a:xfrm>
            <a:off x="2724912" y="4114800"/>
            <a:ext cx="1591056" cy="0"/>
          </a:xfrm>
          <a:prstGeom prst="line">
            <a:avLst/>
          </a:prstGeom>
          <a:noFill/>
          <a:ln w="12700">
            <a:solidFill>
              <a:srgbClr val="D8DEEA"/>
            </a:solidFill>
            <a:prstDash val="solid"/>
          </a:ln>
        </p:spPr>
      </p:sp>
      <p:sp>
        <p:nvSpPr>
          <p:cNvPr id="20" name="Text 16"/>
          <p:cNvSpPr/>
          <p:nvPr/>
        </p:nvSpPr>
        <p:spPr>
          <a:xfrm>
            <a:off x="2606040" y="4206240"/>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
        <p:nvSpPr>
          <p:cNvPr id="21" name="Shape 17"/>
          <p:cNvSpPr/>
          <p:nvPr/>
        </p:nvSpPr>
        <p:spPr>
          <a:xfrm>
            <a:off x="4663440" y="2542032"/>
            <a:ext cx="1920240" cy="2148840"/>
          </a:xfrm>
          <a:prstGeom prst="roundRect">
            <a:avLst>
              <a:gd name="adj" fmla="val 2857"/>
            </a:avLst>
          </a:prstGeom>
          <a:solidFill>
            <a:srgbClr val="F7F9FC"/>
          </a:solidFill>
          <a:ln w="12700">
            <a:solidFill>
              <a:srgbClr val="D8DEEA"/>
            </a:solidFill>
            <a:prstDash val="solid"/>
          </a:ln>
        </p:spPr>
      </p:sp>
      <p:sp>
        <p:nvSpPr>
          <p:cNvPr id="22" name="Shape 18"/>
          <p:cNvSpPr/>
          <p:nvPr/>
        </p:nvSpPr>
        <p:spPr>
          <a:xfrm>
            <a:off x="5330952" y="2724912"/>
            <a:ext cx="585216" cy="585216"/>
          </a:xfrm>
          <a:prstGeom prst="ellipse">
            <a:avLst/>
          </a:prstGeom>
          <a:solidFill>
            <a:srgbClr val="D7DDEA"/>
          </a:solidFill>
          <a:ln/>
        </p:spPr>
      </p:sp>
      <p:sp>
        <p:nvSpPr>
          <p:cNvPr id="23" name="Text 19"/>
          <p:cNvSpPr/>
          <p:nvPr/>
        </p:nvSpPr>
        <p:spPr>
          <a:xfrm>
            <a:off x="5330952" y="2724912"/>
            <a:ext cx="585216" cy="585216"/>
          </a:xfrm>
          <a:prstGeom prst="rect">
            <a:avLst/>
          </a:prstGeom>
          <a:noFill/>
          <a:ln/>
        </p:spPr>
        <p:txBody>
          <a:bodyPr wrap="square" lIns="0" tIns="0" rIns="0" bIns="0" rtlCol="0" anchor="ctr"/>
          <a:lstStyle/>
          <a:p>
            <a:pPr algn="ctr" indent="0" marL="0">
              <a:buNone/>
            </a:pPr>
            <a:r>
              <a:rPr lang="en-US" sz="1600" b="1" dirty="0">
                <a:solidFill>
                  <a:srgbClr val="172B6D"/>
                </a:solidFill>
                <a:latin typeface="Arial" pitchFamily="34" charset="0"/>
                <a:ea typeface="Arial" pitchFamily="34" charset="-122"/>
                <a:cs typeface="Arial" pitchFamily="34" charset="-120"/>
              </a:rPr>
              <a:t>NC</a:t>
            </a:r>
            <a:endParaRPr lang="en-US" sz="1600" dirty="0"/>
          </a:p>
        </p:txBody>
      </p:sp>
      <p:sp>
        <p:nvSpPr>
          <p:cNvPr id="24" name="Text 20"/>
          <p:cNvSpPr/>
          <p:nvPr/>
        </p:nvSpPr>
        <p:spPr>
          <a:xfrm>
            <a:off x="470916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Nitin Chherke</a:t>
            </a:r>
            <a:endParaRPr lang="en-US" sz="1000" dirty="0"/>
          </a:p>
        </p:txBody>
      </p:sp>
      <p:sp>
        <p:nvSpPr>
          <p:cNvPr id="25" name="Text 21"/>
          <p:cNvSpPr/>
          <p:nvPr/>
        </p:nvSpPr>
        <p:spPr>
          <a:xfrm>
            <a:off x="4709160" y="3730752"/>
            <a:ext cx="1828800" cy="201168"/>
          </a:xfrm>
          <a:prstGeom prst="rect">
            <a:avLst/>
          </a:prstGeom>
          <a:noFill/>
          <a:ln/>
        </p:spPr>
        <p:txBody>
          <a:bodyPr wrap="square" lIns="0" tIns="0" rIns="0" bIns="0" rtlCol="0" anchor="ctr"/>
          <a:lstStyle/>
          <a:p>
            <a:pPr algn="ctr" indent="0" marL="0">
              <a:buNone/>
            </a:pPr>
            <a:r>
              <a:rPr lang="en-US" sz="800" dirty="0">
                <a:solidFill>
                  <a:srgbClr val="545454"/>
                </a:solidFill>
                <a:latin typeface="Calibri" pitchFamily="34" charset="0"/>
                <a:ea typeface="Calibri" pitchFamily="34" charset="-122"/>
                <a:cs typeface="Calibri" pitchFamily="34" charset="-120"/>
              </a:rPr>
              <a:t>Team Member</a:t>
            </a:r>
            <a:endParaRPr lang="en-US" sz="800" dirty="0"/>
          </a:p>
        </p:txBody>
      </p:sp>
      <p:sp>
        <p:nvSpPr>
          <p:cNvPr id="26" name="Shape 22"/>
          <p:cNvSpPr/>
          <p:nvPr/>
        </p:nvSpPr>
        <p:spPr>
          <a:xfrm>
            <a:off x="4828032" y="4114800"/>
            <a:ext cx="1591056" cy="0"/>
          </a:xfrm>
          <a:prstGeom prst="line">
            <a:avLst/>
          </a:prstGeom>
          <a:noFill/>
          <a:ln w="12700">
            <a:solidFill>
              <a:srgbClr val="D8DEEA"/>
            </a:solidFill>
            <a:prstDash val="solid"/>
          </a:ln>
        </p:spPr>
      </p:sp>
      <p:sp>
        <p:nvSpPr>
          <p:cNvPr id="27" name="Text 23"/>
          <p:cNvSpPr/>
          <p:nvPr/>
        </p:nvSpPr>
        <p:spPr>
          <a:xfrm>
            <a:off x="4709160" y="4206240"/>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
        <p:nvSpPr>
          <p:cNvPr id="28" name="Shape 24"/>
          <p:cNvSpPr/>
          <p:nvPr/>
        </p:nvSpPr>
        <p:spPr>
          <a:xfrm>
            <a:off x="6766560" y="2542032"/>
            <a:ext cx="1920240" cy="2148840"/>
          </a:xfrm>
          <a:prstGeom prst="roundRect">
            <a:avLst>
              <a:gd name="adj" fmla="val 2857"/>
            </a:avLst>
          </a:prstGeom>
          <a:solidFill>
            <a:srgbClr val="F7F9FC"/>
          </a:solidFill>
          <a:ln w="12700">
            <a:solidFill>
              <a:srgbClr val="D8DEEA"/>
            </a:solidFill>
            <a:prstDash val="solid"/>
          </a:ln>
        </p:spPr>
      </p:sp>
      <p:sp>
        <p:nvSpPr>
          <p:cNvPr id="29" name="Shape 25"/>
          <p:cNvSpPr/>
          <p:nvPr/>
        </p:nvSpPr>
        <p:spPr>
          <a:xfrm>
            <a:off x="7434072" y="2724912"/>
            <a:ext cx="585216" cy="585216"/>
          </a:xfrm>
          <a:prstGeom prst="ellipse">
            <a:avLst/>
          </a:prstGeom>
          <a:solidFill>
            <a:srgbClr val="D7DDEA"/>
          </a:solidFill>
          <a:ln/>
        </p:spPr>
      </p:sp>
      <p:sp>
        <p:nvSpPr>
          <p:cNvPr id="30" name="Text 26"/>
          <p:cNvSpPr/>
          <p:nvPr/>
        </p:nvSpPr>
        <p:spPr>
          <a:xfrm>
            <a:off x="7434072" y="2724912"/>
            <a:ext cx="585216" cy="585216"/>
          </a:xfrm>
          <a:prstGeom prst="rect">
            <a:avLst/>
          </a:prstGeom>
          <a:noFill/>
          <a:ln/>
        </p:spPr>
        <p:txBody>
          <a:bodyPr wrap="square" lIns="0" tIns="0" rIns="0" bIns="0" rtlCol="0" anchor="ctr"/>
          <a:lstStyle/>
          <a:p>
            <a:pPr algn="ctr" indent="0" marL="0">
              <a:buNone/>
            </a:pPr>
            <a:r>
              <a:rPr lang="en-US" sz="1600" b="1" dirty="0">
                <a:solidFill>
                  <a:srgbClr val="172B6D"/>
                </a:solidFill>
                <a:latin typeface="Arial" pitchFamily="34" charset="0"/>
                <a:ea typeface="Arial" pitchFamily="34" charset="-122"/>
                <a:cs typeface="Arial" pitchFamily="34" charset="-120"/>
              </a:rPr>
              <a:t>D</a:t>
            </a:r>
            <a:endParaRPr lang="en-US" sz="1600" dirty="0"/>
          </a:p>
        </p:txBody>
      </p:sp>
      <p:sp>
        <p:nvSpPr>
          <p:cNvPr id="31" name="Text 27"/>
          <p:cNvSpPr/>
          <p:nvPr/>
        </p:nvSpPr>
        <p:spPr>
          <a:xfrm>
            <a:off x="681228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Dinesh</a:t>
            </a:r>
            <a:endParaRPr lang="en-US" sz="1000" dirty="0"/>
          </a:p>
        </p:txBody>
      </p:sp>
      <p:sp>
        <p:nvSpPr>
          <p:cNvPr id="32" name="Text 28"/>
          <p:cNvSpPr/>
          <p:nvPr/>
        </p:nvSpPr>
        <p:spPr>
          <a:xfrm>
            <a:off x="6812280" y="3730752"/>
            <a:ext cx="1828800" cy="201168"/>
          </a:xfrm>
          <a:prstGeom prst="rect">
            <a:avLst/>
          </a:prstGeom>
          <a:noFill/>
          <a:ln/>
        </p:spPr>
        <p:txBody>
          <a:bodyPr wrap="square" lIns="0" tIns="0" rIns="0" bIns="0" rtlCol="0" anchor="ctr"/>
          <a:lstStyle/>
          <a:p>
            <a:pPr algn="ctr" indent="0" marL="0">
              <a:buNone/>
            </a:pPr>
            <a:r>
              <a:rPr lang="en-US" sz="800" dirty="0">
                <a:solidFill>
                  <a:srgbClr val="545454"/>
                </a:solidFill>
                <a:latin typeface="Calibri" pitchFamily="34" charset="0"/>
                <a:ea typeface="Calibri" pitchFamily="34" charset="-122"/>
                <a:cs typeface="Calibri" pitchFamily="34" charset="-120"/>
              </a:rPr>
              <a:t>Team Member</a:t>
            </a:r>
            <a:endParaRPr lang="en-US" sz="800" dirty="0"/>
          </a:p>
        </p:txBody>
      </p:sp>
      <p:sp>
        <p:nvSpPr>
          <p:cNvPr id="33" name="Shape 29"/>
          <p:cNvSpPr/>
          <p:nvPr/>
        </p:nvSpPr>
        <p:spPr>
          <a:xfrm>
            <a:off x="6931152" y="4114800"/>
            <a:ext cx="1591056" cy="0"/>
          </a:xfrm>
          <a:prstGeom prst="line">
            <a:avLst/>
          </a:prstGeom>
          <a:noFill/>
          <a:ln w="12700">
            <a:solidFill>
              <a:srgbClr val="D8DEEA"/>
            </a:solidFill>
            <a:prstDash val="solid"/>
          </a:ln>
        </p:spPr>
      </p:sp>
      <p:sp>
        <p:nvSpPr>
          <p:cNvPr id="34" name="Text 30"/>
          <p:cNvSpPr/>
          <p:nvPr/>
        </p:nvSpPr>
        <p:spPr>
          <a:xfrm>
            <a:off x="6812280" y="4206240"/>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548640" y="1417320"/>
            <a:ext cx="8046720" cy="502920"/>
          </a:xfrm>
          <a:prstGeom prst="rect">
            <a:avLst/>
          </a:prstGeom>
          <a:noFill/>
          <a:ln/>
        </p:spPr>
        <p:txBody>
          <a:bodyPr wrap="square" lIns="0" tIns="0" rIns="0" bIns="0" rtlCol="0" anchor="ctr"/>
          <a:lstStyle/>
          <a:p>
            <a:pPr algn="ctr" indent="0" marL="0">
              <a:lnSpc>
                <a:spcPts val="1600"/>
              </a:lnSpc>
              <a:buNone/>
            </a:pPr>
            <a:r>
              <a:rPr lang="en-US" sz="1400" b="1" dirty="0">
                <a:solidFill>
                  <a:srgbClr val="1C8F89"/>
                </a:solidFill>
                <a:latin typeface="Arial" pitchFamily="34" charset="0"/>
                <a:ea typeface="Arial" pitchFamily="34" charset="-122"/>
                <a:cs typeface="Arial" pitchFamily="34" charset="-120"/>
              </a:rPr>
              <a:t>FROM ONE PREDICTED FUTURE TO PLAUSIBLE FUTURES</a:t>
            </a:r>
            <a:endParaRPr lang="en-US" sz="1400" dirty="0"/>
          </a:p>
        </p:txBody>
      </p:sp>
      <p:sp>
        <p:nvSpPr>
          <p:cNvPr id="5" name="Text 1"/>
          <p:cNvSpPr/>
          <p:nvPr/>
        </p:nvSpPr>
        <p:spPr>
          <a:xfrm>
            <a:off x="0" y="2270760"/>
            <a:ext cx="9144000" cy="787400"/>
          </a:xfrm>
          <a:prstGeom prst="rect">
            <a:avLst/>
          </a:prstGeom>
          <a:noFill/>
          <a:ln/>
        </p:spPr>
        <p:txBody>
          <a:bodyPr wrap="square" lIns="0" tIns="0" rIns="0" bIns="0" rtlCol="0" anchor="ctr"/>
          <a:lstStyle/>
          <a:p>
            <a:pPr algn="ctr" indent="0" marL="0">
              <a:buNone/>
            </a:pPr>
            <a:r>
              <a:rPr lang="en-US" sz="4400" b="1" spc="150" kern="0" dirty="0">
                <a:solidFill>
                  <a:srgbClr val="172B6D"/>
                </a:solidFill>
                <a:latin typeface="Arial" pitchFamily="34" charset="0"/>
                <a:ea typeface="Arial" pitchFamily="34" charset="-122"/>
                <a:cs typeface="Arial" pitchFamily="34" charset="-120"/>
              </a:rPr>
              <a:t>THANK YOU</a:t>
            </a:r>
            <a:endParaRPr lang="en-US" sz="4400" dirty="0"/>
          </a:p>
        </p:txBody>
      </p:sp>
      <p:sp>
        <p:nvSpPr>
          <p:cNvPr id="6" name="Text 2"/>
          <p:cNvSpPr/>
          <p:nvPr/>
        </p:nvSpPr>
        <p:spPr>
          <a:xfrm>
            <a:off x="731520" y="3246120"/>
            <a:ext cx="7680960" cy="292608"/>
          </a:xfrm>
          <a:prstGeom prst="rect">
            <a:avLst/>
          </a:prstGeom>
          <a:noFill/>
          <a:ln/>
        </p:spPr>
        <p:txBody>
          <a:bodyPr wrap="square" lIns="0" tIns="0" rIns="0" bIns="0" rtlCol="0" anchor="ctr"/>
          <a:lstStyle/>
          <a:p>
            <a:pPr algn="ctr" indent="0" marL="0">
              <a:buNone/>
            </a:pPr>
            <a:r>
              <a:rPr lang="en-US" sz="1200" i="1" dirty="0">
                <a:solidFill>
                  <a:srgbClr val="545454"/>
                </a:solidFill>
                <a:latin typeface="Calibri" pitchFamily="34" charset="0"/>
                <a:ea typeface="Calibri" pitchFamily="34" charset="-122"/>
                <a:cs typeface="Calibri" pitchFamily="34" charset="-120"/>
              </a:rPr>
              <a:t>Explore plausible futures. Understand the consequences. Support better decisions.</a:t>
            </a:r>
            <a:endParaRPr lang="en-US" sz="1200" dirty="0"/>
          </a:p>
        </p:txBody>
      </p:sp>
      <p:sp>
        <p:nvSpPr>
          <p:cNvPr id="7" name="Text 3"/>
          <p:cNvSpPr/>
          <p:nvPr/>
        </p:nvSpPr>
        <p:spPr>
          <a:xfrm>
            <a:off x="0" y="3703320"/>
            <a:ext cx="9144000" cy="237744"/>
          </a:xfrm>
          <a:prstGeom prst="rect">
            <a:avLst/>
          </a:prstGeom>
          <a:noFill/>
          <a:ln/>
        </p:spPr>
        <p:txBody>
          <a:bodyPr wrap="square" lIns="0" tIns="0" rIns="0" bIns="0" rtlCol="0" anchor="ctr"/>
          <a:lstStyle/>
          <a:p>
            <a:pPr algn="ctr" indent="0" marL="0">
              <a:buNone/>
            </a:pPr>
            <a:r>
              <a:rPr lang="en-US" sz="1000" spc="100" kern="0" dirty="0">
                <a:solidFill>
                  <a:srgbClr val="7C8698"/>
                </a:solidFill>
                <a:latin typeface="Calibri" pitchFamily="34" charset="0"/>
                <a:ea typeface="Calibri" pitchFamily="34" charset="-122"/>
                <a:cs typeface="Calibri" pitchFamily="34" charset="-120"/>
              </a:rPr>
              <a:t>TEAM FANTASTIC 4  —  ORBITAL FUTURE DECISION ENGINE</a:t>
            </a:r>
            <a:endParaRPr lang="en-US" sz="1000" dirty="0"/>
          </a:p>
        </p:txBody>
      </p:sp>
      <p:sp>
        <p:nvSpPr>
          <p:cNvPr id="8" name="Shape 4"/>
          <p:cNvSpPr/>
          <p:nvPr/>
        </p:nvSpPr>
        <p:spPr>
          <a:xfrm>
            <a:off x="3383280" y="4114800"/>
            <a:ext cx="2377440" cy="365760"/>
          </a:xfrm>
          <a:prstGeom prst="roundRect">
            <a:avLst>
              <a:gd name="adj" fmla="val 50000"/>
            </a:avLst>
          </a:prstGeom>
          <a:solidFill>
            <a:srgbClr val="F7F9FC"/>
          </a:solidFill>
          <a:ln w="12700">
            <a:solidFill>
              <a:srgbClr val="D8DEEA"/>
            </a:solidFill>
            <a:prstDash val="solid"/>
          </a:ln>
        </p:spPr>
      </p:sp>
      <p:sp>
        <p:nvSpPr>
          <p:cNvPr id="9" name="Text 5"/>
          <p:cNvSpPr/>
          <p:nvPr/>
        </p:nvSpPr>
        <p:spPr>
          <a:xfrm>
            <a:off x="3383280" y="4114800"/>
            <a:ext cx="2377440" cy="365760"/>
          </a:xfrm>
          <a:prstGeom prst="rect">
            <a:avLst/>
          </a:prstGeom>
          <a:noFill/>
          <a:ln/>
        </p:spPr>
        <p:txBody>
          <a:bodyPr wrap="square" lIns="0" tIns="0" rIns="0" bIns="0" rtlCol="0" anchor="ctr"/>
          <a:lstStyle/>
          <a:p>
            <a:pPr algn="ctr" indent="0" marL="0">
              <a:buNone/>
            </a:pPr>
            <a:r>
              <a:rPr lang="en-US" sz="800" dirty="0">
                <a:solidFill>
                  <a:srgbClr val="7C8698"/>
                </a:solidFill>
                <a:latin typeface="Calibri" pitchFamily="34" charset="0"/>
                <a:ea typeface="Calibri" pitchFamily="34" charset="-122"/>
                <a:cs typeface="Calibri" pitchFamily="34" charset="-120"/>
              </a:rPr>
              <a:t>Technical R&amp;D Dossier — QR Code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Nakshatra — The Aerospace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Orbital Future Decision Engine</dc:title>
  <dc:subject>PptxGenJS Presentation</dc:subject>
  <dc:creator>Fantastic 4</dc:creator>
  <cp:lastModifiedBy>Fantastic 4</cp:lastModifiedBy>
  <cp:revision>1</cp:revision>
  <dcterms:created xsi:type="dcterms:W3CDTF">2026-09-23T19:07:50Z</dcterms:created>
  <dcterms:modified xsi:type="dcterms:W3CDTF">2026-09-23T19:07:50Z</dcterms:modified>
</cp:coreProperties>
</file>